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Events</c:v>
                </c:pt>
              </c:strCache>
            </c:strRef>
          </c:tx>
          <c:dPt>
            <c:idx val="0"/>
            <c:spPr>
              <a:solidFill>
                <a:srgbClr val="F1C40F"/>
              </a:solidFill>
            </c:spPr>
          </c:dPt>
          <c:dPt>
            <c:idx val="1"/>
            <c:spPr>
              <a:solidFill>
                <a:srgbClr val="E67E22"/>
              </a:solidFill>
            </c:spPr>
          </c:dPt>
          <c:dPt>
            <c:idx val="2"/>
            <c:spPr>
              <a:solidFill>
                <a:srgbClr val="E74C3C"/>
              </a:solidFill>
            </c:spPr>
          </c:dPt>
          <c:cat>
            <c:strRef>
              <c:f>Sheet1!$A$2:$A$4</c:f>
              <c:strCache>
                <c:ptCount val="3"/>
                <c:pt idx="0">
                  <c:v>Close Calls</c:v>
                </c:pt>
                <c:pt idx="1">
                  <c:v>Incidents</c:v>
                </c:pt>
                <c:pt idx="2">
                  <c:v>Accidents</c:v>
                </c:pt>
              </c:strCache>
            </c:strRef>
          </c:cat>
          <c:val>
            <c:numRef>
              <c:f>Sheet1!$B$2:$B$4</c:f>
              <c:numCache>
                <c:formatCode>General</c:formatCode>
                <c:ptCount val="3"/>
                <c:pt idx="0">
                  <c:v>10000</c:v>
                </c:pt>
                <c:pt idx="1">
                  <c:v>1000</c:v>
                </c:pt>
                <c:pt idx="2">
                  <c:v>1</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Previous</c:v>
                </c:pt>
              </c:strCache>
            </c:strRef>
          </c:tx>
          <c:spPr>
            <a:solidFill>
              <a:srgbClr val="5A6B7D"/>
            </a:solidFill>
          </c:spPr>
          <c:cat>
            <c:strRef>
              <c:f>Sheet1!$A$2:$A$5</c:f>
              <c:strCache>
                <c:ptCount val="4"/>
                <c:pt idx="0">
                  <c:v>Damage-only
Events</c:v>
                </c:pt>
                <c:pt idx="1">
                  <c:v>Near-miss
Accidents</c:v>
                </c:pt>
                <c:pt idx="2">
                  <c:v>Lessons
Learned</c:v>
                </c:pt>
                <c:pt idx="3">
                  <c:v>CAPs
Closed</c:v>
                </c:pt>
              </c:strCache>
            </c:strRef>
          </c:cat>
          <c:val>
            <c:numRef>
              <c:f>Sheet1!$B$2:$B$5</c:f>
              <c:numCache>
                <c:formatCode>General</c:formatCode>
                <c:ptCount val="4"/>
                <c:pt idx="0">
                  <c:v>18</c:v>
                </c:pt>
                <c:pt idx="1">
                  <c:v>42</c:v>
                </c:pt>
                <c:pt idx="2">
                  <c:v>12</c:v>
                </c:pt>
                <c:pt idx="3">
                  <c:v>20</c:v>
                </c:pt>
              </c:numCache>
            </c:numRef>
          </c:val>
        </c:ser>
        <c:ser>
          <c:idx val="1"/>
          <c:order val="1"/>
          <c:tx>
            <c:strRef>
              <c:f>Sheet1!$C$1</c:f>
              <c:strCache>
                <c:ptCount val="1"/>
                <c:pt idx="0">
                  <c:v>Current</c:v>
                </c:pt>
              </c:strCache>
            </c:strRef>
          </c:tx>
          <c:spPr>
            <a:solidFill>
              <a:srgbClr val="1AB3A6"/>
            </a:solidFill>
          </c:spPr>
          <c:cat>
            <c:strRef>
              <c:f>Sheet1!$A$2:$A$5</c:f>
              <c:strCache>
                <c:ptCount val="4"/>
                <c:pt idx="0">
                  <c:v>Damage-only
Events</c:v>
                </c:pt>
                <c:pt idx="1">
                  <c:v>Near-miss
Accidents</c:v>
                </c:pt>
                <c:pt idx="2">
                  <c:v>Lessons
Learned</c:v>
                </c:pt>
                <c:pt idx="3">
                  <c:v>CAPs
Closed</c:v>
                </c:pt>
              </c:strCache>
            </c:strRef>
          </c:cat>
          <c:val>
            <c:numRef>
              <c:f>Sheet1!$C$2:$C$5</c:f>
              <c:numCache>
                <c:formatCode>General</c:formatCode>
                <c:ptCount val="4"/>
                <c:pt idx="0">
                  <c:v>11</c:v>
                </c:pt>
                <c:pt idx="1">
                  <c:v>28</c:v>
                </c:pt>
                <c:pt idx="2">
                  <c:v>24</c:v>
                </c:pt>
                <c:pt idx="3">
                  <c:v>35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Target %</c:v>
                </c:pt>
              </c:strCache>
            </c:strRef>
          </c:tx>
          <c:spPr>
            <a:solidFill>
              <a:srgbClr val="E8B923"/>
            </a:solidFill>
          </c:spPr>
          <c:cat>
            <c:strRef>
              <c:f>Sheet1!$A$2:$A$5</c:f>
              <c:strCache>
                <c:ptCount val="4"/>
                <c:pt idx="0">
                  <c:v>All Employees
(Minimum Safety)</c:v>
                </c:pt>
                <c:pt idx="1">
                  <c:v>Introductory
SMS</c:v>
                </c:pt>
                <c:pt idx="2">
                  <c:v>Recurrent
SMS</c:v>
                </c:pt>
                <c:pt idx="3">
                  <c:v>Leadership
Safety Brief</c:v>
                </c:pt>
              </c:strCache>
            </c:strRef>
          </c:cat>
          <c:val>
            <c:numRef>
              <c:f>Sheet1!$B$2:$B$5</c:f>
              <c:numCache>
                <c:formatCode>General</c:formatCode>
                <c:ptCount val="4"/>
                <c:pt idx="0">
                  <c:v>100</c:v>
                </c:pt>
                <c:pt idx="1">
                  <c:v>100</c:v>
                </c:pt>
                <c:pt idx="2">
                  <c:v>100</c:v>
                </c:pt>
                <c:pt idx="3">
                  <c:v>100</c:v>
                </c:pt>
              </c:numCache>
            </c:numRef>
          </c:val>
        </c:ser>
        <c:ser>
          <c:idx val="1"/>
          <c:order val="1"/>
          <c:tx>
            <c:strRef>
              <c:f>Sheet1!$C$1</c:f>
              <c:strCache>
                <c:ptCount val="1"/>
                <c:pt idx="0">
                  <c:v>Current %</c:v>
                </c:pt>
              </c:strCache>
            </c:strRef>
          </c:tx>
          <c:spPr>
            <a:solidFill>
              <a:srgbClr val="0B1F3A"/>
            </a:solidFill>
          </c:spPr>
          <c:cat>
            <c:strRef>
              <c:f>Sheet1!$A$2:$A$5</c:f>
              <c:strCache>
                <c:ptCount val="4"/>
                <c:pt idx="0">
                  <c:v>All Employees
(Minimum Safety)</c:v>
                </c:pt>
                <c:pt idx="1">
                  <c:v>Introductory
SMS</c:v>
                </c:pt>
                <c:pt idx="2">
                  <c:v>Recurrent
SMS</c:v>
                </c:pt>
                <c:pt idx="3">
                  <c:v>Leadership
Safety Brief</c:v>
                </c:pt>
              </c:strCache>
            </c:strRef>
          </c:cat>
          <c:val>
            <c:numRef>
              <c:f>Sheet1!$C$2:$C$5</c:f>
              <c:numCache>
                <c:formatCode>General</c:formatCode>
                <c:ptCount val="4"/>
                <c:pt idx="0">
                  <c:v>92</c:v>
                </c:pt>
                <c:pt idx="1">
                  <c:v>78</c:v>
                </c:pt>
                <c:pt idx="2">
                  <c:v>65</c:v>
                </c:pt>
                <c:pt idx="3">
                  <c:v>88</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8686800" y="0"/>
            <a:ext cx="3566160" cy="6858000"/>
          </a:xfrm>
          <a:prstGeom prst="rtTriangle">
            <a:avLst/>
          </a:prstGeom>
          <a:solidFill>
            <a:srgbClr val="14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1645920" cy="54864"/>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rand"/>
          <p:cNvSpPr txBox="1"/>
          <p:nvPr/>
        </p:nvSpPr>
        <p:spPr>
          <a:xfrm>
            <a:off x="822960" y="1645920"/>
            <a:ext cx="9144000" cy="365760"/>
          </a:xfrm>
          <a:prstGeom prst="rect">
            <a:avLst/>
          </a:prstGeom>
          <a:noFill/>
        </p:spPr>
        <p:txBody>
          <a:bodyPr wrap="square">
            <a:spAutoFit/>
          </a:bodyPr>
          <a:lstStyle/>
          <a:p>
            <a:pPr algn="l"/>
            <a:r>
              <a:rPr sz="1400" b="1">
                <a:solidFill>
                  <a:srgbClr val="E8B923"/>
                </a:solidFill>
                <a:latin typeface="Segoe UI"/>
              </a:rPr>
              <a:t>SAFETY MANAGEMENT SYSTEM</a:t>
            </a:r>
          </a:p>
        </p:txBody>
      </p:sp>
      <p:sp>
        <p:nvSpPr>
          <p:cNvPr id="6" name="mainTitle"/>
          <p:cNvSpPr txBox="1"/>
          <p:nvPr/>
        </p:nvSpPr>
        <p:spPr>
          <a:xfrm>
            <a:off x="822960" y="3108960"/>
            <a:ext cx="9144000" cy="1097280"/>
          </a:xfrm>
          <a:prstGeom prst="rect">
            <a:avLst/>
          </a:prstGeom>
          <a:noFill/>
        </p:spPr>
        <p:txBody>
          <a:bodyPr wrap="square">
            <a:spAutoFit/>
          </a:bodyPr>
          <a:lstStyle/>
          <a:p>
            <a:pPr algn="l"/>
            <a:r>
              <a:rPr sz="4000" b="1">
                <a:solidFill>
                  <a:srgbClr val="FFFFFF"/>
                </a:solidFill>
                <a:latin typeface="Segoe UI Semibold"/>
              </a:rPr>
              <a:t>Building a Culture of
Continuous Safety</a:t>
            </a:r>
          </a:p>
        </p:txBody>
      </p:sp>
      <p:sp>
        <p:nvSpPr>
          <p:cNvPr id="7" name="subtitle"/>
          <p:cNvSpPr txBox="1"/>
          <p:nvPr/>
        </p:nvSpPr>
        <p:spPr>
          <a:xfrm>
            <a:off x="822960" y="5029200"/>
            <a:ext cx="8229600" cy="457200"/>
          </a:xfrm>
          <a:prstGeom prst="rect">
            <a:avLst/>
          </a:prstGeom>
          <a:noFill/>
        </p:spPr>
        <p:txBody>
          <a:bodyPr wrap="square">
            <a:spAutoFit/>
          </a:bodyPr>
          <a:lstStyle/>
          <a:p>
            <a:pPr algn="l"/>
            <a:r>
              <a:rPr sz="1600" b="0">
                <a:solidFill>
                  <a:srgbClr val="A8B8C8"/>
                </a:solidFill>
                <a:latin typeface="Segoe UI"/>
              </a:rPr>
              <a:t>Executive Briefing  ·  Policy · Risk · Assurance · Promotion</a:t>
            </a:r>
          </a:p>
        </p:txBody>
      </p:sp>
      <p:sp>
        <p:nvSpPr>
          <p:cNvPr id="8" name="dot0"/>
          <p:cNvSpPr/>
          <p:nvPr/>
        </p:nvSpPr>
        <p:spPr>
          <a:xfrm>
            <a:off x="822960" y="5943600"/>
            <a:ext cx="164592" cy="164592"/>
          </a:xfrm>
          <a:prstGeom prst="ellipse">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1"/>
          <p:cNvSpPr/>
          <p:nvPr/>
        </p:nvSpPr>
        <p:spPr>
          <a:xfrm>
            <a:off x="1143000" y="5943600"/>
            <a:ext cx="164592" cy="164592"/>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2"/>
          <p:cNvSpPr/>
          <p:nvPr/>
        </p:nvSpPr>
        <p:spPr>
          <a:xfrm>
            <a:off x="1463040" y="5943600"/>
            <a:ext cx="164592" cy="164592"/>
          </a:xfrm>
          <a:prstGeom prst="ellipse">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ROADMAP</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Today's Focus</a:t>
            </a:r>
          </a:p>
        </p:txBody>
      </p:sp>
      <p:sp>
        <p:nvSpPr>
          <p:cNvPr id="6" name="agendaCard0"/>
          <p:cNvSpPr/>
          <p:nvPr/>
        </p:nvSpPr>
        <p:spPr>
          <a:xfrm>
            <a:off x="640080" y="2011680"/>
            <a:ext cx="26517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gendaBar0"/>
          <p:cNvSpPr/>
          <p:nvPr/>
        </p:nvSpPr>
        <p:spPr>
          <a:xfrm>
            <a:off x="640080" y="2011680"/>
            <a:ext cx="2651760" cy="9144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gendaNum0"/>
          <p:cNvSpPr txBox="1"/>
          <p:nvPr/>
        </p:nvSpPr>
        <p:spPr>
          <a:xfrm>
            <a:off x="868680" y="2468880"/>
            <a:ext cx="2194560" cy="640080"/>
          </a:xfrm>
          <a:prstGeom prst="rect">
            <a:avLst/>
          </a:prstGeom>
          <a:noFill/>
        </p:spPr>
        <p:txBody>
          <a:bodyPr wrap="square">
            <a:spAutoFit/>
          </a:bodyPr>
          <a:lstStyle/>
          <a:p>
            <a:pPr algn="l"/>
            <a:r>
              <a:rPr sz="3600" b="1">
                <a:solidFill>
                  <a:srgbClr val="E8B923"/>
                </a:solidFill>
                <a:latin typeface="Segoe UI"/>
              </a:rPr>
              <a:t>01</a:t>
            </a:r>
          </a:p>
        </p:txBody>
      </p:sp>
      <p:sp>
        <p:nvSpPr>
          <p:cNvPr id="9" name="agendaTitle0"/>
          <p:cNvSpPr txBox="1"/>
          <p:nvPr/>
        </p:nvSpPr>
        <p:spPr>
          <a:xfrm>
            <a:off x="868680" y="3383280"/>
            <a:ext cx="2194560" cy="914400"/>
          </a:xfrm>
          <a:prstGeom prst="rect">
            <a:avLst/>
          </a:prstGeom>
          <a:noFill/>
        </p:spPr>
        <p:txBody>
          <a:bodyPr wrap="square">
            <a:spAutoFit/>
          </a:bodyPr>
          <a:lstStyle/>
          <a:p>
            <a:pPr algn="l"/>
            <a:r>
              <a:rPr sz="1800" b="1">
                <a:solidFill>
                  <a:srgbClr val="0B1F3A"/>
                </a:solidFill>
                <a:latin typeface="Segoe UI"/>
              </a:rPr>
              <a:t>Safety Policy</a:t>
            </a:r>
          </a:p>
        </p:txBody>
      </p:sp>
      <p:sp>
        <p:nvSpPr>
          <p:cNvPr id="10" name="agendaDesc0"/>
          <p:cNvSpPr txBox="1"/>
          <p:nvPr/>
        </p:nvSpPr>
        <p:spPr>
          <a:xfrm>
            <a:off x="868680" y="4297680"/>
            <a:ext cx="2194560" cy="822960"/>
          </a:xfrm>
          <a:prstGeom prst="rect">
            <a:avLst/>
          </a:prstGeom>
          <a:noFill/>
        </p:spPr>
        <p:txBody>
          <a:bodyPr wrap="square">
            <a:spAutoFit/>
          </a:bodyPr>
          <a:lstStyle/>
          <a:p>
            <a:pPr algn="l"/>
            <a:r>
              <a:rPr sz="1300" b="0">
                <a:solidFill>
                  <a:srgbClr val="5A6B7D"/>
                </a:solidFill>
                <a:latin typeface="Segoe UI"/>
              </a:rPr>
              <a:t>Values, objectives &amp; ownership</a:t>
            </a:r>
          </a:p>
        </p:txBody>
      </p:sp>
      <p:sp>
        <p:nvSpPr>
          <p:cNvPr id="11" name="agendaCard1"/>
          <p:cNvSpPr/>
          <p:nvPr/>
        </p:nvSpPr>
        <p:spPr>
          <a:xfrm>
            <a:off x="3474720" y="2011680"/>
            <a:ext cx="26517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gendaBar1"/>
          <p:cNvSpPr/>
          <p:nvPr/>
        </p:nvSpPr>
        <p:spPr>
          <a:xfrm>
            <a:off x="3474720" y="2011680"/>
            <a:ext cx="2651760" cy="91440"/>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gendaNum1"/>
          <p:cNvSpPr txBox="1"/>
          <p:nvPr/>
        </p:nvSpPr>
        <p:spPr>
          <a:xfrm>
            <a:off x="3703320" y="2468880"/>
            <a:ext cx="2194560" cy="640080"/>
          </a:xfrm>
          <a:prstGeom prst="rect">
            <a:avLst/>
          </a:prstGeom>
          <a:noFill/>
        </p:spPr>
        <p:txBody>
          <a:bodyPr wrap="square">
            <a:spAutoFit/>
          </a:bodyPr>
          <a:lstStyle/>
          <a:p>
            <a:pPr algn="l"/>
            <a:r>
              <a:rPr sz="3600" b="1">
                <a:solidFill>
                  <a:srgbClr val="1AB3A6"/>
                </a:solidFill>
                <a:latin typeface="Segoe UI"/>
              </a:rPr>
              <a:t>02</a:t>
            </a:r>
          </a:p>
        </p:txBody>
      </p:sp>
      <p:sp>
        <p:nvSpPr>
          <p:cNvPr id="14" name="agendaTitle1"/>
          <p:cNvSpPr txBox="1"/>
          <p:nvPr/>
        </p:nvSpPr>
        <p:spPr>
          <a:xfrm>
            <a:off x="3703320" y="3383280"/>
            <a:ext cx="2194560" cy="914400"/>
          </a:xfrm>
          <a:prstGeom prst="rect">
            <a:avLst/>
          </a:prstGeom>
          <a:noFill/>
        </p:spPr>
        <p:txBody>
          <a:bodyPr wrap="square">
            <a:spAutoFit/>
          </a:bodyPr>
          <a:lstStyle/>
          <a:p>
            <a:pPr algn="l"/>
            <a:r>
              <a:rPr sz="1800" b="1">
                <a:solidFill>
                  <a:srgbClr val="0B1F3A"/>
                </a:solidFill>
                <a:latin typeface="Segoe UI"/>
              </a:rPr>
              <a:t>Safety Risk Management</a:t>
            </a:r>
          </a:p>
        </p:txBody>
      </p:sp>
      <p:sp>
        <p:nvSpPr>
          <p:cNvPr id="15" name="agendaDesc1"/>
          <p:cNvSpPr txBox="1"/>
          <p:nvPr/>
        </p:nvSpPr>
        <p:spPr>
          <a:xfrm>
            <a:off x="3703320" y="4297680"/>
            <a:ext cx="2194560" cy="822960"/>
          </a:xfrm>
          <a:prstGeom prst="rect">
            <a:avLst/>
          </a:prstGeom>
          <a:noFill/>
        </p:spPr>
        <p:txBody>
          <a:bodyPr wrap="square">
            <a:spAutoFit/>
          </a:bodyPr>
          <a:lstStyle/>
          <a:p>
            <a:pPr algn="l"/>
            <a:r>
              <a:rPr sz="1300" b="0">
                <a:solidFill>
                  <a:srgbClr val="5A6B7D"/>
                </a:solidFill>
                <a:latin typeface="Segoe UI"/>
              </a:rPr>
              <a:t>Identify · Assess · Mitigate</a:t>
            </a:r>
          </a:p>
        </p:txBody>
      </p:sp>
      <p:sp>
        <p:nvSpPr>
          <p:cNvPr id="16" name="agendaCard2"/>
          <p:cNvSpPr/>
          <p:nvPr/>
        </p:nvSpPr>
        <p:spPr>
          <a:xfrm>
            <a:off x="6309360" y="2011680"/>
            <a:ext cx="26517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gendaBar2"/>
          <p:cNvSpPr/>
          <p:nvPr/>
        </p:nvSpPr>
        <p:spPr>
          <a:xfrm>
            <a:off x="6309360" y="2011680"/>
            <a:ext cx="2651760" cy="91440"/>
          </a:xfrm>
          <a:prstGeom prst="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gendaNum2"/>
          <p:cNvSpPr txBox="1"/>
          <p:nvPr/>
        </p:nvSpPr>
        <p:spPr>
          <a:xfrm>
            <a:off x="6537960" y="2468880"/>
            <a:ext cx="2194560" cy="640080"/>
          </a:xfrm>
          <a:prstGeom prst="rect">
            <a:avLst/>
          </a:prstGeom>
          <a:noFill/>
        </p:spPr>
        <p:txBody>
          <a:bodyPr wrap="square">
            <a:spAutoFit/>
          </a:bodyPr>
          <a:lstStyle/>
          <a:p>
            <a:pPr algn="l"/>
            <a:r>
              <a:rPr sz="3600" b="1">
                <a:solidFill>
                  <a:srgbClr val="2E86DE"/>
                </a:solidFill>
                <a:latin typeface="Segoe UI"/>
              </a:rPr>
              <a:t>03</a:t>
            </a:r>
          </a:p>
        </p:txBody>
      </p:sp>
      <p:sp>
        <p:nvSpPr>
          <p:cNvPr id="19" name="agendaTitle2"/>
          <p:cNvSpPr txBox="1"/>
          <p:nvPr/>
        </p:nvSpPr>
        <p:spPr>
          <a:xfrm>
            <a:off x="6537960" y="3383280"/>
            <a:ext cx="2194560" cy="914400"/>
          </a:xfrm>
          <a:prstGeom prst="rect">
            <a:avLst/>
          </a:prstGeom>
          <a:noFill/>
        </p:spPr>
        <p:txBody>
          <a:bodyPr wrap="square">
            <a:spAutoFit/>
          </a:bodyPr>
          <a:lstStyle/>
          <a:p>
            <a:pPr algn="l"/>
            <a:r>
              <a:rPr sz="1800" b="1">
                <a:solidFill>
                  <a:srgbClr val="0B1F3A"/>
                </a:solidFill>
                <a:latin typeface="Segoe UI"/>
              </a:rPr>
              <a:t>Safety Assurance</a:t>
            </a:r>
          </a:p>
        </p:txBody>
      </p:sp>
      <p:sp>
        <p:nvSpPr>
          <p:cNvPr id="20" name="agendaDesc2"/>
          <p:cNvSpPr txBox="1"/>
          <p:nvPr/>
        </p:nvSpPr>
        <p:spPr>
          <a:xfrm>
            <a:off x="6537960" y="4297680"/>
            <a:ext cx="2194560" cy="822960"/>
          </a:xfrm>
          <a:prstGeom prst="rect">
            <a:avLst/>
          </a:prstGeom>
          <a:noFill/>
        </p:spPr>
        <p:txBody>
          <a:bodyPr wrap="square">
            <a:spAutoFit/>
          </a:bodyPr>
          <a:lstStyle/>
          <a:p>
            <a:pPr algn="l"/>
            <a:r>
              <a:rPr sz="1300" b="0">
                <a:solidFill>
                  <a:srgbClr val="5A6B7D"/>
                </a:solidFill>
                <a:latin typeface="Segoe UI"/>
              </a:rPr>
              <a:t>Measure what matters</a:t>
            </a:r>
          </a:p>
        </p:txBody>
      </p:sp>
      <p:sp>
        <p:nvSpPr>
          <p:cNvPr id="21" name="agendaCard3"/>
          <p:cNvSpPr/>
          <p:nvPr/>
        </p:nvSpPr>
        <p:spPr>
          <a:xfrm>
            <a:off x="9144000" y="2011680"/>
            <a:ext cx="26517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gendaBar3"/>
          <p:cNvSpPr/>
          <p:nvPr/>
        </p:nvSpPr>
        <p:spPr>
          <a:xfrm>
            <a:off x="9144000" y="2011680"/>
            <a:ext cx="2651760" cy="914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gendaNum3"/>
          <p:cNvSpPr txBox="1"/>
          <p:nvPr/>
        </p:nvSpPr>
        <p:spPr>
          <a:xfrm>
            <a:off x="9372600" y="2468880"/>
            <a:ext cx="2194560" cy="640080"/>
          </a:xfrm>
          <a:prstGeom prst="rect">
            <a:avLst/>
          </a:prstGeom>
          <a:noFill/>
        </p:spPr>
        <p:txBody>
          <a:bodyPr wrap="square">
            <a:spAutoFit/>
          </a:bodyPr>
          <a:lstStyle/>
          <a:p>
            <a:pPr algn="l"/>
            <a:r>
              <a:rPr sz="3600" b="1">
                <a:solidFill>
                  <a:srgbClr val="E67E22"/>
                </a:solidFill>
                <a:latin typeface="Segoe UI"/>
              </a:rPr>
              <a:t>04</a:t>
            </a:r>
          </a:p>
        </p:txBody>
      </p:sp>
      <p:sp>
        <p:nvSpPr>
          <p:cNvPr id="24" name="agendaTitle3"/>
          <p:cNvSpPr txBox="1"/>
          <p:nvPr/>
        </p:nvSpPr>
        <p:spPr>
          <a:xfrm>
            <a:off x="9372600" y="3383280"/>
            <a:ext cx="2194560" cy="914400"/>
          </a:xfrm>
          <a:prstGeom prst="rect">
            <a:avLst/>
          </a:prstGeom>
          <a:noFill/>
        </p:spPr>
        <p:txBody>
          <a:bodyPr wrap="square">
            <a:spAutoFit/>
          </a:bodyPr>
          <a:lstStyle/>
          <a:p>
            <a:pPr algn="l"/>
            <a:r>
              <a:rPr sz="1800" b="1">
                <a:solidFill>
                  <a:srgbClr val="0B1F3A"/>
                </a:solidFill>
                <a:latin typeface="Segoe UI"/>
              </a:rPr>
              <a:t>Safety Promotion</a:t>
            </a:r>
          </a:p>
        </p:txBody>
      </p:sp>
      <p:sp>
        <p:nvSpPr>
          <p:cNvPr id="25" name="agendaDesc3"/>
          <p:cNvSpPr txBox="1"/>
          <p:nvPr/>
        </p:nvSpPr>
        <p:spPr>
          <a:xfrm>
            <a:off x="9372600" y="4297680"/>
            <a:ext cx="2194560" cy="822960"/>
          </a:xfrm>
          <a:prstGeom prst="rect">
            <a:avLst/>
          </a:prstGeom>
          <a:noFill/>
        </p:spPr>
        <p:txBody>
          <a:bodyPr wrap="square">
            <a:spAutoFit/>
          </a:bodyPr>
          <a:lstStyle/>
          <a:p>
            <a:pPr algn="l"/>
            <a:r>
              <a:rPr sz="1300" b="0">
                <a:solidFill>
                  <a:srgbClr val="5A6B7D"/>
                </a:solidFill>
                <a:latin typeface="Segoe UI"/>
              </a:rPr>
              <a:t>Culture, training &amp; improvement</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315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33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COMPONENT 1</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Safety Policy</a:t>
            </a:r>
          </a:p>
        </p:txBody>
      </p:sp>
      <p:sp>
        <p:nvSpPr>
          <p:cNvPr id="6" name="policyRow0"/>
          <p:cNvSpPr/>
          <p:nvPr/>
        </p:nvSpPr>
        <p:spPr>
          <a:xfrm>
            <a:off x="640080" y="1554480"/>
            <a:ext cx="107899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olicyIcon0"/>
          <p:cNvSpPr/>
          <p:nvPr/>
        </p:nvSpPr>
        <p:spPr>
          <a:xfrm>
            <a:off x="868680" y="1691640"/>
            <a:ext cx="502920" cy="50292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olicyNum0"/>
          <p:cNvSpPr txBox="1"/>
          <p:nvPr/>
        </p:nvSpPr>
        <p:spPr>
          <a:xfrm>
            <a:off x="868680" y="1783080"/>
            <a:ext cx="502920" cy="365760"/>
          </a:xfrm>
          <a:prstGeom prst="rect">
            <a:avLst/>
          </a:prstGeom>
          <a:noFill/>
        </p:spPr>
        <p:txBody>
          <a:bodyPr wrap="square">
            <a:spAutoFit/>
          </a:bodyPr>
          <a:lstStyle/>
          <a:p>
            <a:pPr algn="ctr"/>
            <a:r>
              <a:rPr sz="1600" b="1">
                <a:solidFill>
                  <a:srgbClr val="FFFFFF"/>
                </a:solidFill>
                <a:latin typeface="Segoe UI"/>
              </a:rPr>
              <a:t>1</a:t>
            </a:r>
          </a:p>
        </p:txBody>
      </p:sp>
      <p:sp>
        <p:nvSpPr>
          <p:cNvPr id="9" name="policyTitle0"/>
          <p:cNvSpPr txBox="1"/>
          <p:nvPr/>
        </p:nvSpPr>
        <p:spPr>
          <a:xfrm>
            <a:off x="1645920" y="1664208"/>
            <a:ext cx="9144000" cy="320040"/>
          </a:xfrm>
          <a:prstGeom prst="rect">
            <a:avLst/>
          </a:prstGeom>
          <a:noFill/>
        </p:spPr>
        <p:txBody>
          <a:bodyPr wrap="square">
            <a:spAutoFit/>
          </a:bodyPr>
          <a:lstStyle/>
          <a:p>
            <a:pPr algn="l"/>
            <a:r>
              <a:rPr sz="1600" b="1">
                <a:solidFill>
                  <a:srgbClr val="0B1F3A"/>
                </a:solidFill>
                <a:latin typeface="Segoe UI"/>
              </a:rPr>
              <a:t>Define Values</a:t>
            </a:r>
          </a:p>
        </p:txBody>
      </p:sp>
      <p:sp>
        <p:nvSpPr>
          <p:cNvPr id="10" name="policyDesc0"/>
          <p:cNvSpPr txBox="1"/>
          <p:nvPr/>
        </p:nvSpPr>
        <p:spPr>
          <a:xfrm>
            <a:off x="1645920" y="1965960"/>
            <a:ext cx="9144000" cy="274320"/>
          </a:xfrm>
          <a:prstGeom prst="rect">
            <a:avLst/>
          </a:prstGeom>
          <a:noFill/>
        </p:spPr>
        <p:txBody>
          <a:bodyPr wrap="square">
            <a:spAutoFit/>
          </a:bodyPr>
          <a:lstStyle/>
          <a:p>
            <a:pPr algn="l"/>
            <a:r>
              <a:rPr sz="1300" b="0">
                <a:solidFill>
                  <a:srgbClr val="5A6B7D"/>
                </a:solidFill>
                <a:latin typeface="Segoe UI"/>
              </a:rPr>
              <a:t>Brainstorm your organization's values and write them down.</a:t>
            </a:r>
          </a:p>
        </p:txBody>
      </p:sp>
      <p:sp>
        <p:nvSpPr>
          <p:cNvPr id="11" name="policyRow1"/>
          <p:cNvSpPr/>
          <p:nvPr/>
        </p:nvSpPr>
        <p:spPr>
          <a:xfrm>
            <a:off x="640080" y="2468880"/>
            <a:ext cx="107899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olicyIcon1"/>
          <p:cNvSpPr/>
          <p:nvPr/>
        </p:nvSpPr>
        <p:spPr>
          <a:xfrm>
            <a:off x="868680" y="2606040"/>
            <a:ext cx="502920" cy="502920"/>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olicyNum1"/>
          <p:cNvSpPr txBox="1"/>
          <p:nvPr/>
        </p:nvSpPr>
        <p:spPr>
          <a:xfrm>
            <a:off x="868680" y="2697480"/>
            <a:ext cx="502920" cy="365760"/>
          </a:xfrm>
          <a:prstGeom prst="rect">
            <a:avLst/>
          </a:prstGeom>
          <a:noFill/>
        </p:spPr>
        <p:txBody>
          <a:bodyPr wrap="square">
            <a:spAutoFit/>
          </a:bodyPr>
          <a:lstStyle/>
          <a:p>
            <a:pPr algn="ctr"/>
            <a:r>
              <a:rPr sz="1600" b="1">
                <a:solidFill>
                  <a:srgbClr val="FFFFFF"/>
                </a:solidFill>
                <a:latin typeface="Segoe UI"/>
              </a:rPr>
              <a:t>2</a:t>
            </a:r>
          </a:p>
        </p:txBody>
      </p:sp>
      <p:sp>
        <p:nvSpPr>
          <p:cNvPr id="14" name="policyTitle1"/>
          <p:cNvSpPr txBox="1"/>
          <p:nvPr/>
        </p:nvSpPr>
        <p:spPr>
          <a:xfrm>
            <a:off x="1645920" y="2578608"/>
            <a:ext cx="9144000" cy="320040"/>
          </a:xfrm>
          <a:prstGeom prst="rect">
            <a:avLst/>
          </a:prstGeom>
          <a:noFill/>
        </p:spPr>
        <p:txBody>
          <a:bodyPr wrap="square">
            <a:spAutoFit/>
          </a:bodyPr>
          <a:lstStyle/>
          <a:p>
            <a:pPr algn="l"/>
            <a:r>
              <a:rPr sz="1600" b="1">
                <a:solidFill>
                  <a:srgbClr val="0B1F3A"/>
                </a:solidFill>
                <a:latin typeface="Segoe UI"/>
              </a:rPr>
              <a:t>Anchor Safety</a:t>
            </a:r>
          </a:p>
        </p:txBody>
      </p:sp>
      <p:sp>
        <p:nvSpPr>
          <p:cNvPr id="15" name="policyDesc1"/>
          <p:cNvSpPr txBox="1"/>
          <p:nvPr/>
        </p:nvSpPr>
        <p:spPr>
          <a:xfrm>
            <a:off x="1645920" y="2880360"/>
            <a:ext cx="9144000" cy="274320"/>
          </a:xfrm>
          <a:prstGeom prst="rect">
            <a:avLst/>
          </a:prstGeom>
          <a:noFill/>
        </p:spPr>
        <p:txBody>
          <a:bodyPr wrap="square">
            <a:spAutoFit/>
          </a:bodyPr>
          <a:lstStyle/>
          <a:p>
            <a:pPr algn="l"/>
            <a:r>
              <a:rPr sz="1300" b="0">
                <a:solidFill>
                  <a:srgbClr val="5A6B7D"/>
                </a:solidFill>
                <a:latin typeface="Segoe UI"/>
              </a:rPr>
              <a:t>The opening paragraph of your safety policy should reflect where safety fits into your values.</a:t>
            </a:r>
          </a:p>
        </p:txBody>
      </p:sp>
      <p:sp>
        <p:nvSpPr>
          <p:cNvPr id="16" name="policyRow2"/>
          <p:cNvSpPr/>
          <p:nvPr/>
        </p:nvSpPr>
        <p:spPr>
          <a:xfrm>
            <a:off x="640080" y="3383280"/>
            <a:ext cx="107899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olicyIcon2"/>
          <p:cNvSpPr/>
          <p:nvPr/>
        </p:nvSpPr>
        <p:spPr>
          <a:xfrm>
            <a:off x="868680" y="3520440"/>
            <a:ext cx="502920" cy="50292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olicyNum2"/>
          <p:cNvSpPr txBox="1"/>
          <p:nvPr/>
        </p:nvSpPr>
        <p:spPr>
          <a:xfrm>
            <a:off x="868680" y="3611880"/>
            <a:ext cx="502920" cy="365760"/>
          </a:xfrm>
          <a:prstGeom prst="rect">
            <a:avLst/>
          </a:prstGeom>
          <a:noFill/>
        </p:spPr>
        <p:txBody>
          <a:bodyPr wrap="square">
            <a:spAutoFit/>
          </a:bodyPr>
          <a:lstStyle/>
          <a:p>
            <a:pPr algn="ctr"/>
            <a:r>
              <a:rPr sz="1600" b="1">
                <a:solidFill>
                  <a:srgbClr val="FFFFFF"/>
                </a:solidFill>
                <a:latin typeface="Segoe UI"/>
              </a:rPr>
              <a:t>3</a:t>
            </a:r>
          </a:p>
        </p:txBody>
      </p:sp>
      <p:sp>
        <p:nvSpPr>
          <p:cNvPr id="19" name="policyTitle2"/>
          <p:cNvSpPr txBox="1"/>
          <p:nvPr/>
        </p:nvSpPr>
        <p:spPr>
          <a:xfrm>
            <a:off x="1645920" y="3493008"/>
            <a:ext cx="9144000" cy="320040"/>
          </a:xfrm>
          <a:prstGeom prst="rect">
            <a:avLst/>
          </a:prstGeom>
          <a:noFill/>
        </p:spPr>
        <p:txBody>
          <a:bodyPr wrap="square">
            <a:spAutoFit/>
          </a:bodyPr>
          <a:lstStyle/>
          <a:p>
            <a:pPr algn="l"/>
            <a:r>
              <a:rPr sz="1600" b="1">
                <a:solidFill>
                  <a:srgbClr val="0B1F3A"/>
                </a:solidFill>
                <a:latin typeface="Segoe UI"/>
              </a:rPr>
              <a:t>Dream</a:t>
            </a:r>
          </a:p>
        </p:txBody>
      </p:sp>
      <p:sp>
        <p:nvSpPr>
          <p:cNvPr id="20" name="policyDesc2"/>
          <p:cNvSpPr txBox="1"/>
          <p:nvPr/>
        </p:nvSpPr>
        <p:spPr>
          <a:xfrm>
            <a:off x="1645920" y="3794760"/>
            <a:ext cx="9144000" cy="274320"/>
          </a:xfrm>
          <a:prstGeom prst="rect">
            <a:avLst/>
          </a:prstGeom>
          <a:noFill/>
        </p:spPr>
        <p:txBody>
          <a:bodyPr wrap="square">
            <a:spAutoFit/>
          </a:bodyPr>
          <a:lstStyle/>
          <a:p>
            <a:pPr algn="l"/>
            <a:r>
              <a:rPr sz="1300" b="0">
                <a:solidFill>
                  <a:srgbClr val="5A6B7D"/>
                </a:solidFill>
                <a:latin typeface="Segoe UI"/>
              </a:rPr>
              <a:t>What would you like the SMS to do for your organization?</a:t>
            </a:r>
          </a:p>
        </p:txBody>
      </p:sp>
      <p:sp>
        <p:nvSpPr>
          <p:cNvPr id="21" name="policyRow3"/>
          <p:cNvSpPr/>
          <p:nvPr/>
        </p:nvSpPr>
        <p:spPr>
          <a:xfrm>
            <a:off x="640080" y="4297680"/>
            <a:ext cx="107899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olicyIcon3"/>
          <p:cNvSpPr/>
          <p:nvPr/>
        </p:nvSpPr>
        <p:spPr>
          <a:xfrm>
            <a:off x="868680" y="4434840"/>
            <a:ext cx="502920" cy="502920"/>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olicyNum3"/>
          <p:cNvSpPr txBox="1"/>
          <p:nvPr/>
        </p:nvSpPr>
        <p:spPr>
          <a:xfrm>
            <a:off x="868680" y="4526280"/>
            <a:ext cx="502920" cy="365760"/>
          </a:xfrm>
          <a:prstGeom prst="rect">
            <a:avLst/>
          </a:prstGeom>
          <a:noFill/>
        </p:spPr>
        <p:txBody>
          <a:bodyPr wrap="square">
            <a:spAutoFit/>
          </a:bodyPr>
          <a:lstStyle/>
          <a:p>
            <a:pPr algn="ctr"/>
            <a:r>
              <a:rPr sz="1600" b="1">
                <a:solidFill>
                  <a:srgbClr val="FFFFFF"/>
                </a:solidFill>
                <a:latin typeface="Segoe UI"/>
              </a:rPr>
              <a:t>4</a:t>
            </a:r>
          </a:p>
        </p:txBody>
      </p:sp>
      <p:sp>
        <p:nvSpPr>
          <p:cNvPr id="24" name="policyTitle3"/>
          <p:cNvSpPr txBox="1"/>
          <p:nvPr/>
        </p:nvSpPr>
        <p:spPr>
          <a:xfrm>
            <a:off x="1645920" y="4407408"/>
            <a:ext cx="9144000" cy="320040"/>
          </a:xfrm>
          <a:prstGeom prst="rect">
            <a:avLst/>
          </a:prstGeom>
          <a:noFill/>
        </p:spPr>
        <p:txBody>
          <a:bodyPr wrap="square">
            <a:spAutoFit/>
          </a:bodyPr>
          <a:lstStyle/>
          <a:p>
            <a:pPr algn="l"/>
            <a:r>
              <a:rPr sz="1600" b="1">
                <a:solidFill>
                  <a:srgbClr val="0B1F3A"/>
                </a:solidFill>
                <a:latin typeface="Segoe UI"/>
              </a:rPr>
              <a:t>Set Objectives</a:t>
            </a:r>
          </a:p>
        </p:txBody>
      </p:sp>
      <p:sp>
        <p:nvSpPr>
          <p:cNvPr id="25" name="policyDesc3"/>
          <p:cNvSpPr txBox="1"/>
          <p:nvPr/>
        </p:nvSpPr>
        <p:spPr>
          <a:xfrm>
            <a:off x="1645920" y="4709160"/>
            <a:ext cx="9144000" cy="274320"/>
          </a:xfrm>
          <a:prstGeom prst="rect">
            <a:avLst/>
          </a:prstGeom>
          <a:noFill/>
        </p:spPr>
        <p:txBody>
          <a:bodyPr wrap="square">
            <a:spAutoFit/>
          </a:bodyPr>
          <a:lstStyle/>
          <a:p>
            <a:pPr algn="l"/>
            <a:r>
              <a:rPr sz="1300" b="0">
                <a:solidFill>
                  <a:srgbClr val="5A6B7D"/>
                </a:solidFill>
                <a:latin typeface="Segoe UI"/>
              </a:rPr>
              <a:t>Set those as the SMS objectives in your policy.</a:t>
            </a:r>
          </a:p>
        </p:txBody>
      </p:sp>
      <p:sp>
        <p:nvSpPr>
          <p:cNvPr id="26" name="policyRow4"/>
          <p:cNvSpPr/>
          <p:nvPr/>
        </p:nvSpPr>
        <p:spPr>
          <a:xfrm>
            <a:off x="640080" y="5212080"/>
            <a:ext cx="107899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olicyIcon4"/>
          <p:cNvSpPr/>
          <p:nvPr/>
        </p:nvSpPr>
        <p:spPr>
          <a:xfrm>
            <a:off x="868680" y="5349240"/>
            <a:ext cx="502920" cy="50292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olicyNum4"/>
          <p:cNvSpPr txBox="1"/>
          <p:nvPr/>
        </p:nvSpPr>
        <p:spPr>
          <a:xfrm>
            <a:off x="868680" y="5440680"/>
            <a:ext cx="502920" cy="365760"/>
          </a:xfrm>
          <a:prstGeom prst="rect">
            <a:avLst/>
          </a:prstGeom>
          <a:noFill/>
        </p:spPr>
        <p:txBody>
          <a:bodyPr wrap="square">
            <a:spAutoFit/>
          </a:bodyPr>
          <a:lstStyle/>
          <a:p>
            <a:pPr algn="ctr"/>
            <a:r>
              <a:rPr sz="1600" b="1">
                <a:solidFill>
                  <a:srgbClr val="FFFFFF"/>
                </a:solidFill>
                <a:latin typeface="Segoe UI"/>
              </a:rPr>
              <a:t>5</a:t>
            </a:r>
          </a:p>
        </p:txBody>
      </p:sp>
      <p:sp>
        <p:nvSpPr>
          <p:cNvPr id="29" name="policyTitle4"/>
          <p:cNvSpPr txBox="1"/>
          <p:nvPr/>
        </p:nvSpPr>
        <p:spPr>
          <a:xfrm>
            <a:off x="1645920" y="5321808"/>
            <a:ext cx="9144000" cy="320040"/>
          </a:xfrm>
          <a:prstGeom prst="rect">
            <a:avLst/>
          </a:prstGeom>
          <a:noFill/>
        </p:spPr>
        <p:txBody>
          <a:bodyPr wrap="square">
            <a:spAutoFit/>
          </a:bodyPr>
          <a:lstStyle/>
          <a:p>
            <a:pPr algn="l"/>
            <a:r>
              <a:rPr sz="1600" b="1">
                <a:solidFill>
                  <a:srgbClr val="0B1F3A"/>
                </a:solidFill>
                <a:latin typeface="Segoe UI"/>
              </a:rPr>
              <a:t>Assign Ownership</a:t>
            </a:r>
          </a:p>
        </p:txBody>
      </p:sp>
      <p:sp>
        <p:nvSpPr>
          <p:cNvPr id="30" name="policyDesc4"/>
          <p:cNvSpPr txBox="1"/>
          <p:nvPr/>
        </p:nvSpPr>
        <p:spPr>
          <a:xfrm>
            <a:off x="1645920" y="5623560"/>
            <a:ext cx="9144000" cy="274320"/>
          </a:xfrm>
          <a:prstGeom prst="rect">
            <a:avLst/>
          </a:prstGeom>
          <a:noFill/>
        </p:spPr>
        <p:txBody>
          <a:bodyPr wrap="square">
            <a:spAutoFit/>
          </a:bodyPr>
          <a:lstStyle/>
          <a:p>
            <a:pPr algn="l"/>
            <a:r>
              <a:rPr sz="1300" b="0">
                <a:solidFill>
                  <a:srgbClr val="5A6B7D"/>
                </a:solidFill>
                <a:latin typeface="Segoe UI"/>
              </a:rPr>
              <a:t>Outline high level responsibilities for all employees of your organization.</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42"/>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28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26"/>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568"/>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1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852"/>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994"/>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136"/>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278"/>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42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562"/>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704"/>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846"/>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1988"/>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13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272"/>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414"/>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556"/>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698"/>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284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2982"/>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3124"/>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3266"/>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3408"/>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355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3692"/>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3834"/>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bjLabel"/>
          <p:cNvSpPr txBox="1"/>
          <p:nvPr/>
        </p:nvSpPr>
        <p:spPr>
          <a:xfrm>
            <a:off x="822960" y="2194560"/>
            <a:ext cx="10058400" cy="365760"/>
          </a:xfrm>
          <a:prstGeom prst="rect">
            <a:avLst/>
          </a:prstGeom>
          <a:noFill/>
        </p:spPr>
        <p:txBody>
          <a:bodyPr wrap="square">
            <a:spAutoFit/>
          </a:bodyPr>
          <a:lstStyle/>
          <a:p>
            <a:pPr algn="ctr"/>
            <a:r>
              <a:rPr sz="1600" b="1">
                <a:solidFill>
                  <a:srgbClr val="E8B923"/>
                </a:solidFill>
                <a:latin typeface="Segoe UI"/>
              </a:rPr>
              <a:t>OUR SAFETY OBJECTIVE IS</a:t>
            </a:r>
          </a:p>
        </p:txBody>
      </p:sp>
      <p:sp>
        <p:nvSpPr>
          <p:cNvPr id="4" name="objTitle"/>
          <p:cNvSpPr txBox="1"/>
          <p:nvPr/>
        </p:nvSpPr>
        <p:spPr>
          <a:xfrm>
            <a:off x="822960" y="2834640"/>
            <a:ext cx="10515600" cy="914400"/>
          </a:xfrm>
          <a:prstGeom prst="rect">
            <a:avLst/>
          </a:prstGeom>
          <a:noFill/>
        </p:spPr>
        <p:txBody>
          <a:bodyPr wrap="square">
            <a:spAutoFit/>
          </a:bodyPr>
          <a:lstStyle/>
          <a:p>
            <a:pPr algn="ctr"/>
            <a:r>
              <a:rPr sz="3600" b="1">
                <a:solidFill>
                  <a:srgbClr val="FFFFFF"/>
                </a:solidFill>
                <a:latin typeface="Segoe UI Semibold"/>
              </a:rPr>
              <a:t>"A Continuous Reduction in Mishaps"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bjLabel"/>
          <p:cNvSpPr txBox="1"/>
          <p:nvPr/>
        </p:nvSpPr>
        <p:spPr>
          <a:xfrm>
            <a:off x="457200" y="274320"/>
            <a:ext cx="7315200" cy="320040"/>
          </a:xfrm>
          <a:prstGeom prst="rect">
            <a:avLst/>
          </a:prstGeom>
          <a:noFill/>
        </p:spPr>
        <p:txBody>
          <a:bodyPr wrap="square">
            <a:spAutoFit/>
          </a:bodyPr>
          <a:lstStyle/>
          <a:p>
            <a:pPr algn="l"/>
            <a:r>
              <a:rPr sz="1200" b="1">
                <a:solidFill>
                  <a:srgbClr val="E8B923"/>
                </a:solidFill>
                <a:latin typeface="Segoe UI"/>
              </a:rPr>
              <a:t>OUR SAFETY OBJECTIVE IS</a:t>
            </a:r>
          </a:p>
        </p:txBody>
      </p:sp>
      <p:sp>
        <p:nvSpPr>
          <p:cNvPr id="4" name="objTitle"/>
          <p:cNvSpPr txBox="1"/>
          <p:nvPr/>
        </p:nvSpPr>
        <p:spPr>
          <a:xfrm>
            <a:off x="457200" y="594360"/>
            <a:ext cx="7315200" cy="457200"/>
          </a:xfrm>
          <a:prstGeom prst="rect">
            <a:avLst/>
          </a:prstGeom>
          <a:noFill/>
        </p:spPr>
        <p:txBody>
          <a:bodyPr wrap="square">
            <a:spAutoFit/>
          </a:bodyPr>
          <a:lstStyle/>
          <a:p>
            <a:pPr algn="l"/>
            <a:r>
              <a:rPr sz="2200" b="1">
                <a:solidFill>
                  <a:srgbClr val="FFFFFF"/>
                </a:solidFill>
                <a:latin typeface="Segoe UI Semibold"/>
              </a:rPr>
              <a:t>"A Continuous Reduction in Mishaps"</a:t>
            </a:r>
          </a:p>
        </p:txBody>
      </p:sp>
      <p:sp>
        <p:nvSpPr>
          <p:cNvPr id="5" name="pyramidBase"/>
          <p:cNvSpPr/>
          <p:nvPr/>
        </p:nvSpPr>
        <p:spPr>
          <a:xfrm>
            <a:off x="1097280" y="1645920"/>
            <a:ext cx="4754880" cy="4206240"/>
          </a:xfrm>
          <a:prstGeom prst="triangle">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yramidMid"/>
          <p:cNvSpPr/>
          <p:nvPr/>
        </p:nvSpPr>
        <p:spPr>
          <a:xfrm>
            <a:off x="1783080" y="1645920"/>
            <a:ext cx="3383280" cy="2926080"/>
          </a:xfrm>
          <a:prstGeom prst="triangl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yramidTop"/>
          <p:cNvSpPr/>
          <p:nvPr/>
        </p:nvSpPr>
        <p:spPr>
          <a:xfrm>
            <a:off x="2468880" y="1645920"/>
            <a:ext cx="2011680" cy="1645920"/>
          </a:xfrm>
          <a:prstGeom prst="triangl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yrLabel0"/>
          <p:cNvSpPr txBox="1"/>
          <p:nvPr/>
        </p:nvSpPr>
        <p:spPr>
          <a:xfrm>
            <a:off x="365760" y="2103120"/>
            <a:ext cx="1645920" cy="320040"/>
          </a:xfrm>
          <a:prstGeom prst="rect">
            <a:avLst/>
          </a:prstGeom>
          <a:noFill/>
        </p:spPr>
        <p:txBody>
          <a:bodyPr wrap="square">
            <a:spAutoFit/>
          </a:bodyPr>
          <a:lstStyle/>
          <a:p>
            <a:pPr algn="l"/>
            <a:r>
              <a:rPr sz="1200" b="1">
                <a:solidFill>
                  <a:srgbClr val="E74C3C"/>
                </a:solidFill>
                <a:latin typeface="Segoe UI"/>
              </a:rPr>
              <a:t>ACCIDENT</a:t>
            </a:r>
          </a:p>
        </p:txBody>
      </p:sp>
      <p:sp>
        <p:nvSpPr>
          <p:cNvPr id="9" name="pyrLabel1"/>
          <p:cNvSpPr txBox="1"/>
          <p:nvPr/>
        </p:nvSpPr>
        <p:spPr>
          <a:xfrm>
            <a:off x="365760" y="3291840"/>
            <a:ext cx="1645920" cy="320040"/>
          </a:xfrm>
          <a:prstGeom prst="rect">
            <a:avLst/>
          </a:prstGeom>
          <a:noFill/>
        </p:spPr>
        <p:txBody>
          <a:bodyPr wrap="square">
            <a:spAutoFit/>
          </a:bodyPr>
          <a:lstStyle/>
          <a:p>
            <a:pPr algn="l"/>
            <a:r>
              <a:rPr sz="1200" b="1">
                <a:solidFill>
                  <a:srgbClr val="E67E22"/>
                </a:solidFill>
                <a:latin typeface="Segoe UI"/>
              </a:rPr>
              <a:t>INCIDENTS</a:t>
            </a:r>
          </a:p>
        </p:txBody>
      </p:sp>
      <p:sp>
        <p:nvSpPr>
          <p:cNvPr id="10" name="pyrLabel2"/>
          <p:cNvSpPr txBox="1"/>
          <p:nvPr/>
        </p:nvSpPr>
        <p:spPr>
          <a:xfrm>
            <a:off x="365760" y="4572000"/>
            <a:ext cx="1645920" cy="320040"/>
          </a:xfrm>
          <a:prstGeom prst="rect">
            <a:avLst/>
          </a:prstGeom>
          <a:noFill/>
        </p:spPr>
        <p:txBody>
          <a:bodyPr wrap="square">
            <a:spAutoFit/>
          </a:bodyPr>
          <a:lstStyle/>
          <a:p>
            <a:pPr algn="l"/>
            <a:r>
              <a:rPr sz="1200" b="1">
                <a:solidFill>
                  <a:srgbClr val="E8B923"/>
                </a:solidFill>
                <a:latin typeface="Segoe UI"/>
              </a:rPr>
              <a:t>CLOSE CALLS</a:t>
            </a:r>
          </a:p>
        </p:txBody>
      </p:sp>
      <p:sp>
        <p:nvSpPr>
          <p:cNvPr id="11" name="pyrNum0"/>
          <p:cNvSpPr txBox="1"/>
          <p:nvPr/>
        </p:nvSpPr>
        <p:spPr>
          <a:xfrm>
            <a:off x="2926080" y="2103120"/>
            <a:ext cx="1371600" cy="365760"/>
          </a:xfrm>
          <a:prstGeom prst="rect">
            <a:avLst/>
          </a:prstGeom>
          <a:noFill/>
        </p:spPr>
        <p:txBody>
          <a:bodyPr wrap="square">
            <a:spAutoFit/>
          </a:bodyPr>
          <a:lstStyle/>
          <a:p>
            <a:pPr algn="ctr"/>
            <a:r>
              <a:rPr sz="1600" b="1">
                <a:solidFill>
                  <a:srgbClr val="FFFFFF"/>
                </a:solidFill>
                <a:latin typeface="Segoe UI"/>
              </a:rPr>
              <a:t>1</a:t>
            </a:r>
          </a:p>
        </p:txBody>
      </p:sp>
      <p:sp>
        <p:nvSpPr>
          <p:cNvPr id="12" name="pyrNum1"/>
          <p:cNvSpPr txBox="1"/>
          <p:nvPr/>
        </p:nvSpPr>
        <p:spPr>
          <a:xfrm>
            <a:off x="2834640" y="3383280"/>
            <a:ext cx="1371600" cy="365760"/>
          </a:xfrm>
          <a:prstGeom prst="rect">
            <a:avLst/>
          </a:prstGeom>
          <a:noFill/>
        </p:spPr>
        <p:txBody>
          <a:bodyPr wrap="square">
            <a:spAutoFit/>
          </a:bodyPr>
          <a:lstStyle/>
          <a:p>
            <a:pPr algn="ctr"/>
            <a:r>
              <a:rPr sz="1600" b="1">
                <a:solidFill>
                  <a:srgbClr val="FFFFFF"/>
                </a:solidFill>
                <a:latin typeface="Segoe UI"/>
              </a:rPr>
              <a:t>1,000</a:t>
            </a:r>
          </a:p>
        </p:txBody>
      </p:sp>
      <p:sp>
        <p:nvSpPr>
          <p:cNvPr id="13" name="pyrNum2"/>
          <p:cNvSpPr txBox="1"/>
          <p:nvPr/>
        </p:nvSpPr>
        <p:spPr>
          <a:xfrm>
            <a:off x="2651760" y="4754880"/>
            <a:ext cx="1371600" cy="365760"/>
          </a:xfrm>
          <a:prstGeom prst="rect">
            <a:avLst/>
          </a:prstGeom>
          <a:noFill/>
        </p:spPr>
        <p:txBody>
          <a:bodyPr wrap="square">
            <a:spAutoFit/>
          </a:bodyPr>
          <a:lstStyle/>
          <a:p>
            <a:pPr algn="ctr"/>
            <a:r>
              <a:rPr sz="1600" b="1">
                <a:solidFill>
                  <a:srgbClr val="FFFFFF"/>
                </a:solidFill>
                <a:latin typeface="Segoe UI"/>
              </a:rPr>
              <a:t>10,000</a:t>
            </a:r>
          </a:p>
        </p:txBody>
      </p:sp>
      <p:sp>
        <p:nvSpPr>
          <p:cNvPr id="14" name="magnifier"/>
          <p:cNvSpPr/>
          <p:nvPr/>
        </p:nvSpPr>
        <p:spPr>
          <a:xfrm>
            <a:off x="4206240" y="137160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agnifierInner"/>
          <p:cNvSpPr/>
          <p:nvPr/>
        </p:nvSpPr>
        <p:spPr>
          <a:xfrm>
            <a:off x="4297680" y="1463040"/>
            <a:ext cx="320040" cy="32004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6" name="Chart 15"/>
          <p:cNvGraphicFramePr>
            <a:graphicFrameLocks noGrp="1"/>
          </p:cNvGraphicFramePr>
          <p:nvPr/>
        </p:nvGraphicFramePr>
        <p:xfrm>
          <a:off x="6400800" y="1645920"/>
          <a:ext cx="5120640" cy="3840480"/>
        </p:xfrm>
        <a:graphic>
          <a:graphicData uri="http://schemas.openxmlformats.org/drawingml/2006/chart">
            <c:chart xmlns:c="http://schemas.openxmlformats.org/drawingml/2006/chart" r:id="rId2"/>
          </a:graphicData>
        </a:graphic>
      </p:graphicFrame>
      <p:sp>
        <p:nvSpPr>
          <p:cNvPr id="17" name="pyrFooter"/>
          <p:cNvSpPr txBox="1"/>
          <p:nvPr/>
        </p:nvSpPr>
        <p:spPr>
          <a:xfrm>
            <a:off x="457200" y="6126480"/>
            <a:ext cx="10972800" cy="411480"/>
          </a:xfrm>
          <a:prstGeom prst="rect">
            <a:avLst/>
          </a:prstGeom>
          <a:noFill/>
        </p:spPr>
        <p:txBody>
          <a:bodyPr wrap="square">
            <a:spAutoFit/>
          </a:bodyPr>
          <a:lstStyle/>
          <a:p>
            <a:pPr algn="ctr"/>
            <a:r>
              <a:rPr sz="1400" b="1">
                <a:solidFill>
                  <a:srgbClr val="F5D06A"/>
                </a:solidFill>
                <a:latin typeface="Segoe UI"/>
              </a:rPr>
              <a:t>We must be vigilant to FIND the next POTENTIAL accident and prevent it from HAPPENING</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ACCOUNTABILITY</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Management Commitment &amp; Safety Accountabilities</a:t>
            </a:r>
          </a:p>
        </p:txBody>
      </p:sp>
      <p:sp>
        <p:nvSpPr>
          <p:cNvPr id="6" name="commitCard0"/>
          <p:cNvSpPr/>
          <p:nvPr/>
        </p:nvSpPr>
        <p:spPr>
          <a:xfrm>
            <a:off x="548640" y="164592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mmitStripe0"/>
          <p:cNvSpPr/>
          <p:nvPr/>
        </p:nvSpPr>
        <p:spPr>
          <a:xfrm>
            <a:off x="548640" y="1645920"/>
            <a:ext cx="109728" cy="20116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mmitNum0"/>
          <p:cNvSpPr txBox="1"/>
          <p:nvPr/>
        </p:nvSpPr>
        <p:spPr>
          <a:xfrm>
            <a:off x="914400" y="1965960"/>
            <a:ext cx="914400" cy="457200"/>
          </a:xfrm>
          <a:prstGeom prst="rect">
            <a:avLst/>
          </a:prstGeom>
          <a:noFill/>
        </p:spPr>
        <p:txBody>
          <a:bodyPr wrap="square">
            <a:spAutoFit/>
          </a:bodyPr>
          <a:lstStyle/>
          <a:p>
            <a:pPr algn="l"/>
            <a:r>
              <a:rPr sz="2400" b="1">
                <a:solidFill>
                  <a:srgbClr val="0B1F3A"/>
                </a:solidFill>
                <a:latin typeface="Segoe UI"/>
              </a:rPr>
              <a:t>01</a:t>
            </a:r>
          </a:p>
        </p:txBody>
      </p:sp>
      <p:sp>
        <p:nvSpPr>
          <p:cNvPr id="9" name="commitTitle0"/>
          <p:cNvSpPr txBox="1"/>
          <p:nvPr/>
        </p:nvSpPr>
        <p:spPr>
          <a:xfrm>
            <a:off x="914400" y="2468880"/>
            <a:ext cx="4754880" cy="365760"/>
          </a:xfrm>
          <a:prstGeom prst="rect">
            <a:avLst/>
          </a:prstGeom>
          <a:noFill/>
        </p:spPr>
        <p:txBody>
          <a:bodyPr wrap="square">
            <a:spAutoFit/>
          </a:bodyPr>
          <a:lstStyle/>
          <a:p>
            <a:pPr algn="l"/>
            <a:r>
              <a:rPr sz="2000" b="1">
                <a:solidFill>
                  <a:srgbClr val="0B1F3A"/>
                </a:solidFill>
                <a:latin typeface="Segoe UI"/>
              </a:rPr>
              <a:t>One Responsible Person</a:t>
            </a:r>
          </a:p>
        </p:txBody>
      </p:sp>
      <p:sp>
        <p:nvSpPr>
          <p:cNvPr id="10" name="commitDesc0"/>
          <p:cNvSpPr txBox="1"/>
          <p:nvPr/>
        </p:nvSpPr>
        <p:spPr>
          <a:xfrm>
            <a:off x="914400" y="2926080"/>
            <a:ext cx="4754880" cy="502920"/>
          </a:xfrm>
          <a:prstGeom prst="rect">
            <a:avLst/>
          </a:prstGeom>
          <a:noFill/>
        </p:spPr>
        <p:txBody>
          <a:bodyPr wrap="square">
            <a:spAutoFit/>
          </a:bodyPr>
          <a:lstStyle/>
          <a:p>
            <a:pPr algn="l"/>
            <a:r>
              <a:rPr sz="1300" b="0">
                <a:solidFill>
                  <a:srgbClr val="5A6B7D"/>
                </a:solidFill>
                <a:latin typeface="Segoe UI"/>
              </a:rPr>
              <a:t>One person must have the responsibility to oversee SMS development, implementation and operation.</a:t>
            </a:r>
          </a:p>
        </p:txBody>
      </p:sp>
      <p:sp>
        <p:nvSpPr>
          <p:cNvPr id="11" name="commitCard1"/>
          <p:cNvSpPr/>
          <p:nvPr/>
        </p:nvSpPr>
        <p:spPr>
          <a:xfrm>
            <a:off x="6309359" y="164592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mmitStripe1"/>
          <p:cNvSpPr/>
          <p:nvPr/>
        </p:nvSpPr>
        <p:spPr>
          <a:xfrm>
            <a:off x="6309359" y="1645920"/>
            <a:ext cx="109728" cy="2011680"/>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mmitNum1"/>
          <p:cNvSpPr txBox="1"/>
          <p:nvPr/>
        </p:nvSpPr>
        <p:spPr>
          <a:xfrm>
            <a:off x="6675119" y="1965960"/>
            <a:ext cx="914400" cy="457200"/>
          </a:xfrm>
          <a:prstGeom prst="rect">
            <a:avLst/>
          </a:prstGeom>
          <a:noFill/>
        </p:spPr>
        <p:txBody>
          <a:bodyPr wrap="square">
            <a:spAutoFit/>
          </a:bodyPr>
          <a:lstStyle/>
          <a:p>
            <a:pPr algn="l"/>
            <a:r>
              <a:rPr sz="2400" b="1">
                <a:solidFill>
                  <a:srgbClr val="1AB3A6"/>
                </a:solidFill>
                <a:latin typeface="Segoe UI"/>
              </a:rPr>
              <a:t>02</a:t>
            </a:r>
          </a:p>
        </p:txBody>
      </p:sp>
      <p:sp>
        <p:nvSpPr>
          <p:cNvPr id="14" name="commitTitle1"/>
          <p:cNvSpPr txBox="1"/>
          <p:nvPr/>
        </p:nvSpPr>
        <p:spPr>
          <a:xfrm>
            <a:off x="6675119" y="2468880"/>
            <a:ext cx="4754880" cy="365760"/>
          </a:xfrm>
          <a:prstGeom prst="rect">
            <a:avLst/>
          </a:prstGeom>
          <a:noFill/>
        </p:spPr>
        <p:txBody>
          <a:bodyPr wrap="square">
            <a:spAutoFit/>
          </a:bodyPr>
          <a:lstStyle/>
          <a:p>
            <a:pPr algn="l"/>
            <a:r>
              <a:rPr sz="2000" b="1">
                <a:solidFill>
                  <a:srgbClr val="0B1F3A"/>
                </a:solidFill>
                <a:latin typeface="Segoe UI"/>
              </a:rPr>
              <a:t>The “Champion”</a:t>
            </a:r>
          </a:p>
        </p:txBody>
      </p:sp>
      <p:sp>
        <p:nvSpPr>
          <p:cNvPr id="15" name="commitDesc1"/>
          <p:cNvSpPr txBox="1"/>
          <p:nvPr/>
        </p:nvSpPr>
        <p:spPr>
          <a:xfrm>
            <a:off x="6675119" y="2926080"/>
            <a:ext cx="4754880" cy="502920"/>
          </a:xfrm>
          <a:prstGeom prst="rect">
            <a:avLst/>
          </a:prstGeom>
          <a:noFill/>
        </p:spPr>
        <p:txBody>
          <a:bodyPr wrap="square">
            <a:spAutoFit/>
          </a:bodyPr>
          <a:lstStyle/>
          <a:p>
            <a:pPr algn="l"/>
            <a:r>
              <a:rPr sz="1300" b="0">
                <a:solidFill>
                  <a:srgbClr val="5A6B7D"/>
                </a:solidFill>
                <a:latin typeface="Segoe UI"/>
              </a:rPr>
              <a:t>This person must be the champion for the SMS program — but does not bear the principal responsibility for safety management.</a:t>
            </a:r>
          </a:p>
        </p:txBody>
      </p:sp>
      <p:sp>
        <p:nvSpPr>
          <p:cNvPr id="16" name="commitCard2"/>
          <p:cNvSpPr/>
          <p:nvPr/>
        </p:nvSpPr>
        <p:spPr>
          <a:xfrm>
            <a:off x="548640" y="393192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mmitStripe2"/>
          <p:cNvSpPr/>
          <p:nvPr/>
        </p:nvSpPr>
        <p:spPr>
          <a:xfrm>
            <a:off x="548640" y="3931920"/>
            <a:ext cx="109728" cy="2011680"/>
          </a:xfrm>
          <a:prstGeom prst="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ommitNum2"/>
          <p:cNvSpPr txBox="1"/>
          <p:nvPr/>
        </p:nvSpPr>
        <p:spPr>
          <a:xfrm>
            <a:off x="914400" y="4251960"/>
            <a:ext cx="914400" cy="457200"/>
          </a:xfrm>
          <a:prstGeom prst="rect">
            <a:avLst/>
          </a:prstGeom>
          <a:noFill/>
        </p:spPr>
        <p:txBody>
          <a:bodyPr wrap="square">
            <a:spAutoFit/>
          </a:bodyPr>
          <a:lstStyle/>
          <a:p>
            <a:pPr algn="l"/>
            <a:r>
              <a:rPr sz="2400" b="1">
                <a:solidFill>
                  <a:srgbClr val="2E86DE"/>
                </a:solidFill>
                <a:latin typeface="Segoe UI"/>
              </a:rPr>
              <a:t>03</a:t>
            </a:r>
          </a:p>
        </p:txBody>
      </p:sp>
      <p:sp>
        <p:nvSpPr>
          <p:cNvPr id="19" name="commitTitle2"/>
          <p:cNvSpPr txBox="1"/>
          <p:nvPr/>
        </p:nvSpPr>
        <p:spPr>
          <a:xfrm>
            <a:off x="914400" y="4754880"/>
            <a:ext cx="4754880" cy="365760"/>
          </a:xfrm>
          <a:prstGeom prst="rect">
            <a:avLst/>
          </a:prstGeom>
          <a:noFill/>
        </p:spPr>
        <p:txBody>
          <a:bodyPr wrap="square">
            <a:spAutoFit/>
          </a:bodyPr>
          <a:lstStyle/>
          <a:p>
            <a:pPr algn="l"/>
            <a:r>
              <a:rPr sz="2000" b="1">
                <a:solidFill>
                  <a:srgbClr val="0B1F3A"/>
                </a:solidFill>
                <a:latin typeface="Segoe UI"/>
              </a:rPr>
              <a:t>Line Managers</a:t>
            </a:r>
          </a:p>
        </p:txBody>
      </p:sp>
      <p:sp>
        <p:nvSpPr>
          <p:cNvPr id="20" name="commitDesc2"/>
          <p:cNvSpPr txBox="1"/>
          <p:nvPr/>
        </p:nvSpPr>
        <p:spPr>
          <a:xfrm>
            <a:off x="914400" y="5212080"/>
            <a:ext cx="4754880" cy="502920"/>
          </a:xfrm>
          <a:prstGeom prst="rect">
            <a:avLst/>
          </a:prstGeom>
          <a:noFill/>
        </p:spPr>
        <p:txBody>
          <a:bodyPr wrap="square">
            <a:spAutoFit/>
          </a:bodyPr>
          <a:lstStyle/>
          <a:p>
            <a:pPr algn="l"/>
            <a:r>
              <a:rPr sz="1300" b="0">
                <a:solidFill>
                  <a:srgbClr val="5A6B7D"/>
                </a:solidFill>
                <a:latin typeface="Segoe UI"/>
              </a:rPr>
              <a:t>Managers of the “line” operational functions, from middle management to front-line supervisors, manage the operations in which risk is incurred.</a:t>
            </a:r>
          </a:p>
        </p:txBody>
      </p:sp>
      <p:sp>
        <p:nvSpPr>
          <p:cNvPr id="21" name="commitCard3"/>
          <p:cNvSpPr/>
          <p:nvPr/>
        </p:nvSpPr>
        <p:spPr>
          <a:xfrm>
            <a:off x="6309359" y="393192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mmitStripe3"/>
          <p:cNvSpPr/>
          <p:nvPr/>
        </p:nvSpPr>
        <p:spPr>
          <a:xfrm>
            <a:off x="6309359" y="3931920"/>
            <a:ext cx="109728" cy="20116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mmitNum3"/>
          <p:cNvSpPr txBox="1"/>
          <p:nvPr/>
        </p:nvSpPr>
        <p:spPr>
          <a:xfrm>
            <a:off x="6675119" y="4251960"/>
            <a:ext cx="914400" cy="457200"/>
          </a:xfrm>
          <a:prstGeom prst="rect">
            <a:avLst/>
          </a:prstGeom>
          <a:noFill/>
        </p:spPr>
        <p:txBody>
          <a:bodyPr wrap="square">
            <a:spAutoFit/>
          </a:bodyPr>
          <a:lstStyle/>
          <a:p>
            <a:pPr algn="l"/>
            <a:r>
              <a:rPr sz="2400" b="1">
                <a:solidFill>
                  <a:srgbClr val="E67E22"/>
                </a:solidFill>
                <a:latin typeface="Segoe UI"/>
              </a:rPr>
              <a:t>04</a:t>
            </a:r>
          </a:p>
        </p:txBody>
      </p:sp>
      <p:sp>
        <p:nvSpPr>
          <p:cNvPr id="24" name="commitTitle3"/>
          <p:cNvSpPr txBox="1"/>
          <p:nvPr/>
        </p:nvSpPr>
        <p:spPr>
          <a:xfrm>
            <a:off x="6675119" y="4754880"/>
            <a:ext cx="4754880" cy="365760"/>
          </a:xfrm>
          <a:prstGeom prst="rect">
            <a:avLst/>
          </a:prstGeom>
          <a:noFill/>
        </p:spPr>
        <p:txBody>
          <a:bodyPr wrap="square">
            <a:spAutoFit/>
          </a:bodyPr>
          <a:lstStyle/>
          <a:p>
            <a:pPr algn="l"/>
            <a:r>
              <a:rPr sz="2000" b="1">
                <a:solidFill>
                  <a:srgbClr val="0B1F3A"/>
                </a:solidFill>
                <a:latin typeface="Segoe UI"/>
              </a:rPr>
              <a:t>Owners of the SMS</a:t>
            </a:r>
          </a:p>
        </p:txBody>
      </p:sp>
      <p:sp>
        <p:nvSpPr>
          <p:cNvPr id="25" name="commitDesc3"/>
          <p:cNvSpPr txBox="1"/>
          <p:nvPr/>
        </p:nvSpPr>
        <p:spPr>
          <a:xfrm>
            <a:off x="6675119" y="5212080"/>
            <a:ext cx="4754880" cy="502920"/>
          </a:xfrm>
          <a:prstGeom prst="rect">
            <a:avLst/>
          </a:prstGeom>
          <a:noFill/>
        </p:spPr>
        <p:txBody>
          <a:bodyPr wrap="square">
            <a:spAutoFit/>
          </a:bodyPr>
          <a:lstStyle/>
          <a:p>
            <a:pPr algn="l"/>
            <a:r>
              <a:rPr sz="1300" b="0">
                <a:solidFill>
                  <a:srgbClr val="5A6B7D"/>
                </a:solidFill>
                <a:latin typeface="Segoe UI"/>
              </a:rPr>
              <a:t>These managers and supervisors are the “owners” of the SMS.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315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33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MANAGEMENT &amp; SUPERVISION</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Barriers or Controls</a:t>
            </a:r>
          </a:p>
        </p:txBody>
      </p:sp>
      <p:sp>
        <p:nvSpPr>
          <p:cNvPr id="6" name="workLabel"/>
          <p:cNvSpPr txBox="1"/>
          <p:nvPr/>
        </p:nvSpPr>
        <p:spPr>
          <a:xfrm>
            <a:off x="8229600" y="2011680"/>
            <a:ext cx="3200400" cy="457200"/>
          </a:xfrm>
          <a:prstGeom prst="rect">
            <a:avLst/>
          </a:prstGeom>
          <a:noFill/>
        </p:spPr>
        <p:txBody>
          <a:bodyPr wrap="square">
            <a:spAutoFit/>
          </a:bodyPr>
          <a:lstStyle/>
          <a:p>
            <a:pPr algn="ctr"/>
            <a:r>
              <a:rPr sz="2000" b="1">
                <a:solidFill>
                  <a:srgbClr val="27AE60"/>
                </a:solidFill>
                <a:latin typeface="Segoe UI"/>
              </a:rPr>
              <a:t>WORK</a:t>
            </a:r>
          </a:p>
        </p:txBody>
      </p:sp>
      <p:sp>
        <p:nvSpPr>
          <p:cNvPr id="7" name="hazardBox"/>
          <p:cNvSpPr/>
          <p:nvPr/>
        </p:nvSpPr>
        <p:spPr>
          <a:xfrm>
            <a:off x="457200" y="2926080"/>
            <a:ext cx="1645920" cy="914400"/>
          </a:xfrm>
          <a:prstGeom prst="round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azardText"/>
          <p:cNvSpPr txBox="1"/>
          <p:nvPr/>
        </p:nvSpPr>
        <p:spPr>
          <a:xfrm>
            <a:off x="457200" y="3108960"/>
            <a:ext cx="1645920" cy="548640"/>
          </a:xfrm>
          <a:prstGeom prst="rect">
            <a:avLst/>
          </a:prstGeom>
          <a:noFill/>
        </p:spPr>
        <p:txBody>
          <a:bodyPr wrap="square">
            <a:spAutoFit/>
          </a:bodyPr>
          <a:lstStyle/>
          <a:p>
            <a:pPr algn="ctr"/>
            <a:r>
              <a:rPr sz="1200" b="1">
                <a:solidFill>
                  <a:srgbClr val="0B1F3A"/>
                </a:solidFill>
                <a:latin typeface="Segoe UI"/>
              </a:rPr>
              <a:t>HAZARD
/ RISK</a:t>
            </a:r>
          </a:p>
        </p:txBody>
      </p:sp>
      <p:sp>
        <p:nvSpPr>
          <p:cNvPr id="9" name="riskArrow"/>
          <p:cNvSpPr/>
          <p:nvPr/>
        </p:nvSpPr>
        <p:spPr>
          <a:xfrm>
            <a:off x="2194560" y="3154680"/>
            <a:ext cx="640080" cy="411480"/>
          </a:xfrm>
          <a:prstGeom prst="rightArrow">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rrier0"/>
          <p:cNvSpPr/>
          <p:nvPr/>
        </p:nvSpPr>
        <p:spPr>
          <a:xfrm>
            <a:off x="3017520" y="1828800"/>
            <a:ext cx="1005840" cy="320040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ole0_0"/>
          <p:cNvSpPr/>
          <p:nvPr/>
        </p:nvSpPr>
        <p:spPr>
          <a:xfrm>
            <a:off x="3291840" y="22860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ole0_1"/>
          <p:cNvSpPr/>
          <p:nvPr/>
        </p:nvSpPr>
        <p:spPr>
          <a:xfrm>
            <a:off x="3291840" y="32004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ole0_2"/>
          <p:cNvSpPr/>
          <p:nvPr/>
        </p:nvSpPr>
        <p:spPr>
          <a:xfrm>
            <a:off x="3291840" y="402336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rrierLabel0"/>
          <p:cNvSpPr txBox="1"/>
          <p:nvPr/>
        </p:nvSpPr>
        <p:spPr>
          <a:xfrm>
            <a:off x="2926080" y="5120640"/>
            <a:ext cx="1188720" cy="365760"/>
          </a:xfrm>
          <a:prstGeom prst="rect">
            <a:avLst/>
          </a:prstGeom>
          <a:noFill/>
        </p:spPr>
        <p:txBody>
          <a:bodyPr wrap="square">
            <a:spAutoFit/>
          </a:bodyPr>
          <a:lstStyle/>
          <a:p>
            <a:pPr algn="ctr"/>
            <a:r>
              <a:rPr sz="1100" b="1">
                <a:solidFill>
                  <a:srgbClr val="0B1F3A"/>
                </a:solidFill>
                <a:latin typeface="Segoe UI"/>
              </a:rPr>
              <a:t>Policy</a:t>
            </a:r>
          </a:p>
        </p:txBody>
      </p:sp>
      <p:sp>
        <p:nvSpPr>
          <p:cNvPr id="15" name="barrier1"/>
          <p:cNvSpPr/>
          <p:nvPr/>
        </p:nvSpPr>
        <p:spPr>
          <a:xfrm>
            <a:off x="4251960" y="1828800"/>
            <a:ext cx="1005840" cy="320040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ole1_0"/>
          <p:cNvSpPr/>
          <p:nvPr/>
        </p:nvSpPr>
        <p:spPr>
          <a:xfrm>
            <a:off x="4526280" y="22860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le1_1"/>
          <p:cNvSpPr/>
          <p:nvPr/>
        </p:nvSpPr>
        <p:spPr>
          <a:xfrm>
            <a:off x="4526280" y="32004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ole1_2"/>
          <p:cNvSpPr/>
          <p:nvPr/>
        </p:nvSpPr>
        <p:spPr>
          <a:xfrm>
            <a:off x="4526280" y="402336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rrierLabel1"/>
          <p:cNvSpPr txBox="1"/>
          <p:nvPr/>
        </p:nvSpPr>
        <p:spPr>
          <a:xfrm>
            <a:off x="4160520" y="5120640"/>
            <a:ext cx="1188720" cy="365760"/>
          </a:xfrm>
          <a:prstGeom prst="rect">
            <a:avLst/>
          </a:prstGeom>
          <a:noFill/>
        </p:spPr>
        <p:txBody>
          <a:bodyPr wrap="square">
            <a:spAutoFit/>
          </a:bodyPr>
          <a:lstStyle/>
          <a:p>
            <a:pPr algn="ctr"/>
            <a:r>
              <a:rPr sz="1100" b="1">
                <a:solidFill>
                  <a:srgbClr val="0B1F3A"/>
                </a:solidFill>
                <a:latin typeface="Segoe UI"/>
              </a:rPr>
              <a:t>Process</a:t>
            </a:r>
          </a:p>
        </p:txBody>
      </p:sp>
      <p:sp>
        <p:nvSpPr>
          <p:cNvPr id="20" name="barrier2"/>
          <p:cNvSpPr/>
          <p:nvPr/>
        </p:nvSpPr>
        <p:spPr>
          <a:xfrm>
            <a:off x="5486400" y="1828800"/>
            <a:ext cx="1005840" cy="32004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ole2_0"/>
          <p:cNvSpPr/>
          <p:nvPr/>
        </p:nvSpPr>
        <p:spPr>
          <a:xfrm>
            <a:off x="5760720" y="22860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ole2_1"/>
          <p:cNvSpPr/>
          <p:nvPr/>
        </p:nvSpPr>
        <p:spPr>
          <a:xfrm>
            <a:off x="5760720" y="32004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ole2_2"/>
          <p:cNvSpPr/>
          <p:nvPr/>
        </p:nvSpPr>
        <p:spPr>
          <a:xfrm>
            <a:off x="5760720" y="402336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rierLabel2"/>
          <p:cNvSpPr txBox="1"/>
          <p:nvPr/>
        </p:nvSpPr>
        <p:spPr>
          <a:xfrm>
            <a:off x="5394960" y="5120640"/>
            <a:ext cx="1188720" cy="365760"/>
          </a:xfrm>
          <a:prstGeom prst="rect">
            <a:avLst/>
          </a:prstGeom>
          <a:noFill/>
        </p:spPr>
        <p:txBody>
          <a:bodyPr wrap="square">
            <a:spAutoFit/>
          </a:bodyPr>
          <a:lstStyle/>
          <a:p>
            <a:pPr algn="ctr"/>
            <a:r>
              <a:rPr sz="1100" b="1">
                <a:solidFill>
                  <a:srgbClr val="0B1F3A"/>
                </a:solidFill>
                <a:latin typeface="Segoe UI"/>
              </a:rPr>
              <a:t>Training</a:t>
            </a:r>
          </a:p>
        </p:txBody>
      </p:sp>
      <p:sp>
        <p:nvSpPr>
          <p:cNvPr id="25" name="barrier3"/>
          <p:cNvSpPr/>
          <p:nvPr/>
        </p:nvSpPr>
        <p:spPr>
          <a:xfrm>
            <a:off x="6720840" y="1828800"/>
            <a:ext cx="1005840" cy="3200400"/>
          </a:xfrm>
          <a:prstGeom prst="roundRect">
            <a:avLst/>
          </a:prstGeom>
          <a:solidFill>
            <a:srgbClr val="95A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ole3_0"/>
          <p:cNvSpPr/>
          <p:nvPr/>
        </p:nvSpPr>
        <p:spPr>
          <a:xfrm>
            <a:off x="6995160" y="22860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ole3_1"/>
          <p:cNvSpPr/>
          <p:nvPr/>
        </p:nvSpPr>
        <p:spPr>
          <a:xfrm>
            <a:off x="6995160" y="320040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ole3_2"/>
          <p:cNvSpPr/>
          <p:nvPr/>
        </p:nvSpPr>
        <p:spPr>
          <a:xfrm>
            <a:off x="6995160" y="4023360"/>
            <a:ext cx="457200" cy="457200"/>
          </a:xfrm>
          <a:prstGeom prst="ellipse">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rierLabel3"/>
          <p:cNvSpPr txBox="1"/>
          <p:nvPr/>
        </p:nvSpPr>
        <p:spPr>
          <a:xfrm>
            <a:off x="6629400" y="5120640"/>
            <a:ext cx="1188720" cy="365760"/>
          </a:xfrm>
          <a:prstGeom prst="rect">
            <a:avLst/>
          </a:prstGeom>
          <a:noFill/>
        </p:spPr>
        <p:txBody>
          <a:bodyPr wrap="square">
            <a:spAutoFit/>
          </a:bodyPr>
          <a:lstStyle/>
          <a:p>
            <a:pPr algn="ctr"/>
            <a:r>
              <a:rPr sz="1100" b="1">
                <a:solidFill>
                  <a:srgbClr val="0B1F3A"/>
                </a:solidFill>
                <a:latin typeface="Segoe UI"/>
              </a:rPr>
              <a:t>Supervision</a:t>
            </a:r>
          </a:p>
        </p:txBody>
      </p:sp>
      <p:sp>
        <p:nvSpPr>
          <p:cNvPr id="30" name="outcomeBox"/>
          <p:cNvSpPr/>
          <p:nvPr/>
        </p:nvSpPr>
        <p:spPr>
          <a:xfrm>
            <a:off x="8229600" y="2834640"/>
            <a:ext cx="3200400" cy="1097280"/>
          </a:xfrm>
          <a:prstGeom prst="roundRect">
            <a:avLst/>
          </a:prstGeom>
          <a:solidFill>
            <a:srgbClr val="FD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utcomeText"/>
          <p:cNvSpPr txBox="1"/>
          <p:nvPr/>
        </p:nvSpPr>
        <p:spPr>
          <a:xfrm>
            <a:off x="8229600" y="3063240"/>
            <a:ext cx="3200400" cy="640080"/>
          </a:xfrm>
          <a:prstGeom prst="rect">
            <a:avLst/>
          </a:prstGeom>
          <a:noFill/>
        </p:spPr>
        <p:txBody>
          <a:bodyPr wrap="square">
            <a:spAutoFit/>
          </a:bodyPr>
          <a:lstStyle/>
          <a:p>
            <a:pPr algn="ctr"/>
            <a:r>
              <a:rPr sz="1400" b="1">
                <a:solidFill>
                  <a:srgbClr val="E74C3C"/>
                </a:solidFill>
                <a:latin typeface="Segoe UI"/>
              </a:rPr>
              <a:t>UNDESIRABLE
OUTCOME  ✕</a:t>
            </a:r>
          </a:p>
        </p:txBody>
      </p:sp>
      <p:sp>
        <p:nvSpPr>
          <p:cNvPr id="32" name="supervisorBar"/>
          <p:cNvSpPr/>
          <p:nvPr/>
        </p:nvSpPr>
        <p:spPr>
          <a:xfrm>
            <a:off x="3017520" y="5669280"/>
            <a:ext cx="4937760" cy="73152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upervisorText"/>
          <p:cNvSpPr txBox="1"/>
          <p:nvPr/>
        </p:nvSpPr>
        <p:spPr>
          <a:xfrm>
            <a:off x="3017520" y="5806440"/>
            <a:ext cx="4937760" cy="457200"/>
          </a:xfrm>
          <a:prstGeom prst="rect">
            <a:avLst/>
          </a:prstGeom>
          <a:noFill/>
        </p:spPr>
        <p:txBody>
          <a:bodyPr wrap="square">
            <a:spAutoFit/>
          </a:bodyPr>
          <a:lstStyle/>
          <a:p>
            <a:pPr algn="ctr"/>
            <a:r>
              <a:rPr sz="1400" b="1">
                <a:solidFill>
                  <a:srgbClr val="FFFFFF"/>
                </a:solidFill>
                <a:latin typeface="Segoe UI"/>
              </a:rPr>
              <a:t>SUPERVISORS maintain every barrier layer</a:t>
            </a:r>
          </a:p>
        </p:txBody>
      </p:sp>
      <p:sp>
        <p:nvSpPr>
          <p:cNvPr id="34" name="swissNote"/>
          <p:cNvSpPr txBox="1"/>
          <p:nvPr/>
        </p:nvSpPr>
        <p:spPr>
          <a:xfrm>
            <a:off x="8229600" y="4206240"/>
            <a:ext cx="3200400" cy="1097280"/>
          </a:xfrm>
          <a:prstGeom prst="rect">
            <a:avLst/>
          </a:prstGeom>
          <a:noFill/>
        </p:spPr>
        <p:txBody>
          <a:bodyPr wrap="square">
            <a:spAutoFit/>
          </a:bodyPr>
          <a:lstStyle/>
          <a:p>
            <a:pPr algn="ctr"/>
            <a:r>
              <a:rPr sz="1200" b="0">
                <a:solidFill>
                  <a:srgbClr val="5A6B7D"/>
                </a:solidFill>
                <a:latin typeface="Segoe UI"/>
              </a:rPr>
              <a:t>Aligned holes = pathway to failure.
Strong supervision closes the gaps.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25"/>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375"/>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62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8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12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2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37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5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62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17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1875"/>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0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125"/>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25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375"/>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25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2625"/>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275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2875"/>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300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3125"/>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325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3375"/>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grpId="0" nodeType="withEffect">
                                  <p:stCondLst>
                                    <p:cond delay="350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3625"/>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375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par>
                                <p:cTn id="98" presetID="10" presetClass="entr" presetSubtype="0" fill="hold" grpId="0" nodeType="withEffect">
                                  <p:stCondLst>
                                    <p:cond delay="3875"/>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STRUCTURE</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Key Safety Personnel</a:t>
            </a:r>
          </a:p>
        </p:txBody>
      </p:sp>
      <p:sp>
        <p:nvSpPr>
          <p:cNvPr id="6" name="topMgmt"/>
          <p:cNvSpPr/>
          <p:nvPr/>
        </p:nvSpPr>
        <p:spPr>
          <a:xfrm>
            <a:off x="548640" y="1463040"/>
            <a:ext cx="11064240" cy="100584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opMgmtText"/>
          <p:cNvSpPr txBox="1"/>
          <p:nvPr/>
        </p:nvSpPr>
        <p:spPr>
          <a:xfrm>
            <a:off x="822960" y="1600200"/>
            <a:ext cx="10515600" cy="731520"/>
          </a:xfrm>
          <a:prstGeom prst="rect">
            <a:avLst/>
          </a:prstGeom>
          <a:noFill/>
        </p:spPr>
        <p:txBody>
          <a:bodyPr wrap="square">
            <a:spAutoFit/>
          </a:bodyPr>
          <a:lstStyle/>
          <a:p>
            <a:pPr algn="l"/>
            <a:r>
              <a:rPr sz="1600" b="1">
                <a:solidFill>
                  <a:srgbClr val="E8B923"/>
                </a:solidFill>
                <a:latin typeface="Segoe UI"/>
              </a:rPr>
              <a:t>TOP MANAGEMENT</a:t>
            </a:r>
          </a:p>
          <a:p>
            <a:pPr algn="l">
              <a:spcBef>
                <a:spcPts val="400"/>
              </a:spcBef>
              <a:spcAft>
                <a:spcPts val="0"/>
              </a:spcAft>
            </a:pPr>
            <a:r>
              <a:rPr sz="1200" b="0">
                <a:solidFill>
                  <a:srgbClr val="FFFFFF"/>
                </a:solidFill>
                <a:latin typeface="Segoe UI"/>
              </a:rPr>
              <a:t>Has the ultimate responsibility for the SMS, provides the resources essential to implement and maintain it, and appoints a member of management — the Safety Manager.</a:t>
            </a:r>
          </a:p>
        </p:txBody>
      </p:sp>
      <p:sp>
        <p:nvSpPr>
          <p:cNvPr id="8" name="smCard"/>
          <p:cNvSpPr/>
          <p:nvPr/>
        </p:nvSpPr>
        <p:spPr>
          <a:xfrm>
            <a:off x="548640" y="2743200"/>
            <a:ext cx="36576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743200"/>
            <a:ext cx="3657600" cy="91440"/>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mTitle"/>
          <p:cNvSpPr txBox="1"/>
          <p:nvPr/>
        </p:nvSpPr>
        <p:spPr>
          <a:xfrm>
            <a:off x="822960" y="3017520"/>
            <a:ext cx="3200400" cy="457200"/>
          </a:xfrm>
          <a:prstGeom prst="rect">
            <a:avLst/>
          </a:prstGeom>
          <a:noFill/>
        </p:spPr>
        <p:txBody>
          <a:bodyPr wrap="square">
            <a:spAutoFit/>
          </a:bodyPr>
          <a:lstStyle/>
          <a:p>
            <a:pPr algn="l"/>
            <a:r>
              <a:rPr sz="1800" b="1">
                <a:solidFill>
                  <a:srgbClr val="0B1F3A"/>
                </a:solidFill>
                <a:latin typeface="Segoe UI"/>
              </a:rPr>
              <a:t>Safety Manager</a:t>
            </a:r>
          </a:p>
        </p:txBody>
      </p:sp>
      <p:sp>
        <p:nvSpPr>
          <p:cNvPr id="11" name="smDuty0"/>
          <p:cNvSpPr txBox="1"/>
          <p:nvPr/>
        </p:nvSpPr>
        <p:spPr>
          <a:xfrm>
            <a:off x="822960" y="3520440"/>
            <a:ext cx="3200400" cy="658368"/>
          </a:xfrm>
          <a:prstGeom prst="rect">
            <a:avLst/>
          </a:prstGeom>
          <a:noFill/>
        </p:spPr>
        <p:txBody>
          <a:bodyPr wrap="square">
            <a:spAutoFit/>
          </a:bodyPr>
          <a:lstStyle/>
          <a:p>
            <a:pPr algn="l"/>
            <a:r>
              <a:rPr sz="1050" b="0">
                <a:solidFill>
                  <a:srgbClr val="5A6B7D"/>
                </a:solidFill>
                <a:latin typeface="Segoe UI"/>
              </a:rPr>
              <a:t>→  Ensuring the processes needed for the SMS are established, implemented and maintained</a:t>
            </a:r>
          </a:p>
        </p:txBody>
      </p:sp>
      <p:sp>
        <p:nvSpPr>
          <p:cNvPr id="12" name="smDuty1"/>
          <p:cNvSpPr txBox="1"/>
          <p:nvPr/>
        </p:nvSpPr>
        <p:spPr>
          <a:xfrm>
            <a:off x="822960" y="4206240"/>
            <a:ext cx="3200400" cy="658368"/>
          </a:xfrm>
          <a:prstGeom prst="rect">
            <a:avLst/>
          </a:prstGeom>
          <a:noFill/>
        </p:spPr>
        <p:txBody>
          <a:bodyPr wrap="square">
            <a:spAutoFit/>
          </a:bodyPr>
          <a:lstStyle/>
          <a:p>
            <a:pPr algn="l"/>
            <a:r>
              <a:rPr sz="1050" b="0">
                <a:solidFill>
                  <a:srgbClr val="5A6B7D"/>
                </a:solidFill>
                <a:latin typeface="Segoe UI"/>
              </a:rPr>
              <a:t>→  Reporting to top management on the performance of the SMS and the need for improvement</a:t>
            </a:r>
          </a:p>
        </p:txBody>
      </p:sp>
      <p:sp>
        <p:nvSpPr>
          <p:cNvPr id="13" name="smDuty2"/>
          <p:cNvSpPr txBox="1"/>
          <p:nvPr/>
        </p:nvSpPr>
        <p:spPr>
          <a:xfrm>
            <a:off x="822960" y="4892040"/>
            <a:ext cx="3200400" cy="658368"/>
          </a:xfrm>
          <a:prstGeom prst="rect">
            <a:avLst/>
          </a:prstGeom>
          <a:noFill/>
        </p:spPr>
        <p:txBody>
          <a:bodyPr wrap="square">
            <a:spAutoFit/>
          </a:bodyPr>
          <a:lstStyle/>
          <a:p>
            <a:pPr algn="l"/>
            <a:r>
              <a:rPr sz="1050" b="0">
                <a:solidFill>
                  <a:srgbClr val="5A6B7D"/>
                </a:solidFill>
                <a:latin typeface="Segoe UI"/>
              </a:rPr>
              <a:t>→  Ensuring the promotion of awareness of safety requirements throughout the organization</a:t>
            </a:r>
          </a:p>
        </p:txBody>
      </p:sp>
      <p:sp>
        <p:nvSpPr>
          <p:cNvPr id="14" name="smDuty3"/>
          <p:cNvSpPr txBox="1"/>
          <p:nvPr/>
        </p:nvSpPr>
        <p:spPr>
          <a:xfrm>
            <a:off x="822960" y="5577840"/>
            <a:ext cx="3200400" cy="658368"/>
          </a:xfrm>
          <a:prstGeom prst="rect">
            <a:avLst/>
          </a:prstGeom>
          <a:noFill/>
        </p:spPr>
        <p:txBody>
          <a:bodyPr wrap="square">
            <a:spAutoFit/>
          </a:bodyPr>
          <a:lstStyle/>
          <a:p>
            <a:pPr algn="l"/>
            <a:r>
              <a:rPr sz="1050" b="0">
                <a:solidFill>
                  <a:srgbClr val="5A6B7D"/>
                </a:solidFill>
                <a:latin typeface="Segoe UI"/>
              </a:rPr>
              <a:t>→  Ensuring safety-related positions, responsibilities and authorities are defined, documented and communicated</a:t>
            </a:r>
          </a:p>
        </p:txBody>
      </p:sp>
      <p:sp>
        <p:nvSpPr>
          <p:cNvPr id="15" name="metricCard0"/>
          <p:cNvSpPr/>
          <p:nvPr/>
        </p:nvSpPr>
        <p:spPr>
          <a:xfrm>
            <a:off x="4572000" y="2743200"/>
            <a:ext cx="22860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etricCirc0"/>
          <p:cNvSpPr/>
          <p:nvPr/>
        </p:nvSpPr>
        <p:spPr>
          <a:xfrm>
            <a:off x="5166360" y="3200400"/>
            <a:ext cx="1097280" cy="1097280"/>
          </a:xfrm>
          <a:prstGeom prst="ellipse">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etricVal0"/>
          <p:cNvSpPr txBox="1"/>
          <p:nvPr/>
        </p:nvSpPr>
        <p:spPr>
          <a:xfrm>
            <a:off x="5166360" y="3474720"/>
            <a:ext cx="1097280" cy="548640"/>
          </a:xfrm>
          <a:prstGeom prst="rect">
            <a:avLst/>
          </a:prstGeom>
          <a:noFill/>
        </p:spPr>
        <p:txBody>
          <a:bodyPr wrap="square">
            <a:spAutoFit/>
          </a:bodyPr>
          <a:lstStyle/>
          <a:p>
            <a:pPr algn="ctr"/>
            <a:r>
              <a:rPr sz="1800" b="1">
                <a:solidFill>
                  <a:srgbClr val="FFFFFF"/>
                </a:solidFill>
                <a:latin typeface="Segoe UI"/>
              </a:rPr>
              <a:t>100%</a:t>
            </a:r>
          </a:p>
        </p:txBody>
      </p:sp>
      <p:sp>
        <p:nvSpPr>
          <p:cNvPr id="18" name="metricLabel0"/>
          <p:cNvSpPr txBox="1"/>
          <p:nvPr/>
        </p:nvSpPr>
        <p:spPr>
          <a:xfrm>
            <a:off x="4754880" y="4663440"/>
            <a:ext cx="1920240" cy="914400"/>
          </a:xfrm>
          <a:prstGeom prst="rect">
            <a:avLst/>
          </a:prstGeom>
          <a:noFill/>
        </p:spPr>
        <p:txBody>
          <a:bodyPr wrap="square">
            <a:spAutoFit/>
          </a:bodyPr>
          <a:lstStyle/>
          <a:p>
            <a:pPr algn="ctr"/>
            <a:r>
              <a:rPr sz="1400" b="1">
                <a:solidFill>
                  <a:srgbClr val="0B1F3A"/>
                </a:solidFill>
                <a:latin typeface="Segoe UI"/>
              </a:rPr>
              <a:t>Resource
Commitment</a:t>
            </a:r>
          </a:p>
        </p:txBody>
      </p:sp>
      <p:sp>
        <p:nvSpPr>
          <p:cNvPr id="19" name="metricCard1"/>
          <p:cNvSpPr/>
          <p:nvPr/>
        </p:nvSpPr>
        <p:spPr>
          <a:xfrm>
            <a:off x="7040880" y="2743200"/>
            <a:ext cx="22860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etricCirc1"/>
          <p:cNvSpPr/>
          <p:nvPr/>
        </p:nvSpPr>
        <p:spPr>
          <a:xfrm>
            <a:off x="7635240" y="3200400"/>
            <a:ext cx="1097280" cy="1097280"/>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metricVal1"/>
          <p:cNvSpPr txBox="1"/>
          <p:nvPr/>
        </p:nvSpPr>
        <p:spPr>
          <a:xfrm>
            <a:off x="7635240" y="3474720"/>
            <a:ext cx="1097280" cy="548640"/>
          </a:xfrm>
          <a:prstGeom prst="rect">
            <a:avLst/>
          </a:prstGeom>
          <a:noFill/>
        </p:spPr>
        <p:txBody>
          <a:bodyPr wrap="square">
            <a:spAutoFit/>
          </a:bodyPr>
          <a:lstStyle/>
          <a:p>
            <a:pPr algn="ctr"/>
            <a:r>
              <a:rPr sz="1800" b="1">
                <a:solidFill>
                  <a:srgbClr val="FFFFFF"/>
                </a:solidFill>
                <a:latin typeface="Segoe UI"/>
              </a:rPr>
              <a:t>1</a:t>
            </a:r>
          </a:p>
        </p:txBody>
      </p:sp>
      <p:sp>
        <p:nvSpPr>
          <p:cNvPr id="22" name="metricLabel1"/>
          <p:cNvSpPr txBox="1"/>
          <p:nvPr/>
        </p:nvSpPr>
        <p:spPr>
          <a:xfrm>
            <a:off x="7223760" y="4663440"/>
            <a:ext cx="1920240" cy="914400"/>
          </a:xfrm>
          <a:prstGeom prst="rect">
            <a:avLst/>
          </a:prstGeom>
          <a:noFill/>
        </p:spPr>
        <p:txBody>
          <a:bodyPr wrap="square">
            <a:spAutoFit/>
          </a:bodyPr>
          <a:lstStyle/>
          <a:p>
            <a:pPr algn="ctr"/>
            <a:r>
              <a:rPr sz="1400" b="1">
                <a:solidFill>
                  <a:srgbClr val="0B1F3A"/>
                </a:solidFill>
                <a:latin typeface="Segoe UI"/>
              </a:rPr>
              <a:t>Appointed
Safety Lead</a:t>
            </a:r>
          </a:p>
        </p:txBody>
      </p:sp>
      <p:sp>
        <p:nvSpPr>
          <p:cNvPr id="23" name="metricCard2"/>
          <p:cNvSpPr/>
          <p:nvPr/>
        </p:nvSpPr>
        <p:spPr>
          <a:xfrm>
            <a:off x="9509760" y="2743200"/>
            <a:ext cx="22860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etricCirc2"/>
          <p:cNvSpPr/>
          <p:nvPr/>
        </p:nvSpPr>
        <p:spPr>
          <a:xfrm>
            <a:off x="10104120" y="3200400"/>
            <a:ext cx="1097280" cy="1097280"/>
          </a:xfrm>
          <a:prstGeom prst="ellipse">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etricVal2"/>
          <p:cNvSpPr txBox="1"/>
          <p:nvPr/>
        </p:nvSpPr>
        <p:spPr>
          <a:xfrm>
            <a:off x="10104120" y="3474720"/>
            <a:ext cx="1097280" cy="548640"/>
          </a:xfrm>
          <a:prstGeom prst="rect">
            <a:avLst/>
          </a:prstGeom>
          <a:noFill/>
        </p:spPr>
        <p:txBody>
          <a:bodyPr wrap="square">
            <a:spAutoFit/>
          </a:bodyPr>
          <a:lstStyle/>
          <a:p>
            <a:pPr algn="ctr"/>
            <a:r>
              <a:rPr sz="1800" b="1">
                <a:solidFill>
                  <a:srgbClr val="FFFFFF"/>
                </a:solidFill>
                <a:latin typeface="Segoe UI"/>
              </a:rPr>
              <a:t>All</a:t>
            </a:r>
          </a:p>
        </p:txBody>
      </p:sp>
      <p:sp>
        <p:nvSpPr>
          <p:cNvPr id="26" name="metricLabel2"/>
          <p:cNvSpPr txBox="1"/>
          <p:nvPr/>
        </p:nvSpPr>
        <p:spPr>
          <a:xfrm>
            <a:off x="9692640" y="4663440"/>
            <a:ext cx="1920240" cy="914400"/>
          </a:xfrm>
          <a:prstGeom prst="rect">
            <a:avLst/>
          </a:prstGeom>
          <a:noFill/>
        </p:spPr>
        <p:txBody>
          <a:bodyPr wrap="square">
            <a:spAutoFit/>
          </a:bodyPr>
          <a:lstStyle/>
          <a:p>
            <a:pPr algn="ctr"/>
            <a:r>
              <a:rPr sz="1400" b="1">
                <a:solidFill>
                  <a:srgbClr val="0B1F3A"/>
                </a:solidFill>
                <a:latin typeface="Segoe UI"/>
              </a:rPr>
              <a:t>Roles
Documented</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315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33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345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READINESS</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Emergency Response Plan</a:t>
            </a:r>
          </a:p>
        </p:txBody>
      </p:sp>
      <p:sp>
        <p:nvSpPr>
          <p:cNvPr id="6" name="erpDef"/>
          <p:cNvSpPr/>
          <p:nvPr/>
        </p:nvSpPr>
        <p:spPr>
          <a:xfrm>
            <a:off x="548640" y="1463040"/>
            <a:ext cx="11064240" cy="10972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rpDefText"/>
          <p:cNvSpPr txBox="1"/>
          <p:nvPr/>
        </p:nvSpPr>
        <p:spPr>
          <a:xfrm>
            <a:off x="822960" y="1645920"/>
            <a:ext cx="10515600" cy="822960"/>
          </a:xfrm>
          <a:prstGeom prst="rect">
            <a:avLst/>
          </a:prstGeom>
          <a:noFill/>
        </p:spPr>
        <p:txBody>
          <a:bodyPr wrap="square">
            <a:spAutoFit/>
          </a:bodyPr>
          <a:lstStyle/>
          <a:p>
            <a:pPr algn="ctr"/>
            <a:r>
              <a:rPr sz="1500" b="0">
                <a:solidFill>
                  <a:srgbClr val="FFFFFF"/>
                </a:solidFill>
                <a:latin typeface="Segoe UI"/>
              </a:rPr>
              <a:t>An ERP outlines in writing what is done when an emergency occurs, what to do after an accident happens — and who is responsible for each action.</a:t>
            </a:r>
          </a:p>
        </p:txBody>
      </p:sp>
      <p:sp>
        <p:nvSpPr>
          <p:cNvPr id="8" name="erpPhase0"/>
          <p:cNvSpPr/>
          <p:nvPr/>
        </p:nvSpPr>
        <p:spPr>
          <a:xfrm>
            <a:off x="548640" y="2926080"/>
            <a:ext cx="356616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rpBar0"/>
          <p:cNvSpPr/>
          <p:nvPr/>
        </p:nvSpPr>
        <p:spPr>
          <a:xfrm>
            <a:off x="548640" y="2926080"/>
            <a:ext cx="3566160" cy="109728"/>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rpPhaseLabel0"/>
          <p:cNvSpPr txBox="1"/>
          <p:nvPr/>
        </p:nvSpPr>
        <p:spPr>
          <a:xfrm>
            <a:off x="822960" y="3200400"/>
            <a:ext cx="3017520" cy="320040"/>
          </a:xfrm>
          <a:prstGeom prst="rect">
            <a:avLst/>
          </a:prstGeom>
          <a:noFill/>
        </p:spPr>
        <p:txBody>
          <a:bodyPr wrap="square">
            <a:spAutoFit/>
          </a:bodyPr>
          <a:lstStyle/>
          <a:p>
            <a:pPr algn="l"/>
            <a:r>
              <a:rPr sz="1200" b="1">
                <a:solidFill>
                  <a:srgbClr val="1AB3A6"/>
                </a:solidFill>
                <a:latin typeface="Segoe UI"/>
              </a:rPr>
              <a:t>PREPARE</a:t>
            </a:r>
          </a:p>
        </p:txBody>
      </p:sp>
      <p:sp>
        <p:nvSpPr>
          <p:cNvPr id="11" name="erpTitle0"/>
          <p:cNvSpPr txBox="1"/>
          <p:nvPr/>
        </p:nvSpPr>
        <p:spPr>
          <a:xfrm>
            <a:off x="822960" y="3611880"/>
            <a:ext cx="3017520" cy="411480"/>
          </a:xfrm>
          <a:prstGeom prst="rect">
            <a:avLst/>
          </a:prstGeom>
          <a:noFill/>
        </p:spPr>
        <p:txBody>
          <a:bodyPr wrap="square">
            <a:spAutoFit/>
          </a:bodyPr>
          <a:lstStyle/>
          <a:p>
            <a:pPr algn="l"/>
            <a:r>
              <a:rPr sz="2200" b="1">
                <a:solidFill>
                  <a:srgbClr val="0B1F3A"/>
                </a:solidFill>
                <a:latin typeface="Segoe UI"/>
              </a:rPr>
              <a:t>Be Ready</a:t>
            </a:r>
          </a:p>
        </p:txBody>
      </p:sp>
      <p:sp>
        <p:nvSpPr>
          <p:cNvPr id="12" name="erpDesc0"/>
          <p:cNvSpPr txBox="1"/>
          <p:nvPr/>
        </p:nvSpPr>
        <p:spPr>
          <a:xfrm>
            <a:off x="822960" y="4206240"/>
            <a:ext cx="3017520" cy="548640"/>
          </a:xfrm>
          <a:prstGeom prst="rect">
            <a:avLst/>
          </a:prstGeom>
          <a:noFill/>
        </p:spPr>
        <p:txBody>
          <a:bodyPr wrap="square">
            <a:spAutoFit/>
          </a:bodyPr>
          <a:lstStyle/>
          <a:p>
            <a:pPr algn="l"/>
            <a:r>
              <a:rPr sz="1300" b="0">
                <a:solidFill>
                  <a:srgbClr val="5A6B7D"/>
                </a:solidFill>
                <a:latin typeface="Segoe UI"/>
              </a:rPr>
              <a:t>The better prepared, the better the chances of minimizing injury &amp; damage</a:t>
            </a:r>
          </a:p>
        </p:txBody>
      </p:sp>
      <p:sp>
        <p:nvSpPr>
          <p:cNvPr id="13" name="erpPhase1"/>
          <p:cNvSpPr/>
          <p:nvPr/>
        </p:nvSpPr>
        <p:spPr>
          <a:xfrm>
            <a:off x="4389120" y="2926080"/>
            <a:ext cx="356616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rpBar1"/>
          <p:cNvSpPr/>
          <p:nvPr/>
        </p:nvSpPr>
        <p:spPr>
          <a:xfrm>
            <a:off x="4389120" y="2926080"/>
            <a:ext cx="3566160" cy="109728"/>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rpPhaseLabel1"/>
          <p:cNvSpPr txBox="1"/>
          <p:nvPr/>
        </p:nvSpPr>
        <p:spPr>
          <a:xfrm>
            <a:off x="4663440" y="3200400"/>
            <a:ext cx="3017520" cy="320040"/>
          </a:xfrm>
          <a:prstGeom prst="rect">
            <a:avLst/>
          </a:prstGeom>
          <a:noFill/>
        </p:spPr>
        <p:txBody>
          <a:bodyPr wrap="square">
            <a:spAutoFit/>
          </a:bodyPr>
          <a:lstStyle/>
          <a:p>
            <a:pPr algn="l"/>
            <a:r>
              <a:rPr sz="1200" b="1">
                <a:solidFill>
                  <a:srgbClr val="E8B923"/>
                </a:solidFill>
                <a:latin typeface="Segoe UI"/>
              </a:rPr>
              <a:t>RESPOND</a:t>
            </a:r>
          </a:p>
        </p:txBody>
      </p:sp>
      <p:sp>
        <p:nvSpPr>
          <p:cNvPr id="16" name="erpTitle1"/>
          <p:cNvSpPr txBox="1"/>
          <p:nvPr/>
        </p:nvSpPr>
        <p:spPr>
          <a:xfrm>
            <a:off x="4663440" y="3611880"/>
            <a:ext cx="3017520" cy="411480"/>
          </a:xfrm>
          <a:prstGeom prst="rect">
            <a:avLst/>
          </a:prstGeom>
          <a:noFill/>
        </p:spPr>
        <p:txBody>
          <a:bodyPr wrap="square">
            <a:spAutoFit/>
          </a:bodyPr>
          <a:lstStyle/>
          <a:p>
            <a:pPr algn="l"/>
            <a:r>
              <a:rPr sz="2200" b="1">
                <a:solidFill>
                  <a:srgbClr val="0B1F3A"/>
                </a:solidFill>
                <a:latin typeface="Segoe UI"/>
              </a:rPr>
              <a:t>Act Fast</a:t>
            </a:r>
          </a:p>
        </p:txBody>
      </p:sp>
      <p:sp>
        <p:nvSpPr>
          <p:cNvPr id="17" name="erpDesc1"/>
          <p:cNvSpPr txBox="1"/>
          <p:nvPr/>
        </p:nvSpPr>
        <p:spPr>
          <a:xfrm>
            <a:off x="4663440" y="4206240"/>
            <a:ext cx="3017520" cy="548640"/>
          </a:xfrm>
          <a:prstGeom prst="rect">
            <a:avLst/>
          </a:prstGeom>
          <a:noFill/>
        </p:spPr>
        <p:txBody>
          <a:bodyPr wrap="square">
            <a:spAutoFit/>
          </a:bodyPr>
          <a:lstStyle/>
          <a:p>
            <a:pPr algn="l"/>
            <a:r>
              <a:rPr sz="1300" b="0">
                <a:solidFill>
                  <a:srgbClr val="5A6B7D"/>
                </a:solidFill>
                <a:latin typeface="Segoe UI"/>
              </a:rPr>
              <a:t>Clear roles — who is responsible for each action</a:t>
            </a:r>
          </a:p>
        </p:txBody>
      </p:sp>
      <p:sp>
        <p:nvSpPr>
          <p:cNvPr id="18" name="erpPhase2"/>
          <p:cNvSpPr/>
          <p:nvPr/>
        </p:nvSpPr>
        <p:spPr>
          <a:xfrm>
            <a:off x="8229600" y="2926080"/>
            <a:ext cx="356616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rpBar2"/>
          <p:cNvSpPr/>
          <p:nvPr/>
        </p:nvSpPr>
        <p:spPr>
          <a:xfrm>
            <a:off x="8229600" y="2926080"/>
            <a:ext cx="3566160"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rpPhaseLabel2"/>
          <p:cNvSpPr txBox="1"/>
          <p:nvPr/>
        </p:nvSpPr>
        <p:spPr>
          <a:xfrm>
            <a:off x="8503920" y="3200400"/>
            <a:ext cx="3017520" cy="320040"/>
          </a:xfrm>
          <a:prstGeom prst="rect">
            <a:avLst/>
          </a:prstGeom>
          <a:noFill/>
        </p:spPr>
        <p:txBody>
          <a:bodyPr wrap="square">
            <a:spAutoFit/>
          </a:bodyPr>
          <a:lstStyle/>
          <a:p>
            <a:pPr algn="l"/>
            <a:r>
              <a:rPr sz="1200" b="1">
                <a:solidFill>
                  <a:srgbClr val="E67E22"/>
                </a:solidFill>
                <a:latin typeface="Segoe UI"/>
              </a:rPr>
              <a:t>ACCESS</a:t>
            </a:r>
          </a:p>
        </p:txBody>
      </p:sp>
      <p:sp>
        <p:nvSpPr>
          <p:cNvPr id="21" name="erpTitle2"/>
          <p:cNvSpPr txBox="1"/>
          <p:nvPr/>
        </p:nvSpPr>
        <p:spPr>
          <a:xfrm>
            <a:off x="8503920" y="3611880"/>
            <a:ext cx="3017520" cy="411480"/>
          </a:xfrm>
          <a:prstGeom prst="rect">
            <a:avLst/>
          </a:prstGeom>
          <a:noFill/>
        </p:spPr>
        <p:txBody>
          <a:bodyPr wrap="square">
            <a:spAutoFit/>
          </a:bodyPr>
          <a:lstStyle/>
          <a:p>
            <a:pPr algn="l"/>
            <a:r>
              <a:rPr sz="2200" b="1">
                <a:solidFill>
                  <a:srgbClr val="0B1F3A"/>
                </a:solidFill>
                <a:latin typeface="Segoe UI"/>
              </a:rPr>
              <a:t>Keep It Close</a:t>
            </a:r>
          </a:p>
        </p:txBody>
      </p:sp>
      <p:sp>
        <p:nvSpPr>
          <p:cNvPr id="22" name="erpDesc2"/>
          <p:cNvSpPr txBox="1"/>
          <p:nvPr/>
        </p:nvSpPr>
        <p:spPr>
          <a:xfrm>
            <a:off x="8503920" y="4206240"/>
            <a:ext cx="3017520" cy="548640"/>
          </a:xfrm>
          <a:prstGeom prst="rect">
            <a:avLst/>
          </a:prstGeom>
          <a:noFill/>
        </p:spPr>
        <p:txBody>
          <a:bodyPr wrap="square">
            <a:spAutoFit/>
          </a:bodyPr>
          <a:lstStyle/>
          <a:p>
            <a:pPr algn="l"/>
            <a:r>
              <a:rPr sz="1300" b="0">
                <a:solidFill>
                  <a:srgbClr val="5A6B7D"/>
                </a:solidFill>
                <a:latin typeface="Segoe UI"/>
              </a:rPr>
              <a:t>Readily available at the work stations of first responders</a:t>
            </a:r>
          </a:p>
        </p:txBody>
      </p:sp>
      <p:sp>
        <p:nvSpPr>
          <p:cNvPr id="23" name="erpFooter"/>
          <p:cNvSpPr txBox="1"/>
          <p:nvPr/>
        </p:nvSpPr>
        <p:spPr>
          <a:xfrm>
            <a:off x="548640" y="5486400"/>
            <a:ext cx="11064240" cy="822960"/>
          </a:xfrm>
          <a:prstGeom prst="rect">
            <a:avLst/>
          </a:prstGeom>
          <a:noFill/>
        </p:spPr>
        <p:txBody>
          <a:bodyPr wrap="square">
            <a:spAutoFit/>
          </a:bodyPr>
          <a:lstStyle/>
          <a:p>
            <a:pPr algn="l"/>
            <a:r>
              <a:rPr sz="1200" b="1">
                <a:solidFill>
                  <a:srgbClr val="E8B923"/>
                </a:solidFill>
                <a:latin typeface="Segoe UI"/>
              </a:rPr>
              <a:t>GOAL</a:t>
            </a:r>
          </a:p>
          <a:p>
            <a:pPr algn="l">
              <a:spcBef>
                <a:spcPts val="400"/>
              </a:spcBef>
              <a:spcAft>
                <a:spcPts val="0"/>
              </a:spcAft>
            </a:pPr>
            <a:r>
              <a:rPr sz="1400" b="0">
                <a:solidFill>
                  <a:srgbClr val="0B1F3A"/>
                </a:solidFill>
                <a:latin typeface="Segoe UI"/>
              </a:rPr>
              <a:t>Minimize injuries to personnel and damage to equipment, property or the environment.</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GOVERNANCE</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SMS Documentation</a:t>
            </a:r>
          </a:p>
        </p:txBody>
      </p:sp>
      <p:sp>
        <p:nvSpPr>
          <p:cNvPr id="6" name="docSub"/>
          <p:cNvSpPr txBox="1"/>
          <p:nvPr/>
        </p:nvSpPr>
        <p:spPr>
          <a:xfrm>
            <a:off x="640080" y="1325880"/>
            <a:ext cx="10058400" cy="365760"/>
          </a:xfrm>
          <a:prstGeom prst="rect">
            <a:avLst/>
          </a:prstGeom>
          <a:noFill/>
        </p:spPr>
        <p:txBody>
          <a:bodyPr wrap="square">
            <a:spAutoFit/>
          </a:bodyPr>
          <a:lstStyle/>
          <a:p>
            <a:pPr algn="l"/>
            <a:r>
              <a:rPr sz="1400" b="0">
                <a:solidFill>
                  <a:srgbClr val="5A6B7D"/>
                </a:solidFill>
                <a:latin typeface="Segoe UI"/>
              </a:rPr>
              <a:t>Clearly defined and documented safety policies, objectives and procedures — in paper or electronic format.</a:t>
            </a:r>
          </a:p>
        </p:txBody>
      </p:sp>
      <p:sp>
        <p:nvSpPr>
          <p:cNvPr id="7" name="docCard0"/>
          <p:cNvSpPr/>
          <p:nvPr/>
        </p:nvSpPr>
        <p:spPr>
          <a:xfrm>
            <a:off x="457200" y="2011680"/>
            <a:ext cx="21488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cCirc0"/>
          <p:cNvSpPr/>
          <p:nvPr/>
        </p:nvSpPr>
        <p:spPr>
          <a:xfrm>
            <a:off x="1005840" y="2377440"/>
            <a:ext cx="1051560" cy="105156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cNum0"/>
          <p:cNvSpPr txBox="1"/>
          <p:nvPr/>
        </p:nvSpPr>
        <p:spPr>
          <a:xfrm>
            <a:off x="1005840" y="2651760"/>
            <a:ext cx="1051560" cy="502920"/>
          </a:xfrm>
          <a:prstGeom prst="rect">
            <a:avLst/>
          </a:prstGeom>
          <a:noFill/>
        </p:spPr>
        <p:txBody>
          <a:bodyPr wrap="square">
            <a:spAutoFit/>
          </a:bodyPr>
          <a:lstStyle/>
          <a:p>
            <a:pPr algn="ctr"/>
            <a:r>
              <a:rPr sz="1800" b="1">
                <a:solidFill>
                  <a:srgbClr val="FFFFFF"/>
                </a:solidFill>
                <a:latin typeface="Segoe UI"/>
              </a:rPr>
              <a:t>01</a:t>
            </a:r>
          </a:p>
        </p:txBody>
      </p:sp>
      <p:sp>
        <p:nvSpPr>
          <p:cNvPr id="10" name="docTitle0"/>
          <p:cNvSpPr txBox="1"/>
          <p:nvPr/>
        </p:nvSpPr>
        <p:spPr>
          <a:xfrm>
            <a:off x="594360" y="3749039"/>
            <a:ext cx="1874519" cy="411480"/>
          </a:xfrm>
          <a:prstGeom prst="rect">
            <a:avLst/>
          </a:prstGeom>
          <a:noFill/>
        </p:spPr>
        <p:txBody>
          <a:bodyPr wrap="square">
            <a:spAutoFit/>
          </a:bodyPr>
          <a:lstStyle/>
          <a:p>
            <a:pPr algn="ctr"/>
            <a:r>
              <a:rPr sz="1600" b="1">
                <a:solidFill>
                  <a:srgbClr val="0B1F3A"/>
                </a:solidFill>
                <a:latin typeface="Segoe UI"/>
              </a:rPr>
              <a:t>Orderly</a:t>
            </a:r>
          </a:p>
        </p:txBody>
      </p:sp>
      <p:sp>
        <p:nvSpPr>
          <p:cNvPr id="11" name="docDesc0"/>
          <p:cNvSpPr txBox="1"/>
          <p:nvPr/>
        </p:nvSpPr>
        <p:spPr>
          <a:xfrm>
            <a:off x="594360" y="4206240"/>
            <a:ext cx="1874519" cy="731520"/>
          </a:xfrm>
          <a:prstGeom prst="rect">
            <a:avLst/>
          </a:prstGeom>
          <a:noFill/>
        </p:spPr>
        <p:txBody>
          <a:bodyPr wrap="square">
            <a:spAutoFit/>
          </a:bodyPr>
          <a:lstStyle/>
          <a:p>
            <a:pPr algn="ctr"/>
            <a:r>
              <a:rPr sz="1200" b="0">
                <a:solidFill>
                  <a:srgbClr val="5A6B7D"/>
                </a:solidFill>
                <a:latin typeface="Segoe UI"/>
              </a:rPr>
              <a:t>Maintained in a structured system</a:t>
            </a:r>
          </a:p>
        </p:txBody>
      </p:sp>
      <p:sp>
        <p:nvSpPr>
          <p:cNvPr id="12" name="docCard1"/>
          <p:cNvSpPr/>
          <p:nvPr/>
        </p:nvSpPr>
        <p:spPr>
          <a:xfrm>
            <a:off x="2743200" y="2011680"/>
            <a:ext cx="21488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cCirc1"/>
          <p:cNvSpPr/>
          <p:nvPr/>
        </p:nvSpPr>
        <p:spPr>
          <a:xfrm>
            <a:off x="3291840" y="2377440"/>
            <a:ext cx="1051560" cy="1051560"/>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cNum1"/>
          <p:cNvSpPr txBox="1"/>
          <p:nvPr/>
        </p:nvSpPr>
        <p:spPr>
          <a:xfrm>
            <a:off x="3291840" y="2651760"/>
            <a:ext cx="1051560" cy="502920"/>
          </a:xfrm>
          <a:prstGeom prst="rect">
            <a:avLst/>
          </a:prstGeom>
          <a:noFill/>
        </p:spPr>
        <p:txBody>
          <a:bodyPr wrap="square">
            <a:spAutoFit/>
          </a:bodyPr>
          <a:lstStyle/>
          <a:p>
            <a:pPr algn="ctr"/>
            <a:r>
              <a:rPr sz="1800" b="1">
                <a:solidFill>
                  <a:srgbClr val="FFFFFF"/>
                </a:solidFill>
                <a:latin typeface="Segoe UI"/>
              </a:rPr>
              <a:t>02</a:t>
            </a:r>
          </a:p>
        </p:txBody>
      </p:sp>
      <p:sp>
        <p:nvSpPr>
          <p:cNvPr id="15" name="docTitle1"/>
          <p:cNvSpPr txBox="1"/>
          <p:nvPr/>
        </p:nvSpPr>
        <p:spPr>
          <a:xfrm>
            <a:off x="2880360" y="3749039"/>
            <a:ext cx="1874519" cy="411480"/>
          </a:xfrm>
          <a:prstGeom prst="rect">
            <a:avLst/>
          </a:prstGeom>
          <a:noFill/>
        </p:spPr>
        <p:txBody>
          <a:bodyPr wrap="square">
            <a:spAutoFit/>
          </a:bodyPr>
          <a:lstStyle/>
          <a:p>
            <a:pPr algn="ctr"/>
            <a:r>
              <a:rPr sz="1600" b="1">
                <a:solidFill>
                  <a:srgbClr val="0B1F3A"/>
                </a:solidFill>
                <a:latin typeface="Segoe UI"/>
              </a:rPr>
              <a:t>Identifiable</a:t>
            </a:r>
          </a:p>
        </p:txBody>
      </p:sp>
      <p:sp>
        <p:nvSpPr>
          <p:cNvPr id="16" name="docDesc1"/>
          <p:cNvSpPr txBox="1"/>
          <p:nvPr/>
        </p:nvSpPr>
        <p:spPr>
          <a:xfrm>
            <a:off x="2880360" y="4206240"/>
            <a:ext cx="1874519" cy="731520"/>
          </a:xfrm>
          <a:prstGeom prst="rect">
            <a:avLst/>
          </a:prstGeom>
          <a:noFill/>
        </p:spPr>
        <p:txBody>
          <a:bodyPr wrap="square">
            <a:spAutoFit/>
          </a:bodyPr>
          <a:lstStyle/>
          <a:p>
            <a:pPr algn="ctr"/>
            <a:r>
              <a:rPr sz="1200" b="0">
                <a:solidFill>
                  <a:srgbClr val="5A6B7D"/>
                </a:solidFill>
                <a:latin typeface="Segoe UI"/>
              </a:rPr>
              <a:t>Easy to find and recognize</a:t>
            </a:r>
          </a:p>
        </p:txBody>
      </p:sp>
      <p:sp>
        <p:nvSpPr>
          <p:cNvPr id="17" name="docCard2"/>
          <p:cNvSpPr/>
          <p:nvPr/>
        </p:nvSpPr>
        <p:spPr>
          <a:xfrm>
            <a:off x="5029200" y="2011680"/>
            <a:ext cx="21488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cCirc2"/>
          <p:cNvSpPr/>
          <p:nvPr/>
        </p:nvSpPr>
        <p:spPr>
          <a:xfrm>
            <a:off x="5577840" y="2377440"/>
            <a:ext cx="1051560" cy="105156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cNum2"/>
          <p:cNvSpPr txBox="1"/>
          <p:nvPr/>
        </p:nvSpPr>
        <p:spPr>
          <a:xfrm>
            <a:off x="5577840" y="2651760"/>
            <a:ext cx="1051560" cy="502920"/>
          </a:xfrm>
          <a:prstGeom prst="rect">
            <a:avLst/>
          </a:prstGeom>
          <a:noFill/>
        </p:spPr>
        <p:txBody>
          <a:bodyPr wrap="square">
            <a:spAutoFit/>
          </a:bodyPr>
          <a:lstStyle/>
          <a:p>
            <a:pPr algn="ctr"/>
            <a:r>
              <a:rPr sz="1800" b="1">
                <a:solidFill>
                  <a:srgbClr val="FFFFFF"/>
                </a:solidFill>
                <a:latin typeface="Segoe UI"/>
              </a:rPr>
              <a:t>03</a:t>
            </a:r>
          </a:p>
        </p:txBody>
      </p:sp>
      <p:sp>
        <p:nvSpPr>
          <p:cNvPr id="20" name="docTitle2"/>
          <p:cNvSpPr txBox="1"/>
          <p:nvPr/>
        </p:nvSpPr>
        <p:spPr>
          <a:xfrm>
            <a:off x="5166360" y="3749039"/>
            <a:ext cx="1874519" cy="411480"/>
          </a:xfrm>
          <a:prstGeom prst="rect">
            <a:avLst/>
          </a:prstGeom>
          <a:noFill/>
        </p:spPr>
        <p:txBody>
          <a:bodyPr wrap="square">
            <a:spAutoFit/>
          </a:bodyPr>
          <a:lstStyle/>
          <a:p>
            <a:pPr algn="ctr"/>
            <a:r>
              <a:rPr sz="1600" b="1">
                <a:solidFill>
                  <a:srgbClr val="0B1F3A"/>
                </a:solidFill>
                <a:latin typeface="Segoe UI"/>
              </a:rPr>
              <a:t>Retrievable</a:t>
            </a:r>
          </a:p>
        </p:txBody>
      </p:sp>
      <p:sp>
        <p:nvSpPr>
          <p:cNvPr id="21" name="docDesc2"/>
          <p:cNvSpPr txBox="1"/>
          <p:nvPr/>
        </p:nvSpPr>
        <p:spPr>
          <a:xfrm>
            <a:off x="5166360" y="4206240"/>
            <a:ext cx="1874519" cy="731520"/>
          </a:xfrm>
          <a:prstGeom prst="rect">
            <a:avLst/>
          </a:prstGeom>
          <a:noFill/>
        </p:spPr>
        <p:txBody>
          <a:bodyPr wrap="square">
            <a:spAutoFit/>
          </a:bodyPr>
          <a:lstStyle/>
          <a:p>
            <a:pPr algn="ctr"/>
            <a:r>
              <a:rPr sz="1200" b="0">
                <a:solidFill>
                  <a:srgbClr val="5A6B7D"/>
                </a:solidFill>
                <a:latin typeface="Segoe UI"/>
              </a:rPr>
              <a:t>Available when needed</a:t>
            </a:r>
          </a:p>
        </p:txBody>
      </p:sp>
      <p:sp>
        <p:nvSpPr>
          <p:cNvPr id="22" name="docCard3"/>
          <p:cNvSpPr/>
          <p:nvPr/>
        </p:nvSpPr>
        <p:spPr>
          <a:xfrm>
            <a:off x="7315200" y="2011680"/>
            <a:ext cx="21488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cCirc3"/>
          <p:cNvSpPr/>
          <p:nvPr/>
        </p:nvSpPr>
        <p:spPr>
          <a:xfrm>
            <a:off x="7863840" y="2377440"/>
            <a:ext cx="1051560" cy="1051560"/>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cNum3"/>
          <p:cNvSpPr txBox="1"/>
          <p:nvPr/>
        </p:nvSpPr>
        <p:spPr>
          <a:xfrm>
            <a:off x="7863840" y="2651760"/>
            <a:ext cx="1051560" cy="502920"/>
          </a:xfrm>
          <a:prstGeom prst="rect">
            <a:avLst/>
          </a:prstGeom>
          <a:noFill/>
        </p:spPr>
        <p:txBody>
          <a:bodyPr wrap="square">
            <a:spAutoFit/>
          </a:bodyPr>
          <a:lstStyle/>
          <a:p>
            <a:pPr algn="ctr"/>
            <a:r>
              <a:rPr sz="1800" b="1">
                <a:solidFill>
                  <a:srgbClr val="FFFFFF"/>
                </a:solidFill>
                <a:latin typeface="Segoe UI"/>
              </a:rPr>
              <a:t>04</a:t>
            </a:r>
          </a:p>
        </p:txBody>
      </p:sp>
      <p:sp>
        <p:nvSpPr>
          <p:cNvPr id="25" name="docTitle3"/>
          <p:cNvSpPr txBox="1"/>
          <p:nvPr/>
        </p:nvSpPr>
        <p:spPr>
          <a:xfrm>
            <a:off x="7452360" y="3749039"/>
            <a:ext cx="1874519" cy="411480"/>
          </a:xfrm>
          <a:prstGeom prst="rect">
            <a:avLst/>
          </a:prstGeom>
          <a:noFill/>
        </p:spPr>
        <p:txBody>
          <a:bodyPr wrap="square">
            <a:spAutoFit/>
          </a:bodyPr>
          <a:lstStyle/>
          <a:p>
            <a:pPr algn="ctr"/>
            <a:r>
              <a:rPr sz="1600" b="1">
                <a:solidFill>
                  <a:srgbClr val="0B1F3A"/>
                </a:solidFill>
                <a:latin typeface="Segoe UI"/>
              </a:rPr>
              <a:t>Legible</a:t>
            </a:r>
          </a:p>
        </p:txBody>
      </p:sp>
      <p:sp>
        <p:nvSpPr>
          <p:cNvPr id="26" name="docDesc3"/>
          <p:cNvSpPr txBox="1"/>
          <p:nvPr/>
        </p:nvSpPr>
        <p:spPr>
          <a:xfrm>
            <a:off x="7452360" y="4206240"/>
            <a:ext cx="1874519" cy="731520"/>
          </a:xfrm>
          <a:prstGeom prst="rect">
            <a:avLst/>
          </a:prstGeom>
          <a:noFill/>
        </p:spPr>
        <p:txBody>
          <a:bodyPr wrap="square">
            <a:spAutoFit/>
          </a:bodyPr>
          <a:lstStyle/>
          <a:p>
            <a:pPr algn="ctr"/>
            <a:r>
              <a:rPr sz="1200" b="0">
                <a:solidFill>
                  <a:srgbClr val="5A6B7D"/>
                </a:solidFill>
                <a:latin typeface="Segoe UI"/>
              </a:rPr>
              <a:t>Clear and usable</a:t>
            </a:r>
          </a:p>
        </p:txBody>
      </p:sp>
      <p:sp>
        <p:nvSpPr>
          <p:cNvPr id="27" name="docCard4"/>
          <p:cNvSpPr/>
          <p:nvPr/>
        </p:nvSpPr>
        <p:spPr>
          <a:xfrm>
            <a:off x="9601200" y="2011680"/>
            <a:ext cx="21488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cCirc4"/>
          <p:cNvSpPr/>
          <p:nvPr/>
        </p:nvSpPr>
        <p:spPr>
          <a:xfrm>
            <a:off x="10149840" y="2377440"/>
            <a:ext cx="1051560" cy="105156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ocNum4"/>
          <p:cNvSpPr txBox="1"/>
          <p:nvPr/>
        </p:nvSpPr>
        <p:spPr>
          <a:xfrm>
            <a:off x="10149840" y="2651760"/>
            <a:ext cx="1051560" cy="502920"/>
          </a:xfrm>
          <a:prstGeom prst="rect">
            <a:avLst/>
          </a:prstGeom>
          <a:noFill/>
        </p:spPr>
        <p:txBody>
          <a:bodyPr wrap="square">
            <a:spAutoFit/>
          </a:bodyPr>
          <a:lstStyle/>
          <a:p>
            <a:pPr algn="ctr"/>
            <a:r>
              <a:rPr sz="1800" b="1">
                <a:solidFill>
                  <a:srgbClr val="FFFFFF"/>
                </a:solidFill>
                <a:latin typeface="Segoe UI"/>
              </a:rPr>
              <a:t>05</a:t>
            </a:r>
          </a:p>
        </p:txBody>
      </p:sp>
      <p:sp>
        <p:nvSpPr>
          <p:cNvPr id="30" name="docTitle4"/>
          <p:cNvSpPr txBox="1"/>
          <p:nvPr/>
        </p:nvSpPr>
        <p:spPr>
          <a:xfrm>
            <a:off x="9738360" y="3749039"/>
            <a:ext cx="1874519" cy="411480"/>
          </a:xfrm>
          <a:prstGeom prst="rect">
            <a:avLst/>
          </a:prstGeom>
          <a:noFill/>
        </p:spPr>
        <p:txBody>
          <a:bodyPr wrap="square">
            <a:spAutoFit/>
          </a:bodyPr>
          <a:lstStyle/>
          <a:p>
            <a:pPr algn="ctr"/>
            <a:r>
              <a:rPr sz="1600" b="1">
                <a:solidFill>
                  <a:srgbClr val="0B1F3A"/>
                </a:solidFill>
                <a:latin typeface="Segoe UI"/>
              </a:rPr>
              <a:t>Dated</a:t>
            </a:r>
          </a:p>
        </p:txBody>
      </p:sp>
      <p:sp>
        <p:nvSpPr>
          <p:cNvPr id="31" name="docDesc4"/>
          <p:cNvSpPr txBox="1"/>
          <p:nvPr/>
        </p:nvSpPr>
        <p:spPr>
          <a:xfrm>
            <a:off x="9738360" y="4206240"/>
            <a:ext cx="1874519" cy="731520"/>
          </a:xfrm>
          <a:prstGeom prst="rect">
            <a:avLst/>
          </a:prstGeom>
          <a:noFill/>
        </p:spPr>
        <p:txBody>
          <a:bodyPr wrap="square">
            <a:spAutoFit/>
          </a:bodyPr>
          <a:lstStyle/>
          <a:p>
            <a:pPr algn="ctr"/>
            <a:r>
              <a:rPr sz="1200" b="0">
                <a:solidFill>
                  <a:srgbClr val="5A6B7D"/>
                </a:solidFill>
                <a:latin typeface="Segoe UI"/>
              </a:rPr>
              <a:t>Revision date always visible</a:t>
            </a:r>
          </a:p>
        </p:txBody>
      </p:sp>
      <p:sp>
        <p:nvSpPr>
          <p:cNvPr id="32" name="docFoot"/>
          <p:cNvSpPr txBox="1"/>
          <p:nvPr/>
        </p:nvSpPr>
        <p:spPr>
          <a:xfrm>
            <a:off x="640080" y="5669280"/>
            <a:ext cx="10972800" cy="457200"/>
          </a:xfrm>
          <a:prstGeom prst="rect">
            <a:avLst/>
          </a:prstGeom>
          <a:noFill/>
        </p:spPr>
        <p:txBody>
          <a:bodyPr wrap="square">
            <a:spAutoFit/>
          </a:bodyPr>
          <a:lstStyle/>
          <a:p>
            <a:pPr algn="ctr"/>
            <a:r>
              <a:rPr sz="1300" b="0">
                <a:solidFill>
                  <a:srgbClr val="5A6B7D"/>
                </a:solidFill>
                <a:latin typeface="Segoe UI"/>
              </a:rPr>
              <a:t>The organization should determine how long records should be retained.</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33"/>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266"/>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399"/>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532"/>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6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79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931"/>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064"/>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197"/>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33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463"/>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596"/>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729"/>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1862"/>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1995"/>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128"/>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261"/>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394"/>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527"/>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266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2793"/>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2926"/>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3059"/>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3192"/>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3325"/>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3458"/>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3591"/>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grpId="0" nodeType="withEffect">
                                  <p:stCondLst>
                                    <p:cond delay="3724"/>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3857"/>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COMPONENT 2</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Safety Risk Management</a:t>
            </a:r>
          </a:p>
        </p:txBody>
      </p:sp>
      <p:sp>
        <p:nvSpPr>
          <p:cNvPr id="6" name="riskCard0"/>
          <p:cNvSpPr/>
          <p:nvPr/>
        </p:nvSpPr>
        <p:spPr>
          <a:xfrm>
            <a:off x="548640" y="1645920"/>
            <a:ext cx="361188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skHeader0"/>
          <p:cNvSpPr/>
          <p:nvPr/>
        </p:nvSpPr>
        <p:spPr>
          <a:xfrm>
            <a:off x="548640" y="1645920"/>
            <a:ext cx="3611880" cy="1280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skName0"/>
          <p:cNvSpPr txBox="1"/>
          <p:nvPr/>
        </p:nvSpPr>
        <p:spPr>
          <a:xfrm>
            <a:off x="777240" y="1874519"/>
            <a:ext cx="3154680" cy="411480"/>
          </a:xfrm>
          <a:prstGeom prst="rect">
            <a:avLst/>
          </a:prstGeom>
          <a:noFill/>
        </p:spPr>
        <p:txBody>
          <a:bodyPr wrap="square">
            <a:spAutoFit/>
          </a:bodyPr>
          <a:lstStyle/>
          <a:p>
            <a:pPr algn="ctr"/>
            <a:r>
              <a:rPr sz="1800" b="1">
                <a:solidFill>
                  <a:srgbClr val="FFFFFF"/>
                </a:solidFill>
                <a:latin typeface="Segoe UI"/>
              </a:rPr>
              <a:t>REACTIVE</a:t>
            </a:r>
          </a:p>
        </p:txBody>
      </p:sp>
      <p:sp>
        <p:nvSpPr>
          <p:cNvPr id="9" name="riskTime0"/>
          <p:cNvSpPr txBox="1"/>
          <p:nvPr/>
        </p:nvSpPr>
        <p:spPr>
          <a:xfrm>
            <a:off x="777240" y="2331720"/>
            <a:ext cx="3154680" cy="365760"/>
          </a:xfrm>
          <a:prstGeom prst="rect">
            <a:avLst/>
          </a:prstGeom>
          <a:noFill/>
        </p:spPr>
        <p:txBody>
          <a:bodyPr wrap="square">
            <a:spAutoFit/>
          </a:bodyPr>
          <a:lstStyle/>
          <a:p>
            <a:pPr algn="ctr"/>
            <a:r>
              <a:rPr sz="1400" b="0">
                <a:solidFill>
                  <a:srgbClr val="FFFFFF"/>
                </a:solidFill>
                <a:latin typeface="Segoe UI"/>
              </a:rPr>
              <a:t>(Past)</a:t>
            </a:r>
          </a:p>
        </p:txBody>
      </p:sp>
      <p:sp>
        <p:nvSpPr>
          <p:cNvPr id="10" name="riskDesc0"/>
          <p:cNvSpPr txBox="1"/>
          <p:nvPr/>
        </p:nvSpPr>
        <p:spPr>
          <a:xfrm>
            <a:off x="868680" y="3383280"/>
            <a:ext cx="2971800" cy="1645920"/>
          </a:xfrm>
          <a:prstGeom prst="rect">
            <a:avLst/>
          </a:prstGeom>
          <a:noFill/>
        </p:spPr>
        <p:txBody>
          <a:bodyPr wrap="square">
            <a:spAutoFit/>
          </a:bodyPr>
          <a:lstStyle/>
          <a:p>
            <a:pPr algn="ctr"/>
            <a:r>
              <a:rPr sz="1500" b="0">
                <a:solidFill>
                  <a:srgbClr val="0B1F3A"/>
                </a:solidFill>
                <a:latin typeface="Segoe UI"/>
              </a:rPr>
              <a:t>Responds to events that have already happened.</a:t>
            </a:r>
          </a:p>
        </p:txBody>
      </p:sp>
      <p:sp>
        <p:nvSpPr>
          <p:cNvPr id="11" name="riskDot0_0"/>
          <p:cNvSpPr/>
          <p:nvPr/>
        </p:nvSpPr>
        <p:spPr>
          <a:xfrm>
            <a:off x="1645920" y="5120640"/>
            <a:ext cx="256032" cy="256032"/>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skDot0_1"/>
          <p:cNvSpPr/>
          <p:nvPr/>
        </p:nvSpPr>
        <p:spPr>
          <a:xfrm>
            <a:off x="2148840" y="5120640"/>
            <a:ext cx="256032" cy="256032"/>
          </a:xfrm>
          <a:prstGeom prst="ellipse">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skDot0_2"/>
          <p:cNvSpPr/>
          <p:nvPr/>
        </p:nvSpPr>
        <p:spPr>
          <a:xfrm>
            <a:off x="2651760" y="5120640"/>
            <a:ext cx="256032" cy="256032"/>
          </a:xfrm>
          <a:prstGeom prst="ellipse">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skCard1"/>
          <p:cNvSpPr/>
          <p:nvPr/>
        </p:nvSpPr>
        <p:spPr>
          <a:xfrm>
            <a:off x="4389120" y="1645920"/>
            <a:ext cx="361188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skHeader1"/>
          <p:cNvSpPr/>
          <p:nvPr/>
        </p:nvSpPr>
        <p:spPr>
          <a:xfrm>
            <a:off x="4389120" y="1645920"/>
            <a:ext cx="3611880" cy="128016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skName1"/>
          <p:cNvSpPr txBox="1"/>
          <p:nvPr/>
        </p:nvSpPr>
        <p:spPr>
          <a:xfrm>
            <a:off x="4617720" y="1874519"/>
            <a:ext cx="3154680" cy="411480"/>
          </a:xfrm>
          <a:prstGeom prst="rect">
            <a:avLst/>
          </a:prstGeom>
          <a:noFill/>
        </p:spPr>
        <p:txBody>
          <a:bodyPr wrap="square">
            <a:spAutoFit/>
          </a:bodyPr>
          <a:lstStyle/>
          <a:p>
            <a:pPr algn="ctr"/>
            <a:r>
              <a:rPr sz="1800" b="1">
                <a:solidFill>
                  <a:srgbClr val="FFFFFF"/>
                </a:solidFill>
                <a:latin typeface="Segoe UI"/>
              </a:rPr>
              <a:t>PROACTIVE</a:t>
            </a:r>
          </a:p>
        </p:txBody>
      </p:sp>
      <p:sp>
        <p:nvSpPr>
          <p:cNvPr id="17" name="riskTime1"/>
          <p:cNvSpPr txBox="1"/>
          <p:nvPr/>
        </p:nvSpPr>
        <p:spPr>
          <a:xfrm>
            <a:off x="4617720" y="2331720"/>
            <a:ext cx="3154680" cy="365760"/>
          </a:xfrm>
          <a:prstGeom prst="rect">
            <a:avLst/>
          </a:prstGeom>
          <a:noFill/>
        </p:spPr>
        <p:txBody>
          <a:bodyPr wrap="square">
            <a:spAutoFit/>
          </a:bodyPr>
          <a:lstStyle/>
          <a:p>
            <a:pPr algn="ctr"/>
            <a:r>
              <a:rPr sz="1400" b="0">
                <a:solidFill>
                  <a:srgbClr val="FFFFFF"/>
                </a:solidFill>
                <a:latin typeface="Segoe UI"/>
              </a:rPr>
              <a:t>(Present)</a:t>
            </a:r>
          </a:p>
        </p:txBody>
      </p:sp>
      <p:sp>
        <p:nvSpPr>
          <p:cNvPr id="18" name="riskDesc1"/>
          <p:cNvSpPr txBox="1"/>
          <p:nvPr/>
        </p:nvSpPr>
        <p:spPr>
          <a:xfrm>
            <a:off x="4709160" y="3383280"/>
            <a:ext cx="2971800" cy="1645920"/>
          </a:xfrm>
          <a:prstGeom prst="rect">
            <a:avLst/>
          </a:prstGeom>
          <a:noFill/>
        </p:spPr>
        <p:txBody>
          <a:bodyPr wrap="square">
            <a:spAutoFit/>
          </a:bodyPr>
          <a:lstStyle/>
          <a:p>
            <a:pPr algn="ctr"/>
            <a:r>
              <a:rPr sz="1500" b="0">
                <a:solidFill>
                  <a:srgbClr val="0B1F3A"/>
                </a:solidFill>
                <a:latin typeface="Segoe UI"/>
              </a:rPr>
              <a:t>Actively seeks the identification of hazardous conditions through the analysis of the organization's processes.</a:t>
            </a:r>
          </a:p>
        </p:txBody>
      </p:sp>
      <p:sp>
        <p:nvSpPr>
          <p:cNvPr id="19" name="riskDot1_0"/>
          <p:cNvSpPr/>
          <p:nvPr/>
        </p:nvSpPr>
        <p:spPr>
          <a:xfrm>
            <a:off x="5486400" y="5120640"/>
            <a:ext cx="256032" cy="256032"/>
          </a:xfrm>
          <a:prstGeom prst="ellipse">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skDot1_1"/>
          <p:cNvSpPr/>
          <p:nvPr/>
        </p:nvSpPr>
        <p:spPr>
          <a:xfrm>
            <a:off x="5989320" y="5120640"/>
            <a:ext cx="256032" cy="256032"/>
          </a:xfrm>
          <a:prstGeom prst="ellipse">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skDot1_2"/>
          <p:cNvSpPr/>
          <p:nvPr/>
        </p:nvSpPr>
        <p:spPr>
          <a:xfrm>
            <a:off x="6492240" y="5120640"/>
            <a:ext cx="256032" cy="256032"/>
          </a:xfrm>
          <a:prstGeom prst="ellipse">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skCard2"/>
          <p:cNvSpPr/>
          <p:nvPr/>
        </p:nvSpPr>
        <p:spPr>
          <a:xfrm>
            <a:off x="8229600" y="1645920"/>
            <a:ext cx="361188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skHeader2"/>
          <p:cNvSpPr/>
          <p:nvPr/>
        </p:nvSpPr>
        <p:spPr>
          <a:xfrm>
            <a:off x="8229600" y="1645920"/>
            <a:ext cx="3611880" cy="1280160"/>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skName2"/>
          <p:cNvSpPr txBox="1"/>
          <p:nvPr/>
        </p:nvSpPr>
        <p:spPr>
          <a:xfrm>
            <a:off x="8458200" y="1874519"/>
            <a:ext cx="3154680" cy="411480"/>
          </a:xfrm>
          <a:prstGeom prst="rect">
            <a:avLst/>
          </a:prstGeom>
          <a:noFill/>
        </p:spPr>
        <p:txBody>
          <a:bodyPr wrap="square">
            <a:spAutoFit/>
          </a:bodyPr>
          <a:lstStyle/>
          <a:p>
            <a:pPr algn="ctr"/>
            <a:r>
              <a:rPr sz="1800" b="1">
                <a:solidFill>
                  <a:srgbClr val="FFFFFF"/>
                </a:solidFill>
                <a:latin typeface="Segoe UI"/>
              </a:rPr>
              <a:t>PREDICTIVE</a:t>
            </a:r>
          </a:p>
        </p:txBody>
      </p:sp>
      <p:sp>
        <p:nvSpPr>
          <p:cNvPr id="25" name="riskTime2"/>
          <p:cNvSpPr txBox="1"/>
          <p:nvPr/>
        </p:nvSpPr>
        <p:spPr>
          <a:xfrm>
            <a:off x="8458200" y="2331720"/>
            <a:ext cx="3154680" cy="365760"/>
          </a:xfrm>
          <a:prstGeom prst="rect">
            <a:avLst/>
          </a:prstGeom>
          <a:noFill/>
        </p:spPr>
        <p:txBody>
          <a:bodyPr wrap="square">
            <a:spAutoFit/>
          </a:bodyPr>
          <a:lstStyle/>
          <a:p>
            <a:pPr algn="ctr"/>
            <a:r>
              <a:rPr sz="1400" b="0">
                <a:solidFill>
                  <a:srgbClr val="FFFFFF"/>
                </a:solidFill>
                <a:latin typeface="Segoe UI"/>
              </a:rPr>
              <a:t>(Future)</a:t>
            </a:r>
          </a:p>
        </p:txBody>
      </p:sp>
      <p:sp>
        <p:nvSpPr>
          <p:cNvPr id="26" name="riskDesc2"/>
          <p:cNvSpPr txBox="1"/>
          <p:nvPr/>
        </p:nvSpPr>
        <p:spPr>
          <a:xfrm>
            <a:off x="8549640" y="3383280"/>
            <a:ext cx="2971800" cy="1645920"/>
          </a:xfrm>
          <a:prstGeom prst="rect">
            <a:avLst/>
          </a:prstGeom>
          <a:noFill/>
        </p:spPr>
        <p:txBody>
          <a:bodyPr wrap="square">
            <a:spAutoFit/>
          </a:bodyPr>
          <a:lstStyle/>
          <a:p>
            <a:pPr algn="ctr"/>
            <a:r>
              <a:rPr sz="1500" b="0">
                <a:solidFill>
                  <a:srgbClr val="0B1F3A"/>
                </a:solidFill>
                <a:latin typeface="Segoe UI"/>
              </a:rPr>
              <a:t>Analyzes system processes and environment to identify potential future problems.</a:t>
            </a:r>
          </a:p>
        </p:txBody>
      </p:sp>
      <p:sp>
        <p:nvSpPr>
          <p:cNvPr id="27" name="riskDot2_0"/>
          <p:cNvSpPr/>
          <p:nvPr/>
        </p:nvSpPr>
        <p:spPr>
          <a:xfrm>
            <a:off x="9326880" y="5120640"/>
            <a:ext cx="256032" cy="256032"/>
          </a:xfrm>
          <a:prstGeom prst="ellipse">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skDot2_1"/>
          <p:cNvSpPr/>
          <p:nvPr/>
        </p:nvSpPr>
        <p:spPr>
          <a:xfrm>
            <a:off x="9829800" y="5120640"/>
            <a:ext cx="256032" cy="256032"/>
          </a:xfrm>
          <a:prstGeom prst="ellipse">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skDot2_2"/>
          <p:cNvSpPr/>
          <p:nvPr/>
        </p:nvSpPr>
        <p:spPr>
          <a:xfrm>
            <a:off x="10332720" y="5120640"/>
            <a:ext cx="256032" cy="256032"/>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48"/>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296"/>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44"/>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592"/>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4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88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36"/>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184"/>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32"/>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48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28"/>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776"/>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24"/>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072"/>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2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368"/>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16"/>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664"/>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12"/>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296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3108"/>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3256"/>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3404"/>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3552"/>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370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3848"/>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DETECTION</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Hazard Identification &amp; Reporting</a:t>
            </a:r>
          </a:p>
        </p:txBody>
      </p:sp>
      <p:sp>
        <p:nvSpPr>
          <p:cNvPr id="6" name="hazCard"/>
          <p:cNvSpPr/>
          <p:nvPr/>
        </p:nvSpPr>
        <p:spPr>
          <a:xfrm>
            <a:off x="548640" y="1554480"/>
            <a:ext cx="530352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5303520" cy="9144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azTitle"/>
          <p:cNvSpPr txBox="1"/>
          <p:nvPr/>
        </p:nvSpPr>
        <p:spPr>
          <a:xfrm>
            <a:off x="822960" y="1828800"/>
            <a:ext cx="4754880" cy="457200"/>
          </a:xfrm>
          <a:prstGeom prst="rect">
            <a:avLst/>
          </a:prstGeom>
          <a:noFill/>
        </p:spPr>
        <p:txBody>
          <a:bodyPr wrap="square">
            <a:spAutoFit/>
          </a:bodyPr>
          <a:lstStyle/>
          <a:p>
            <a:pPr algn="l"/>
            <a:r>
              <a:rPr sz="1600" b="1">
                <a:solidFill>
                  <a:srgbClr val="0B1F3A"/>
                </a:solidFill>
                <a:latin typeface="Segoe UI"/>
              </a:rPr>
              <a:t>HAZARD IDENTIFICATION</a:t>
            </a:r>
          </a:p>
        </p:txBody>
      </p:sp>
      <p:sp>
        <p:nvSpPr>
          <p:cNvPr id="9" name="hazPoint0"/>
          <p:cNvSpPr txBox="1"/>
          <p:nvPr/>
        </p:nvSpPr>
        <p:spPr>
          <a:xfrm>
            <a:off x="822960" y="2560320"/>
            <a:ext cx="4754880" cy="548640"/>
          </a:xfrm>
          <a:prstGeom prst="rect">
            <a:avLst/>
          </a:prstGeom>
          <a:noFill/>
        </p:spPr>
        <p:txBody>
          <a:bodyPr wrap="square">
            <a:spAutoFit/>
          </a:bodyPr>
          <a:lstStyle/>
          <a:p>
            <a:pPr algn="l"/>
            <a:r>
              <a:rPr sz="1400" b="0">
                <a:solidFill>
                  <a:srgbClr val="5A6B7D"/>
                </a:solidFill>
                <a:latin typeface="Segoe UI"/>
              </a:rPr>
              <a:t>▸  The SMS identifies hazards and develops processes to identify and manage risks</a:t>
            </a:r>
          </a:p>
        </p:txBody>
      </p:sp>
      <p:sp>
        <p:nvSpPr>
          <p:cNvPr id="10" name="hazPoint1"/>
          <p:cNvSpPr txBox="1"/>
          <p:nvPr/>
        </p:nvSpPr>
        <p:spPr>
          <a:xfrm>
            <a:off x="822960" y="3246120"/>
            <a:ext cx="4754880" cy="548640"/>
          </a:xfrm>
          <a:prstGeom prst="rect">
            <a:avLst/>
          </a:prstGeom>
          <a:noFill/>
        </p:spPr>
        <p:txBody>
          <a:bodyPr wrap="square">
            <a:spAutoFit/>
          </a:bodyPr>
          <a:lstStyle/>
          <a:p>
            <a:pPr algn="l"/>
            <a:r>
              <a:rPr sz="1400" b="0">
                <a:solidFill>
                  <a:srgbClr val="5A6B7D"/>
                </a:solidFill>
                <a:latin typeface="Segoe UI"/>
              </a:rPr>
              <a:t>▸  Proactive identification of existing and potential hazards</a:t>
            </a:r>
          </a:p>
        </p:txBody>
      </p:sp>
      <p:sp>
        <p:nvSpPr>
          <p:cNvPr id="11" name="hazPoint2"/>
          <p:cNvSpPr txBox="1"/>
          <p:nvPr/>
        </p:nvSpPr>
        <p:spPr>
          <a:xfrm>
            <a:off x="822960" y="3931920"/>
            <a:ext cx="4754880" cy="548640"/>
          </a:xfrm>
          <a:prstGeom prst="rect">
            <a:avLst/>
          </a:prstGeom>
          <a:noFill/>
        </p:spPr>
        <p:txBody>
          <a:bodyPr wrap="square">
            <a:spAutoFit/>
          </a:bodyPr>
          <a:lstStyle/>
          <a:p>
            <a:pPr algn="l"/>
            <a:r>
              <a:rPr sz="1400" b="0">
                <a:solidFill>
                  <a:srgbClr val="5A6B7D"/>
                </a:solidFill>
                <a:latin typeface="Segoe UI"/>
              </a:rPr>
              <a:t>▸  Includes hazards from organizational change — rapid growth</a:t>
            </a:r>
          </a:p>
        </p:txBody>
      </p:sp>
      <p:sp>
        <p:nvSpPr>
          <p:cNvPr id="12" name="hazPoint3"/>
          <p:cNvSpPr txBox="1"/>
          <p:nvPr/>
        </p:nvSpPr>
        <p:spPr>
          <a:xfrm>
            <a:off x="822960" y="4617720"/>
            <a:ext cx="4754880" cy="548640"/>
          </a:xfrm>
          <a:prstGeom prst="rect">
            <a:avLst/>
          </a:prstGeom>
          <a:noFill/>
        </p:spPr>
        <p:txBody>
          <a:bodyPr wrap="square">
            <a:spAutoFit/>
          </a:bodyPr>
          <a:lstStyle/>
          <a:p>
            <a:pPr algn="l"/>
            <a:r>
              <a:rPr sz="1400" b="0">
                <a:solidFill>
                  <a:srgbClr val="5A6B7D"/>
                </a:solidFill>
                <a:latin typeface="Segoe UI"/>
              </a:rPr>
              <a:t>▸  New services, new equipment or new personnel</a:t>
            </a:r>
          </a:p>
        </p:txBody>
      </p:sp>
      <p:sp>
        <p:nvSpPr>
          <p:cNvPr id="13" name="repCard"/>
          <p:cNvSpPr/>
          <p:nvPr/>
        </p:nvSpPr>
        <p:spPr>
          <a:xfrm>
            <a:off x="6217920" y="1554480"/>
            <a:ext cx="5394960" cy="457200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pTitle"/>
          <p:cNvSpPr txBox="1"/>
          <p:nvPr/>
        </p:nvSpPr>
        <p:spPr>
          <a:xfrm>
            <a:off x="6492240" y="1828800"/>
            <a:ext cx="4846320" cy="457200"/>
          </a:xfrm>
          <a:prstGeom prst="rect">
            <a:avLst/>
          </a:prstGeom>
          <a:noFill/>
        </p:spPr>
        <p:txBody>
          <a:bodyPr wrap="square">
            <a:spAutoFit/>
          </a:bodyPr>
          <a:lstStyle/>
          <a:p>
            <a:pPr algn="l"/>
            <a:r>
              <a:rPr sz="1600" b="1">
                <a:solidFill>
                  <a:srgbClr val="E8B923"/>
                </a:solidFill>
                <a:latin typeface="Segoe UI"/>
              </a:rPr>
              <a:t>REPORTING SYSTEMS</a:t>
            </a:r>
          </a:p>
        </p:txBody>
      </p:sp>
      <p:sp>
        <p:nvSpPr>
          <p:cNvPr id="15" name="repQ"/>
          <p:cNvSpPr txBox="1"/>
          <p:nvPr/>
        </p:nvSpPr>
        <p:spPr>
          <a:xfrm>
            <a:off x="6492240" y="2331720"/>
            <a:ext cx="4846320" cy="365760"/>
          </a:xfrm>
          <a:prstGeom prst="rect">
            <a:avLst/>
          </a:prstGeom>
          <a:noFill/>
        </p:spPr>
        <p:txBody>
          <a:bodyPr wrap="square">
            <a:spAutoFit/>
          </a:bodyPr>
          <a:lstStyle/>
          <a:p>
            <a:pPr algn="l"/>
            <a:r>
              <a:rPr sz="1300" b="0">
                <a:solidFill>
                  <a:srgbClr val="A8B8C8"/>
                </a:solidFill>
                <a:latin typeface="Segoe UI"/>
              </a:rPr>
              <a:t>AND HOW WILL YOU REPORT..?</a:t>
            </a:r>
          </a:p>
        </p:txBody>
      </p:sp>
      <p:sp>
        <p:nvSpPr>
          <p:cNvPr id="16" name="repPoint0"/>
          <p:cNvSpPr txBox="1"/>
          <p:nvPr/>
        </p:nvSpPr>
        <p:spPr>
          <a:xfrm>
            <a:off x="6492240" y="2926080"/>
            <a:ext cx="4846320" cy="502920"/>
          </a:xfrm>
          <a:prstGeom prst="rect">
            <a:avLst/>
          </a:prstGeom>
          <a:noFill/>
        </p:spPr>
        <p:txBody>
          <a:bodyPr wrap="square">
            <a:spAutoFit/>
          </a:bodyPr>
          <a:lstStyle/>
          <a:p>
            <a:pPr algn="l"/>
            <a:r>
              <a:rPr sz="1400" b="0">
                <a:solidFill>
                  <a:srgbClr val="FFFFFF"/>
                </a:solidFill>
                <a:latin typeface="Segoe UI"/>
              </a:rPr>
              <a:t>●  Keep it simple and accessible</a:t>
            </a:r>
          </a:p>
        </p:txBody>
      </p:sp>
      <p:sp>
        <p:nvSpPr>
          <p:cNvPr id="17" name="repPoint1"/>
          <p:cNvSpPr txBox="1"/>
          <p:nvPr/>
        </p:nvSpPr>
        <p:spPr>
          <a:xfrm>
            <a:off x="6492240" y="3566160"/>
            <a:ext cx="4846320" cy="502920"/>
          </a:xfrm>
          <a:prstGeom prst="rect">
            <a:avLst/>
          </a:prstGeom>
          <a:noFill/>
        </p:spPr>
        <p:txBody>
          <a:bodyPr wrap="square">
            <a:spAutoFit/>
          </a:bodyPr>
          <a:lstStyle/>
          <a:p>
            <a:pPr algn="l"/>
            <a:r>
              <a:rPr sz="1400" b="0">
                <a:solidFill>
                  <a:srgbClr val="FFFFFF"/>
                </a:solidFill>
                <a:latin typeface="Segoe UI"/>
              </a:rPr>
              <a:t>●  Re-active and pro-active processes can overlap</a:t>
            </a:r>
          </a:p>
        </p:txBody>
      </p:sp>
      <p:sp>
        <p:nvSpPr>
          <p:cNvPr id="18" name="repPoint2"/>
          <p:cNvSpPr txBox="1"/>
          <p:nvPr/>
        </p:nvSpPr>
        <p:spPr>
          <a:xfrm>
            <a:off x="6492240" y="4206240"/>
            <a:ext cx="4846320" cy="502920"/>
          </a:xfrm>
          <a:prstGeom prst="rect">
            <a:avLst/>
          </a:prstGeom>
          <a:noFill/>
        </p:spPr>
        <p:txBody>
          <a:bodyPr wrap="square">
            <a:spAutoFit/>
          </a:bodyPr>
          <a:lstStyle/>
          <a:p>
            <a:pPr algn="l"/>
            <a:r>
              <a:rPr sz="1400" b="0">
                <a:solidFill>
                  <a:srgbClr val="FFFFFF"/>
                </a:solidFill>
                <a:latin typeface="Segoe UI"/>
              </a:rPr>
              <a:t>●  Ensure people submitting reports get feedback</a:t>
            </a:r>
          </a:p>
        </p:txBody>
      </p:sp>
      <p:sp>
        <p:nvSpPr>
          <p:cNvPr id="19" name="repPoint3"/>
          <p:cNvSpPr txBox="1"/>
          <p:nvPr/>
        </p:nvSpPr>
        <p:spPr>
          <a:xfrm>
            <a:off x="6492240" y="4846320"/>
            <a:ext cx="4846320" cy="502920"/>
          </a:xfrm>
          <a:prstGeom prst="rect">
            <a:avLst/>
          </a:prstGeom>
          <a:noFill/>
        </p:spPr>
        <p:txBody>
          <a:bodyPr wrap="square">
            <a:spAutoFit/>
          </a:bodyPr>
          <a:lstStyle/>
          <a:p>
            <a:pPr algn="l"/>
            <a:r>
              <a:rPr sz="1400" b="0">
                <a:solidFill>
                  <a:srgbClr val="FFFFFF"/>
                </a:solidFill>
                <a:latin typeface="Segoe UI"/>
              </a:rPr>
              <a:t>●  Find a simple way to file and track reports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DECISION TOOL</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Safety Risk Matrix</a:t>
            </a:r>
          </a:p>
        </p:txBody>
      </p:sp>
      <p:sp>
        <p:nvSpPr>
          <p:cNvPr id="6" name="matrixSub"/>
          <p:cNvSpPr txBox="1"/>
          <p:nvPr/>
        </p:nvSpPr>
        <p:spPr>
          <a:xfrm>
            <a:off x="640080" y="1280160"/>
            <a:ext cx="10972800" cy="320040"/>
          </a:xfrm>
          <a:prstGeom prst="rect">
            <a:avLst/>
          </a:prstGeom>
          <a:noFill/>
        </p:spPr>
        <p:txBody>
          <a:bodyPr wrap="square">
            <a:spAutoFit/>
          </a:bodyPr>
          <a:lstStyle/>
          <a:p>
            <a:pPr algn="l"/>
            <a:r>
              <a:rPr sz="1400" b="0">
                <a:solidFill>
                  <a:srgbClr val="5A6B7D"/>
                </a:solidFill>
                <a:latin typeface="Segoe UI"/>
              </a:rPr>
              <a:t>Likelihood × Severity  →  Risk Index</a:t>
            </a:r>
          </a:p>
        </p:txBody>
      </p:sp>
      <p:sp>
        <p:nvSpPr>
          <p:cNvPr id="7" name="sevHead0"/>
          <p:cNvSpPr txBox="1"/>
          <p:nvPr/>
        </p:nvSpPr>
        <p:spPr>
          <a:xfrm>
            <a:off x="2926080" y="1600200"/>
            <a:ext cx="1234440" cy="274320"/>
          </a:xfrm>
          <a:prstGeom prst="rect">
            <a:avLst/>
          </a:prstGeom>
          <a:noFill/>
        </p:spPr>
        <p:txBody>
          <a:bodyPr wrap="square">
            <a:spAutoFit/>
          </a:bodyPr>
          <a:lstStyle/>
          <a:p>
            <a:pPr algn="ctr"/>
            <a:r>
              <a:rPr sz="1100" b="1">
                <a:solidFill>
                  <a:srgbClr val="0B1F3A"/>
                </a:solidFill>
                <a:latin typeface="Segoe UI"/>
              </a:rPr>
              <a:t>A</a:t>
            </a:r>
          </a:p>
        </p:txBody>
      </p:sp>
      <p:sp>
        <p:nvSpPr>
          <p:cNvPr id="8" name="sevHead1"/>
          <p:cNvSpPr txBox="1"/>
          <p:nvPr/>
        </p:nvSpPr>
        <p:spPr>
          <a:xfrm>
            <a:off x="4160520" y="1600200"/>
            <a:ext cx="1234440" cy="274320"/>
          </a:xfrm>
          <a:prstGeom prst="rect">
            <a:avLst/>
          </a:prstGeom>
          <a:noFill/>
        </p:spPr>
        <p:txBody>
          <a:bodyPr wrap="square">
            <a:spAutoFit/>
          </a:bodyPr>
          <a:lstStyle/>
          <a:p>
            <a:pPr algn="ctr"/>
            <a:r>
              <a:rPr sz="1100" b="1">
                <a:solidFill>
                  <a:srgbClr val="0B1F3A"/>
                </a:solidFill>
                <a:latin typeface="Segoe UI"/>
              </a:rPr>
              <a:t>B</a:t>
            </a:r>
          </a:p>
        </p:txBody>
      </p:sp>
      <p:sp>
        <p:nvSpPr>
          <p:cNvPr id="9" name="sevHead2"/>
          <p:cNvSpPr txBox="1"/>
          <p:nvPr/>
        </p:nvSpPr>
        <p:spPr>
          <a:xfrm>
            <a:off x="5394960" y="1600200"/>
            <a:ext cx="1234440" cy="274320"/>
          </a:xfrm>
          <a:prstGeom prst="rect">
            <a:avLst/>
          </a:prstGeom>
          <a:noFill/>
        </p:spPr>
        <p:txBody>
          <a:bodyPr wrap="square">
            <a:spAutoFit/>
          </a:bodyPr>
          <a:lstStyle/>
          <a:p>
            <a:pPr algn="ctr"/>
            <a:r>
              <a:rPr sz="1100" b="1">
                <a:solidFill>
                  <a:srgbClr val="0B1F3A"/>
                </a:solidFill>
                <a:latin typeface="Segoe UI"/>
              </a:rPr>
              <a:t>C</a:t>
            </a:r>
          </a:p>
        </p:txBody>
      </p:sp>
      <p:sp>
        <p:nvSpPr>
          <p:cNvPr id="10" name="sevHead3"/>
          <p:cNvSpPr txBox="1"/>
          <p:nvPr/>
        </p:nvSpPr>
        <p:spPr>
          <a:xfrm>
            <a:off x="6629400" y="1600200"/>
            <a:ext cx="1234440" cy="274320"/>
          </a:xfrm>
          <a:prstGeom prst="rect">
            <a:avLst/>
          </a:prstGeom>
          <a:noFill/>
        </p:spPr>
        <p:txBody>
          <a:bodyPr wrap="square">
            <a:spAutoFit/>
          </a:bodyPr>
          <a:lstStyle/>
          <a:p>
            <a:pPr algn="ctr"/>
            <a:r>
              <a:rPr sz="1100" b="1">
                <a:solidFill>
                  <a:srgbClr val="0B1F3A"/>
                </a:solidFill>
                <a:latin typeface="Segoe UI"/>
              </a:rPr>
              <a:t>D</a:t>
            </a:r>
          </a:p>
        </p:txBody>
      </p:sp>
      <p:sp>
        <p:nvSpPr>
          <p:cNvPr id="11" name="sevHead4"/>
          <p:cNvSpPr txBox="1"/>
          <p:nvPr/>
        </p:nvSpPr>
        <p:spPr>
          <a:xfrm>
            <a:off x="7863840" y="1600200"/>
            <a:ext cx="1234440" cy="274320"/>
          </a:xfrm>
          <a:prstGeom prst="rect">
            <a:avLst/>
          </a:prstGeom>
          <a:noFill/>
        </p:spPr>
        <p:txBody>
          <a:bodyPr wrap="square">
            <a:spAutoFit/>
          </a:bodyPr>
          <a:lstStyle/>
          <a:p>
            <a:pPr algn="ctr"/>
            <a:r>
              <a:rPr sz="1100" b="1">
                <a:solidFill>
                  <a:srgbClr val="0B1F3A"/>
                </a:solidFill>
                <a:latin typeface="Segoe UI"/>
              </a:rPr>
              <a:t>E</a:t>
            </a:r>
          </a:p>
        </p:txBody>
      </p:sp>
      <p:sp>
        <p:nvSpPr>
          <p:cNvPr id="12" name="probHead0"/>
          <p:cNvSpPr txBox="1"/>
          <p:nvPr/>
        </p:nvSpPr>
        <p:spPr>
          <a:xfrm>
            <a:off x="457200" y="1965960"/>
            <a:ext cx="2286000" cy="411480"/>
          </a:xfrm>
          <a:prstGeom prst="rect">
            <a:avLst/>
          </a:prstGeom>
          <a:noFill/>
        </p:spPr>
        <p:txBody>
          <a:bodyPr wrap="square">
            <a:spAutoFit/>
          </a:bodyPr>
          <a:lstStyle/>
          <a:p>
            <a:pPr algn="l"/>
            <a:r>
              <a:rPr sz="1100" b="1">
                <a:solidFill>
                  <a:srgbClr val="0B1F3A"/>
                </a:solidFill>
                <a:latin typeface="Segoe UI"/>
              </a:rPr>
              <a:t>5  Frequent</a:t>
            </a:r>
          </a:p>
        </p:txBody>
      </p:sp>
      <p:sp>
        <p:nvSpPr>
          <p:cNvPr id="13" name="cell_5A"/>
          <p:cNvSpPr/>
          <p:nvPr/>
        </p:nvSpPr>
        <p:spPr>
          <a:xfrm>
            <a:off x="2962656" y="1865376"/>
            <a:ext cx="1161288" cy="585216"/>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Text_5A"/>
          <p:cNvSpPr txBox="1"/>
          <p:nvPr/>
        </p:nvSpPr>
        <p:spPr>
          <a:xfrm>
            <a:off x="2926080" y="1993392"/>
            <a:ext cx="1234440" cy="365760"/>
          </a:xfrm>
          <a:prstGeom prst="rect">
            <a:avLst/>
          </a:prstGeom>
          <a:noFill/>
        </p:spPr>
        <p:txBody>
          <a:bodyPr wrap="square">
            <a:spAutoFit/>
          </a:bodyPr>
          <a:lstStyle/>
          <a:p>
            <a:pPr algn="ctr"/>
            <a:r>
              <a:rPr sz="1200" b="1">
                <a:solidFill>
                  <a:srgbClr val="FFFFFF"/>
                </a:solidFill>
                <a:latin typeface="Segoe UI"/>
              </a:rPr>
              <a:t>5A</a:t>
            </a:r>
          </a:p>
        </p:txBody>
      </p:sp>
      <p:sp>
        <p:nvSpPr>
          <p:cNvPr id="15" name="cell_5B"/>
          <p:cNvSpPr/>
          <p:nvPr/>
        </p:nvSpPr>
        <p:spPr>
          <a:xfrm>
            <a:off x="4197096" y="1865376"/>
            <a:ext cx="1161288" cy="585216"/>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Text_5B"/>
          <p:cNvSpPr txBox="1"/>
          <p:nvPr/>
        </p:nvSpPr>
        <p:spPr>
          <a:xfrm>
            <a:off x="4160520" y="1993392"/>
            <a:ext cx="1234440" cy="365760"/>
          </a:xfrm>
          <a:prstGeom prst="rect">
            <a:avLst/>
          </a:prstGeom>
          <a:noFill/>
        </p:spPr>
        <p:txBody>
          <a:bodyPr wrap="square">
            <a:spAutoFit/>
          </a:bodyPr>
          <a:lstStyle/>
          <a:p>
            <a:pPr algn="ctr"/>
            <a:r>
              <a:rPr sz="1200" b="1">
                <a:solidFill>
                  <a:srgbClr val="FFFFFF"/>
                </a:solidFill>
                <a:latin typeface="Segoe UI"/>
              </a:rPr>
              <a:t>5B</a:t>
            </a:r>
          </a:p>
        </p:txBody>
      </p:sp>
      <p:sp>
        <p:nvSpPr>
          <p:cNvPr id="17" name="cell_5C"/>
          <p:cNvSpPr/>
          <p:nvPr/>
        </p:nvSpPr>
        <p:spPr>
          <a:xfrm>
            <a:off x="5431536" y="1865376"/>
            <a:ext cx="1161288" cy="585216"/>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Text_5C"/>
          <p:cNvSpPr txBox="1"/>
          <p:nvPr/>
        </p:nvSpPr>
        <p:spPr>
          <a:xfrm>
            <a:off x="5394960" y="1993392"/>
            <a:ext cx="1234440" cy="365760"/>
          </a:xfrm>
          <a:prstGeom prst="rect">
            <a:avLst/>
          </a:prstGeom>
          <a:noFill/>
        </p:spPr>
        <p:txBody>
          <a:bodyPr wrap="square">
            <a:spAutoFit/>
          </a:bodyPr>
          <a:lstStyle/>
          <a:p>
            <a:pPr algn="ctr"/>
            <a:r>
              <a:rPr sz="1200" b="1">
                <a:solidFill>
                  <a:srgbClr val="FFFFFF"/>
                </a:solidFill>
                <a:latin typeface="Segoe UI"/>
              </a:rPr>
              <a:t>5C</a:t>
            </a:r>
          </a:p>
        </p:txBody>
      </p:sp>
      <p:sp>
        <p:nvSpPr>
          <p:cNvPr id="19" name="cell_5D"/>
          <p:cNvSpPr/>
          <p:nvPr/>
        </p:nvSpPr>
        <p:spPr>
          <a:xfrm>
            <a:off x="6665976" y="1865376"/>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ellText_5D"/>
          <p:cNvSpPr txBox="1"/>
          <p:nvPr/>
        </p:nvSpPr>
        <p:spPr>
          <a:xfrm>
            <a:off x="6629400" y="1993392"/>
            <a:ext cx="1234440" cy="365760"/>
          </a:xfrm>
          <a:prstGeom prst="rect">
            <a:avLst/>
          </a:prstGeom>
          <a:noFill/>
        </p:spPr>
        <p:txBody>
          <a:bodyPr wrap="square">
            <a:spAutoFit/>
          </a:bodyPr>
          <a:lstStyle/>
          <a:p>
            <a:pPr algn="ctr"/>
            <a:r>
              <a:rPr sz="1200" b="1">
                <a:solidFill>
                  <a:srgbClr val="FFFFFF"/>
                </a:solidFill>
                <a:latin typeface="Segoe UI"/>
              </a:rPr>
              <a:t>5D</a:t>
            </a:r>
          </a:p>
        </p:txBody>
      </p:sp>
      <p:sp>
        <p:nvSpPr>
          <p:cNvPr id="21" name="cell_5E"/>
          <p:cNvSpPr/>
          <p:nvPr/>
        </p:nvSpPr>
        <p:spPr>
          <a:xfrm>
            <a:off x="7900416" y="1865376"/>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ellText_5E"/>
          <p:cNvSpPr txBox="1"/>
          <p:nvPr/>
        </p:nvSpPr>
        <p:spPr>
          <a:xfrm>
            <a:off x="7863840" y="1993392"/>
            <a:ext cx="1234440" cy="365760"/>
          </a:xfrm>
          <a:prstGeom prst="rect">
            <a:avLst/>
          </a:prstGeom>
          <a:noFill/>
        </p:spPr>
        <p:txBody>
          <a:bodyPr wrap="square">
            <a:spAutoFit/>
          </a:bodyPr>
          <a:lstStyle/>
          <a:p>
            <a:pPr algn="ctr"/>
            <a:r>
              <a:rPr sz="1200" b="1">
                <a:solidFill>
                  <a:srgbClr val="FFFFFF"/>
                </a:solidFill>
                <a:latin typeface="Segoe UI"/>
              </a:rPr>
              <a:t>5E</a:t>
            </a:r>
          </a:p>
        </p:txBody>
      </p:sp>
      <p:sp>
        <p:nvSpPr>
          <p:cNvPr id="23" name="probHead1"/>
          <p:cNvSpPr txBox="1"/>
          <p:nvPr/>
        </p:nvSpPr>
        <p:spPr>
          <a:xfrm>
            <a:off x="457200" y="2624328"/>
            <a:ext cx="2286000" cy="411480"/>
          </a:xfrm>
          <a:prstGeom prst="rect">
            <a:avLst/>
          </a:prstGeom>
          <a:noFill/>
        </p:spPr>
        <p:txBody>
          <a:bodyPr wrap="square">
            <a:spAutoFit/>
          </a:bodyPr>
          <a:lstStyle/>
          <a:p>
            <a:pPr algn="l"/>
            <a:r>
              <a:rPr sz="1100" b="1">
                <a:solidFill>
                  <a:srgbClr val="0B1F3A"/>
                </a:solidFill>
                <a:latin typeface="Segoe UI"/>
              </a:rPr>
              <a:t>4  Occasional</a:t>
            </a:r>
          </a:p>
        </p:txBody>
      </p:sp>
      <p:sp>
        <p:nvSpPr>
          <p:cNvPr id="24" name="cell_4A"/>
          <p:cNvSpPr/>
          <p:nvPr/>
        </p:nvSpPr>
        <p:spPr>
          <a:xfrm>
            <a:off x="2962656" y="2523744"/>
            <a:ext cx="1161288" cy="585216"/>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Text_4A"/>
          <p:cNvSpPr txBox="1"/>
          <p:nvPr/>
        </p:nvSpPr>
        <p:spPr>
          <a:xfrm>
            <a:off x="2926080" y="2651760"/>
            <a:ext cx="1234440" cy="365760"/>
          </a:xfrm>
          <a:prstGeom prst="rect">
            <a:avLst/>
          </a:prstGeom>
          <a:noFill/>
        </p:spPr>
        <p:txBody>
          <a:bodyPr wrap="square">
            <a:spAutoFit/>
          </a:bodyPr>
          <a:lstStyle/>
          <a:p>
            <a:pPr algn="ctr"/>
            <a:r>
              <a:rPr sz="1200" b="1">
                <a:solidFill>
                  <a:srgbClr val="FFFFFF"/>
                </a:solidFill>
                <a:latin typeface="Segoe UI"/>
              </a:rPr>
              <a:t>4A</a:t>
            </a:r>
          </a:p>
        </p:txBody>
      </p:sp>
      <p:sp>
        <p:nvSpPr>
          <p:cNvPr id="26" name="cell_4B"/>
          <p:cNvSpPr/>
          <p:nvPr/>
        </p:nvSpPr>
        <p:spPr>
          <a:xfrm>
            <a:off x="4197096" y="2523744"/>
            <a:ext cx="1161288" cy="585216"/>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Text_4B"/>
          <p:cNvSpPr txBox="1"/>
          <p:nvPr/>
        </p:nvSpPr>
        <p:spPr>
          <a:xfrm>
            <a:off x="4160520" y="2651760"/>
            <a:ext cx="1234440" cy="365760"/>
          </a:xfrm>
          <a:prstGeom prst="rect">
            <a:avLst/>
          </a:prstGeom>
          <a:noFill/>
        </p:spPr>
        <p:txBody>
          <a:bodyPr wrap="square">
            <a:spAutoFit/>
          </a:bodyPr>
          <a:lstStyle/>
          <a:p>
            <a:pPr algn="ctr"/>
            <a:r>
              <a:rPr sz="1200" b="1">
                <a:solidFill>
                  <a:srgbClr val="FFFFFF"/>
                </a:solidFill>
                <a:latin typeface="Segoe UI"/>
              </a:rPr>
              <a:t>4B</a:t>
            </a:r>
          </a:p>
        </p:txBody>
      </p:sp>
      <p:sp>
        <p:nvSpPr>
          <p:cNvPr id="28" name="cell_4C"/>
          <p:cNvSpPr/>
          <p:nvPr/>
        </p:nvSpPr>
        <p:spPr>
          <a:xfrm>
            <a:off x="5431536" y="2523744"/>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ellText_4C"/>
          <p:cNvSpPr txBox="1"/>
          <p:nvPr/>
        </p:nvSpPr>
        <p:spPr>
          <a:xfrm>
            <a:off x="5394960" y="2651760"/>
            <a:ext cx="1234440" cy="365760"/>
          </a:xfrm>
          <a:prstGeom prst="rect">
            <a:avLst/>
          </a:prstGeom>
          <a:noFill/>
        </p:spPr>
        <p:txBody>
          <a:bodyPr wrap="square">
            <a:spAutoFit/>
          </a:bodyPr>
          <a:lstStyle/>
          <a:p>
            <a:pPr algn="ctr"/>
            <a:r>
              <a:rPr sz="1200" b="1">
                <a:solidFill>
                  <a:srgbClr val="FFFFFF"/>
                </a:solidFill>
                <a:latin typeface="Segoe UI"/>
              </a:rPr>
              <a:t>4C</a:t>
            </a:r>
          </a:p>
        </p:txBody>
      </p:sp>
      <p:sp>
        <p:nvSpPr>
          <p:cNvPr id="30" name="cell_4D"/>
          <p:cNvSpPr/>
          <p:nvPr/>
        </p:nvSpPr>
        <p:spPr>
          <a:xfrm>
            <a:off x="6665976" y="2523744"/>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llText_4D"/>
          <p:cNvSpPr txBox="1"/>
          <p:nvPr/>
        </p:nvSpPr>
        <p:spPr>
          <a:xfrm>
            <a:off x="6629400" y="2651760"/>
            <a:ext cx="1234440" cy="365760"/>
          </a:xfrm>
          <a:prstGeom prst="rect">
            <a:avLst/>
          </a:prstGeom>
          <a:noFill/>
        </p:spPr>
        <p:txBody>
          <a:bodyPr wrap="square">
            <a:spAutoFit/>
          </a:bodyPr>
          <a:lstStyle/>
          <a:p>
            <a:pPr algn="ctr"/>
            <a:r>
              <a:rPr sz="1200" b="1">
                <a:solidFill>
                  <a:srgbClr val="FFFFFF"/>
                </a:solidFill>
                <a:latin typeface="Segoe UI"/>
              </a:rPr>
              <a:t>4D</a:t>
            </a:r>
          </a:p>
        </p:txBody>
      </p:sp>
      <p:sp>
        <p:nvSpPr>
          <p:cNvPr id="32" name="cell_4E"/>
          <p:cNvSpPr/>
          <p:nvPr/>
        </p:nvSpPr>
        <p:spPr>
          <a:xfrm>
            <a:off x="7900416" y="2523744"/>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ext_4E"/>
          <p:cNvSpPr txBox="1"/>
          <p:nvPr/>
        </p:nvSpPr>
        <p:spPr>
          <a:xfrm>
            <a:off x="7863840" y="2651760"/>
            <a:ext cx="1234440" cy="365760"/>
          </a:xfrm>
          <a:prstGeom prst="rect">
            <a:avLst/>
          </a:prstGeom>
          <a:noFill/>
        </p:spPr>
        <p:txBody>
          <a:bodyPr wrap="square">
            <a:spAutoFit/>
          </a:bodyPr>
          <a:lstStyle/>
          <a:p>
            <a:pPr algn="ctr"/>
            <a:r>
              <a:rPr sz="1200" b="1">
                <a:solidFill>
                  <a:srgbClr val="FFFFFF"/>
                </a:solidFill>
                <a:latin typeface="Segoe UI"/>
              </a:rPr>
              <a:t>4E</a:t>
            </a:r>
          </a:p>
        </p:txBody>
      </p:sp>
      <p:sp>
        <p:nvSpPr>
          <p:cNvPr id="34" name="probHead2"/>
          <p:cNvSpPr txBox="1"/>
          <p:nvPr/>
        </p:nvSpPr>
        <p:spPr>
          <a:xfrm>
            <a:off x="457200" y="3282696"/>
            <a:ext cx="2286000" cy="411480"/>
          </a:xfrm>
          <a:prstGeom prst="rect">
            <a:avLst/>
          </a:prstGeom>
          <a:noFill/>
        </p:spPr>
        <p:txBody>
          <a:bodyPr wrap="square">
            <a:spAutoFit/>
          </a:bodyPr>
          <a:lstStyle/>
          <a:p>
            <a:pPr algn="l"/>
            <a:r>
              <a:rPr sz="1100" b="1">
                <a:solidFill>
                  <a:srgbClr val="0B1F3A"/>
                </a:solidFill>
                <a:latin typeface="Segoe UI"/>
              </a:rPr>
              <a:t>3  Remote</a:t>
            </a:r>
          </a:p>
        </p:txBody>
      </p:sp>
      <p:sp>
        <p:nvSpPr>
          <p:cNvPr id="35" name="cell_3A"/>
          <p:cNvSpPr/>
          <p:nvPr/>
        </p:nvSpPr>
        <p:spPr>
          <a:xfrm>
            <a:off x="2962656" y="3182112"/>
            <a:ext cx="1161288" cy="585216"/>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Text_3A"/>
          <p:cNvSpPr txBox="1"/>
          <p:nvPr/>
        </p:nvSpPr>
        <p:spPr>
          <a:xfrm>
            <a:off x="2926080" y="3310128"/>
            <a:ext cx="1234440" cy="365760"/>
          </a:xfrm>
          <a:prstGeom prst="rect">
            <a:avLst/>
          </a:prstGeom>
          <a:noFill/>
        </p:spPr>
        <p:txBody>
          <a:bodyPr wrap="square">
            <a:spAutoFit/>
          </a:bodyPr>
          <a:lstStyle/>
          <a:p>
            <a:pPr algn="ctr"/>
            <a:r>
              <a:rPr sz="1200" b="1">
                <a:solidFill>
                  <a:srgbClr val="FFFFFF"/>
                </a:solidFill>
                <a:latin typeface="Segoe UI"/>
              </a:rPr>
              <a:t>3A</a:t>
            </a:r>
          </a:p>
        </p:txBody>
      </p:sp>
      <p:sp>
        <p:nvSpPr>
          <p:cNvPr id="37" name="cell_3B"/>
          <p:cNvSpPr/>
          <p:nvPr/>
        </p:nvSpPr>
        <p:spPr>
          <a:xfrm>
            <a:off x="4197096" y="3182112"/>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ellText_3B"/>
          <p:cNvSpPr txBox="1"/>
          <p:nvPr/>
        </p:nvSpPr>
        <p:spPr>
          <a:xfrm>
            <a:off x="4160520" y="3310128"/>
            <a:ext cx="1234440" cy="365760"/>
          </a:xfrm>
          <a:prstGeom prst="rect">
            <a:avLst/>
          </a:prstGeom>
          <a:noFill/>
        </p:spPr>
        <p:txBody>
          <a:bodyPr wrap="square">
            <a:spAutoFit/>
          </a:bodyPr>
          <a:lstStyle/>
          <a:p>
            <a:pPr algn="ctr"/>
            <a:r>
              <a:rPr sz="1200" b="1">
                <a:solidFill>
                  <a:srgbClr val="FFFFFF"/>
                </a:solidFill>
                <a:latin typeface="Segoe UI"/>
              </a:rPr>
              <a:t>3B</a:t>
            </a:r>
          </a:p>
        </p:txBody>
      </p:sp>
      <p:sp>
        <p:nvSpPr>
          <p:cNvPr id="39" name="cell_3C"/>
          <p:cNvSpPr/>
          <p:nvPr/>
        </p:nvSpPr>
        <p:spPr>
          <a:xfrm>
            <a:off x="5431536" y="3182112"/>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ellText_3C"/>
          <p:cNvSpPr txBox="1"/>
          <p:nvPr/>
        </p:nvSpPr>
        <p:spPr>
          <a:xfrm>
            <a:off x="5394960" y="3310128"/>
            <a:ext cx="1234440" cy="365760"/>
          </a:xfrm>
          <a:prstGeom prst="rect">
            <a:avLst/>
          </a:prstGeom>
          <a:noFill/>
        </p:spPr>
        <p:txBody>
          <a:bodyPr wrap="square">
            <a:spAutoFit/>
          </a:bodyPr>
          <a:lstStyle/>
          <a:p>
            <a:pPr algn="ctr"/>
            <a:r>
              <a:rPr sz="1200" b="1">
                <a:solidFill>
                  <a:srgbClr val="FFFFFF"/>
                </a:solidFill>
                <a:latin typeface="Segoe UI"/>
              </a:rPr>
              <a:t>3C</a:t>
            </a:r>
          </a:p>
        </p:txBody>
      </p:sp>
      <p:sp>
        <p:nvSpPr>
          <p:cNvPr id="41" name="cell_3D"/>
          <p:cNvSpPr/>
          <p:nvPr/>
        </p:nvSpPr>
        <p:spPr>
          <a:xfrm>
            <a:off x="6665976" y="3182112"/>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ellText_3D"/>
          <p:cNvSpPr txBox="1"/>
          <p:nvPr/>
        </p:nvSpPr>
        <p:spPr>
          <a:xfrm>
            <a:off x="6629400" y="3310128"/>
            <a:ext cx="1234440" cy="365760"/>
          </a:xfrm>
          <a:prstGeom prst="rect">
            <a:avLst/>
          </a:prstGeom>
          <a:noFill/>
        </p:spPr>
        <p:txBody>
          <a:bodyPr wrap="square">
            <a:spAutoFit/>
          </a:bodyPr>
          <a:lstStyle/>
          <a:p>
            <a:pPr algn="ctr"/>
            <a:r>
              <a:rPr sz="1200" b="1">
                <a:solidFill>
                  <a:srgbClr val="FFFFFF"/>
                </a:solidFill>
                <a:latin typeface="Segoe UI"/>
              </a:rPr>
              <a:t>3D</a:t>
            </a:r>
          </a:p>
        </p:txBody>
      </p:sp>
      <p:sp>
        <p:nvSpPr>
          <p:cNvPr id="43" name="cell_3E"/>
          <p:cNvSpPr/>
          <p:nvPr/>
        </p:nvSpPr>
        <p:spPr>
          <a:xfrm>
            <a:off x="7900416" y="3182112"/>
            <a:ext cx="1161288" cy="585216"/>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Text_3E"/>
          <p:cNvSpPr txBox="1"/>
          <p:nvPr/>
        </p:nvSpPr>
        <p:spPr>
          <a:xfrm>
            <a:off x="7863840" y="3310128"/>
            <a:ext cx="1234440" cy="365760"/>
          </a:xfrm>
          <a:prstGeom prst="rect">
            <a:avLst/>
          </a:prstGeom>
          <a:noFill/>
        </p:spPr>
        <p:txBody>
          <a:bodyPr wrap="square">
            <a:spAutoFit/>
          </a:bodyPr>
          <a:lstStyle/>
          <a:p>
            <a:pPr algn="ctr"/>
            <a:r>
              <a:rPr sz="1200" b="1">
                <a:solidFill>
                  <a:srgbClr val="FFFFFF"/>
                </a:solidFill>
                <a:latin typeface="Segoe UI"/>
              </a:rPr>
              <a:t>3E</a:t>
            </a:r>
          </a:p>
        </p:txBody>
      </p:sp>
      <p:sp>
        <p:nvSpPr>
          <p:cNvPr id="45" name="probHead3"/>
          <p:cNvSpPr txBox="1"/>
          <p:nvPr/>
        </p:nvSpPr>
        <p:spPr>
          <a:xfrm>
            <a:off x="457200" y="3941064"/>
            <a:ext cx="2286000" cy="411480"/>
          </a:xfrm>
          <a:prstGeom prst="rect">
            <a:avLst/>
          </a:prstGeom>
          <a:noFill/>
        </p:spPr>
        <p:txBody>
          <a:bodyPr wrap="square">
            <a:spAutoFit/>
          </a:bodyPr>
          <a:lstStyle/>
          <a:p>
            <a:pPr algn="l"/>
            <a:r>
              <a:rPr sz="1100" b="1">
                <a:solidFill>
                  <a:srgbClr val="0B1F3A"/>
                </a:solidFill>
                <a:latin typeface="Segoe UI"/>
              </a:rPr>
              <a:t>2  Improbable</a:t>
            </a:r>
          </a:p>
        </p:txBody>
      </p:sp>
      <p:sp>
        <p:nvSpPr>
          <p:cNvPr id="46" name="cell_2A"/>
          <p:cNvSpPr/>
          <p:nvPr/>
        </p:nvSpPr>
        <p:spPr>
          <a:xfrm>
            <a:off x="2962656" y="3840480"/>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ellText_2A"/>
          <p:cNvSpPr txBox="1"/>
          <p:nvPr/>
        </p:nvSpPr>
        <p:spPr>
          <a:xfrm>
            <a:off x="2926080" y="3968496"/>
            <a:ext cx="1234440" cy="365760"/>
          </a:xfrm>
          <a:prstGeom prst="rect">
            <a:avLst/>
          </a:prstGeom>
          <a:noFill/>
        </p:spPr>
        <p:txBody>
          <a:bodyPr wrap="square">
            <a:spAutoFit/>
          </a:bodyPr>
          <a:lstStyle/>
          <a:p>
            <a:pPr algn="ctr"/>
            <a:r>
              <a:rPr sz="1200" b="1">
                <a:solidFill>
                  <a:srgbClr val="FFFFFF"/>
                </a:solidFill>
                <a:latin typeface="Segoe UI"/>
              </a:rPr>
              <a:t>2A</a:t>
            </a:r>
          </a:p>
        </p:txBody>
      </p:sp>
      <p:sp>
        <p:nvSpPr>
          <p:cNvPr id="48" name="cell_2B"/>
          <p:cNvSpPr/>
          <p:nvPr/>
        </p:nvSpPr>
        <p:spPr>
          <a:xfrm>
            <a:off x="4197096" y="3840480"/>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ellText_2B"/>
          <p:cNvSpPr txBox="1"/>
          <p:nvPr/>
        </p:nvSpPr>
        <p:spPr>
          <a:xfrm>
            <a:off x="4160520" y="3968496"/>
            <a:ext cx="1234440" cy="365760"/>
          </a:xfrm>
          <a:prstGeom prst="rect">
            <a:avLst/>
          </a:prstGeom>
          <a:noFill/>
        </p:spPr>
        <p:txBody>
          <a:bodyPr wrap="square">
            <a:spAutoFit/>
          </a:bodyPr>
          <a:lstStyle/>
          <a:p>
            <a:pPr algn="ctr"/>
            <a:r>
              <a:rPr sz="1200" b="1">
                <a:solidFill>
                  <a:srgbClr val="FFFFFF"/>
                </a:solidFill>
                <a:latin typeface="Segoe UI"/>
              </a:rPr>
              <a:t>2B</a:t>
            </a:r>
          </a:p>
        </p:txBody>
      </p:sp>
      <p:sp>
        <p:nvSpPr>
          <p:cNvPr id="50" name="cell_2C"/>
          <p:cNvSpPr/>
          <p:nvPr/>
        </p:nvSpPr>
        <p:spPr>
          <a:xfrm>
            <a:off x="5431536" y="3840480"/>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ellText_2C"/>
          <p:cNvSpPr txBox="1"/>
          <p:nvPr/>
        </p:nvSpPr>
        <p:spPr>
          <a:xfrm>
            <a:off x="5394960" y="3968496"/>
            <a:ext cx="1234440" cy="365760"/>
          </a:xfrm>
          <a:prstGeom prst="rect">
            <a:avLst/>
          </a:prstGeom>
          <a:noFill/>
        </p:spPr>
        <p:txBody>
          <a:bodyPr wrap="square">
            <a:spAutoFit/>
          </a:bodyPr>
          <a:lstStyle/>
          <a:p>
            <a:pPr algn="ctr"/>
            <a:r>
              <a:rPr sz="1200" b="1">
                <a:solidFill>
                  <a:srgbClr val="FFFFFF"/>
                </a:solidFill>
                <a:latin typeface="Segoe UI"/>
              </a:rPr>
              <a:t>2C</a:t>
            </a:r>
          </a:p>
        </p:txBody>
      </p:sp>
      <p:sp>
        <p:nvSpPr>
          <p:cNvPr id="52" name="cell_2D"/>
          <p:cNvSpPr/>
          <p:nvPr/>
        </p:nvSpPr>
        <p:spPr>
          <a:xfrm>
            <a:off x="6665976" y="3840480"/>
            <a:ext cx="1161288" cy="585216"/>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ellText_2D"/>
          <p:cNvSpPr txBox="1"/>
          <p:nvPr/>
        </p:nvSpPr>
        <p:spPr>
          <a:xfrm>
            <a:off x="6629400" y="3968496"/>
            <a:ext cx="1234440" cy="365760"/>
          </a:xfrm>
          <a:prstGeom prst="rect">
            <a:avLst/>
          </a:prstGeom>
          <a:noFill/>
        </p:spPr>
        <p:txBody>
          <a:bodyPr wrap="square">
            <a:spAutoFit/>
          </a:bodyPr>
          <a:lstStyle/>
          <a:p>
            <a:pPr algn="ctr"/>
            <a:r>
              <a:rPr sz="1200" b="1">
                <a:solidFill>
                  <a:srgbClr val="FFFFFF"/>
                </a:solidFill>
                <a:latin typeface="Segoe UI"/>
              </a:rPr>
              <a:t>2D</a:t>
            </a:r>
          </a:p>
        </p:txBody>
      </p:sp>
      <p:sp>
        <p:nvSpPr>
          <p:cNvPr id="54" name="cell_2E"/>
          <p:cNvSpPr/>
          <p:nvPr/>
        </p:nvSpPr>
        <p:spPr>
          <a:xfrm>
            <a:off x="7900416" y="3840480"/>
            <a:ext cx="1161288" cy="585216"/>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ellText_2E"/>
          <p:cNvSpPr txBox="1"/>
          <p:nvPr/>
        </p:nvSpPr>
        <p:spPr>
          <a:xfrm>
            <a:off x="7863840" y="3968496"/>
            <a:ext cx="1234440" cy="365760"/>
          </a:xfrm>
          <a:prstGeom prst="rect">
            <a:avLst/>
          </a:prstGeom>
          <a:noFill/>
        </p:spPr>
        <p:txBody>
          <a:bodyPr wrap="square">
            <a:spAutoFit/>
          </a:bodyPr>
          <a:lstStyle/>
          <a:p>
            <a:pPr algn="ctr"/>
            <a:r>
              <a:rPr sz="1200" b="1">
                <a:solidFill>
                  <a:srgbClr val="FFFFFF"/>
                </a:solidFill>
                <a:latin typeface="Segoe UI"/>
              </a:rPr>
              <a:t>2E</a:t>
            </a:r>
          </a:p>
        </p:txBody>
      </p:sp>
      <p:sp>
        <p:nvSpPr>
          <p:cNvPr id="56" name="probHead4"/>
          <p:cNvSpPr txBox="1"/>
          <p:nvPr/>
        </p:nvSpPr>
        <p:spPr>
          <a:xfrm>
            <a:off x="457200" y="4599432"/>
            <a:ext cx="2286000" cy="411480"/>
          </a:xfrm>
          <a:prstGeom prst="rect">
            <a:avLst/>
          </a:prstGeom>
          <a:noFill/>
        </p:spPr>
        <p:txBody>
          <a:bodyPr wrap="square">
            <a:spAutoFit/>
          </a:bodyPr>
          <a:lstStyle/>
          <a:p>
            <a:pPr algn="l"/>
            <a:r>
              <a:rPr sz="1100" b="1">
                <a:solidFill>
                  <a:srgbClr val="0B1F3A"/>
                </a:solidFill>
                <a:latin typeface="Segoe UI"/>
              </a:rPr>
              <a:t>1  Ext. Improb.</a:t>
            </a:r>
          </a:p>
        </p:txBody>
      </p:sp>
      <p:sp>
        <p:nvSpPr>
          <p:cNvPr id="57" name="cell_1A"/>
          <p:cNvSpPr/>
          <p:nvPr/>
        </p:nvSpPr>
        <p:spPr>
          <a:xfrm>
            <a:off x="2962656" y="4498848"/>
            <a:ext cx="1161288" cy="585216"/>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ellText_1A"/>
          <p:cNvSpPr txBox="1"/>
          <p:nvPr/>
        </p:nvSpPr>
        <p:spPr>
          <a:xfrm>
            <a:off x="2926080" y="4626864"/>
            <a:ext cx="1234440" cy="365760"/>
          </a:xfrm>
          <a:prstGeom prst="rect">
            <a:avLst/>
          </a:prstGeom>
          <a:noFill/>
        </p:spPr>
        <p:txBody>
          <a:bodyPr wrap="square">
            <a:spAutoFit/>
          </a:bodyPr>
          <a:lstStyle/>
          <a:p>
            <a:pPr algn="ctr"/>
            <a:r>
              <a:rPr sz="1200" b="1">
                <a:solidFill>
                  <a:srgbClr val="FFFFFF"/>
                </a:solidFill>
                <a:latin typeface="Segoe UI"/>
              </a:rPr>
              <a:t>1A</a:t>
            </a:r>
          </a:p>
        </p:txBody>
      </p:sp>
      <p:sp>
        <p:nvSpPr>
          <p:cNvPr id="59" name="cell_1B"/>
          <p:cNvSpPr/>
          <p:nvPr/>
        </p:nvSpPr>
        <p:spPr>
          <a:xfrm>
            <a:off x="4197096" y="4498848"/>
            <a:ext cx="1161288" cy="585216"/>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ellText_1B"/>
          <p:cNvSpPr txBox="1"/>
          <p:nvPr/>
        </p:nvSpPr>
        <p:spPr>
          <a:xfrm>
            <a:off x="4160520" y="4626864"/>
            <a:ext cx="1234440" cy="365760"/>
          </a:xfrm>
          <a:prstGeom prst="rect">
            <a:avLst/>
          </a:prstGeom>
          <a:noFill/>
        </p:spPr>
        <p:txBody>
          <a:bodyPr wrap="square">
            <a:spAutoFit/>
          </a:bodyPr>
          <a:lstStyle/>
          <a:p>
            <a:pPr algn="ctr"/>
            <a:r>
              <a:rPr sz="1200" b="1">
                <a:solidFill>
                  <a:srgbClr val="FFFFFF"/>
                </a:solidFill>
                <a:latin typeface="Segoe UI"/>
              </a:rPr>
              <a:t>1B</a:t>
            </a:r>
          </a:p>
        </p:txBody>
      </p:sp>
      <p:sp>
        <p:nvSpPr>
          <p:cNvPr id="61" name="cell_1C"/>
          <p:cNvSpPr/>
          <p:nvPr/>
        </p:nvSpPr>
        <p:spPr>
          <a:xfrm>
            <a:off x="5431536" y="4498848"/>
            <a:ext cx="1161288" cy="585216"/>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ellText_1C"/>
          <p:cNvSpPr txBox="1"/>
          <p:nvPr/>
        </p:nvSpPr>
        <p:spPr>
          <a:xfrm>
            <a:off x="5394960" y="4626864"/>
            <a:ext cx="1234440" cy="365760"/>
          </a:xfrm>
          <a:prstGeom prst="rect">
            <a:avLst/>
          </a:prstGeom>
          <a:noFill/>
        </p:spPr>
        <p:txBody>
          <a:bodyPr wrap="square">
            <a:spAutoFit/>
          </a:bodyPr>
          <a:lstStyle/>
          <a:p>
            <a:pPr algn="ctr"/>
            <a:r>
              <a:rPr sz="1200" b="1">
                <a:solidFill>
                  <a:srgbClr val="FFFFFF"/>
                </a:solidFill>
                <a:latin typeface="Segoe UI"/>
              </a:rPr>
              <a:t>1C</a:t>
            </a:r>
          </a:p>
        </p:txBody>
      </p:sp>
      <p:sp>
        <p:nvSpPr>
          <p:cNvPr id="63" name="cell_1D"/>
          <p:cNvSpPr/>
          <p:nvPr/>
        </p:nvSpPr>
        <p:spPr>
          <a:xfrm>
            <a:off x="6665976" y="4498848"/>
            <a:ext cx="1161288" cy="585216"/>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ellText_1D"/>
          <p:cNvSpPr txBox="1"/>
          <p:nvPr/>
        </p:nvSpPr>
        <p:spPr>
          <a:xfrm>
            <a:off x="6629400" y="4626864"/>
            <a:ext cx="1234440" cy="365760"/>
          </a:xfrm>
          <a:prstGeom prst="rect">
            <a:avLst/>
          </a:prstGeom>
          <a:noFill/>
        </p:spPr>
        <p:txBody>
          <a:bodyPr wrap="square">
            <a:spAutoFit/>
          </a:bodyPr>
          <a:lstStyle/>
          <a:p>
            <a:pPr algn="ctr"/>
            <a:r>
              <a:rPr sz="1200" b="1">
                <a:solidFill>
                  <a:srgbClr val="FFFFFF"/>
                </a:solidFill>
                <a:latin typeface="Segoe UI"/>
              </a:rPr>
              <a:t>1D</a:t>
            </a:r>
          </a:p>
        </p:txBody>
      </p:sp>
      <p:sp>
        <p:nvSpPr>
          <p:cNvPr id="65" name="cell_1E"/>
          <p:cNvSpPr/>
          <p:nvPr/>
        </p:nvSpPr>
        <p:spPr>
          <a:xfrm>
            <a:off x="7900416" y="4498848"/>
            <a:ext cx="1161288" cy="585216"/>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ellText_1E"/>
          <p:cNvSpPr txBox="1"/>
          <p:nvPr/>
        </p:nvSpPr>
        <p:spPr>
          <a:xfrm>
            <a:off x="7863840" y="4626864"/>
            <a:ext cx="1234440" cy="365760"/>
          </a:xfrm>
          <a:prstGeom prst="rect">
            <a:avLst/>
          </a:prstGeom>
          <a:noFill/>
        </p:spPr>
        <p:txBody>
          <a:bodyPr wrap="square">
            <a:spAutoFit/>
          </a:bodyPr>
          <a:lstStyle/>
          <a:p>
            <a:pPr algn="ctr"/>
            <a:r>
              <a:rPr sz="1200" b="1">
                <a:solidFill>
                  <a:srgbClr val="FFFFFF"/>
                </a:solidFill>
                <a:latin typeface="Segoe UI"/>
              </a:rPr>
              <a:t>1E</a:t>
            </a:r>
          </a:p>
        </p:txBody>
      </p:sp>
      <p:sp>
        <p:nvSpPr>
          <p:cNvPr id="67" name="legend0"/>
          <p:cNvSpPr/>
          <p:nvPr/>
        </p:nvSpPr>
        <p:spPr>
          <a:xfrm>
            <a:off x="9418320" y="2011680"/>
            <a:ext cx="2286000" cy="8229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egendText0"/>
          <p:cNvSpPr txBox="1"/>
          <p:nvPr/>
        </p:nvSpPr>
        <p:spPr>
          <a:xfrm>
            <a:off x="9418320" y="2240280"/>
            <a:ext cx="2286000" cy="365760"/>
          </a:xfrm>
          <a:prstGeom prst="rect">
            <a:avLst/>
          </a:prstGeom>
          <a:noFill/>
        </p:spPr>
        <p:txBody>
          <a:bodyPr wrap="square">
            <a:spAutoFit/>
          </a:bodyPr>
          <a:lstStyle/>
          <a:p>
            <a:pPr algn="ctr"/>
            <a:r>
              <a:rPr sz="1200" b="1">
                <a:solidFill>
                  <a:srgbClr val="FFFFFF"/>
                </a:solidFill>
                <a:latin typeface="Segoe UI"/>
              </a:rPr>
              <a:t>INTOLERABLE</a:t>
            </a:r>
          </a:p>
        </p:txBody>
      </p:sp>
      <p:sp>
        <p:nvSpPr>
          <p:cNvPr id="69" name="legend1"/>
          <p:cNvSpPr/>
          <p:nvPr/>
        </p:nvSpPr>
        <p:spPr>
          <a:xfrm>
            <a:off x="9418320" y="3017520"/>
            <a:ext cx="2286000" cy="82296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egendText1"/>
          <p:cNvSpPr txBox="1"/>
          <p:nvPr/>
        </p:nvSpPr>
        <p:spPr>
          <a:xfrm>
            <a:off x="9418320" y="3246120"/>
            <a:ext cx="2286000" cy="365760"/>
          </a:xfrm>
          <a:prstGeom prst="rect">
            <a:avLst/>
          </a:prstGeom>
          <a:noFill/>
        </p:spPr>
        <p:txBody>
          <a:bodyPr wrap="square">
            <a:spAutoFit/>
          </a:bodyPr>
          <a:lstStyle/>
          <a:p>
            <a:pPr algn="ctr"/>
            <a:r>
              <a:rPr sz="1200" b="1">
                <a:solidFill>
                  <a:srgbClr val="FFFFFF"/>
                </a:solidFill>
                <a:latin typeface="Segoe UI"/>
              </a:rPr>
              <a:t>TOLERABLE</a:t>
            </a:r>
          </a:p>
        </p:txBody>
      </p:sp>
      <p:sp>
        <p:nvSpPr>
          <p:cNvPr id="71" name="legend2"/>
          <p:cNvSpPr/>
          <p:nvPr/>
        </p:nvSpPr>
        <p:spPr>
          <a:xfrm>
            <a:off x="9418320" y="4023360"/>
            <a:ext cx="2286000" cy="82296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egendText2"/>
          <p:cNvSpPr txBox="1"/>
          <p:nvPr/>
        </p:nvSpPr>
        <p:spPr>
          <a:xfrm>
            <a:off x="9418320" y="4251960"/>
            <a:ext cx="2286000" cy="365760"/>
          </a:xfrm>
          <a:prstGeom prst="rect">
            <a:avLst/>
          </a:prstGeom>
          <a:noFill/>
        </p:spPr>
        <p:txBody>
          <a:bodyPr wrap="square">
            <a:spAutoFit/>
          </a:bodyPr>
          <a:lstStyle/>
          <a:p>
            <a:pPr algn="ctr"/>
            <a:r>
              <a:rPr sz="1200" b="1">
                <a:solidFill>
                  <a:srgbClr val="FFFFFF"/>
                </a:solidFill>
                <a:latin typeface="Segoe UI"/>
              </a:rPr>
              <a:t>ACCEPTABLE</a:t>
            </a:r>
          </a:p>
        </p:txBody>
      </p:sp>
      <p:sp>
        <p:nvSpPr>
          <p:cNvPr id="73" name="matrixNote"/>
          <p:cNvSpPr txBox="1"/>
          <p:nvPr/>
        </p:nvSpPr>
        <p:spPr>
          <a:xfrm>
            <a:off x="640080" y="5623560"/>
            <a:ext cx="10972800" cy="640080"/>
          </a:xfrm>
          <a:prstGeom prst="rect">
            <a:avLst/>
          </a:prstGeom>
          <a:noFill/>
        </p:spPr>
        <p:txBody>
          <a:bodyPr wrap="square">
            <a:spAutoFit/>
          </a:bodyPr>
          <a:lstStyle/>
          <a:p>
            <a:pPr algn="ctr"/>
            <a:r>
              <a:rPr sz="1100" b="0">
                <a:solidFill>
                  <a:srgbClr val="5A6B7D"/>
                </a:solidFill>
                <a:latin typeface="Segoe UI"/>
              </a:rPr>
              <a:t>Note — In determining the safety risk tolerability, the quality and reliability of the data used for the hazard identification and safety risk probability should be taken into consideration.</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56"/>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112"/>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16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224"/>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336"/>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392"/>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448"/>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504"/>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56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616"/>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672"/>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728"/>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784"/>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84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896"/>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952"/>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1008"/>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1064"/>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112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1176"/>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1232"/>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1288"/>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1344"/>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140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1456"/>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1512"/>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grpId="0" nodeType="withEffect">
                                  <p:stCondLst>
                                    <p:cond delay="1568"/>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1624"/>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168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par>
                                <p:cTn id="98" presetID="10" presetClass="entr" presetSubtype="0" fill="hold" grpId="0" nodeType="withEffect">
                                  <p:stCondLst>
                                    <p:cond delay="1736"/>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par>
                                <p:cTn id="101" presetID="10" presetClass="entr" presetSubtype="0" fill="hold" grpId="0" nodeType="withEffect">
                                  <p:stCondLst>
                                    <p:cond delay="1792"/>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500"/>
                                        <p:tgtEl>
                                          <p:spTgt spid="35"/>
                                        </p:tgtEl>
                                      </p:cBhvr>
                                    </p:animEffect>
                                  </p:childTnLst>
                                </p:cTn>
                              </p:par>
                              <p:par>
                                <p:cTn id="104" presetID="10" presetClass="entr" presetSubtype="0" fill="hold" grpId="0" nodeType="withEffect">
                                  <p:stCondLst>
                                    <p:cond delay="1848"/>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500"/>
                                        <p:tgtEl>
                                          <p:spTgt spid="36"/>
                                        </p:tgtEl>
                                      </p:cBhvr>
                                    </p:animEffect>
                                  </p:childTnLst>
                                </p:cTn>
                              </p:par>
                              <p:par>
                                <p:cTn id="107" presetID="10" presetClass="entr" presetSubtype="0" fill="hold" grpId="0" nodeType="withEffect">
                                  <p:stCondLst>
                                    <p:cond delay="1904"/>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par>
                                <p:cTn id="110" presetID="10" presetClass="entr" presetSubtype="0" fill="hold" grpId="0" nodeType="withEffect">
                                  <p:stCondLst>
                                    <p:cond delay="196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par>
                                <p:cTn id="113" presetID="10" presetClass="entr" presetSubtype="0" fill="hold" grpId="0" nodeType="withEffect">
                                  <p:stCondLst>
                                    <p:cond delay="2016"/>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500"/>
                                        <p:tgtEl>
                                          <p:spTgt spid="39"/>
                                        </p:tgtEl>
                                      </p:cBhvr>
                                    </p:animEffect>
                                  </p:childTnLst>
                                </p:cTn>
                              </p:par>
                              <p:par>
                                <p:cTn id="116" presetID="10" presetClass="entr" presetSubtype="0" fill="hold" grpId="0" nodeType="withEffect">
                                  <p:stCondLst>
                                    <p:cond delay="2072"/>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500"/>
                                        <p:tgtEl>
                                          <p:spTgt spid="40"/>
                                        </p:tgtEl>
                                      </p:cBhvr>
                                    </p:animEffect>
                                  </p:childTnLst>
                                </p:cTn>
                              </p:par>
                              <p:par>
                                <p:cTn id="119" presetID="10" presetClass="entr" presetSubtype="0" fill="hold" grpId="0" nodeType="withEffect">
                                  <p:stCondLst>
                                    <p:cond delay="2128"/>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500"/>
                                        <p:tgtEl>
                                          <p:spTgt spid="41"/>
                                        </p:tgtEl>
                                      </p:cBhvr>
                                    </p:animEffect>
                                  </p:childTnLst>
                                </p:cTn>
                              </p:par>
                              <p:par>
                                <p:cTn id="122" presetID="10" presetClass="entr" presetSubtype="0" fill="hold" grpId="0" nodeType="withEffect">
                                  <p:stCondLst>
                                    <p:cond delay="2184"/>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500"/>
                                        <p:tgtEl>
                                          <p:spTgt spid="42"/>
                                        </p:tgtEl>
                                      </p:cBhvr>
                                    </p:animEffect>
                                  </p:childTnLst>
                                </p:cTn>
                              </p:par>
                              <p:par>
                                <p:cTn id="125" presetID="10" presetClass="entr" presetSubtype="0" fill="hold" grpId="0" nodeType="withEffect">
                                  <p:stCondLst>
                                    <p:cond delay="2240"/>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500"/>
                                        <p:tgtEl>
                                          <p:spTgt spid="43"/>
                                        </p:tgtEl>
                                      </p:cBhvr>
                                    </p:animEffect>
                                  </p:childTnLst>
                                </p:cTn>
                              </p:par>
                              <p:par>
                                <p:cTn id="128" presetID="10" presetClass="entr" presetSubtype="0" fill="hold" grpId="0" nodeType="withEffect">
                                  <p:stCondLst>
                                    <p:cond delay="2296"/>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500"/>
                                        <p:tgtEl>
                                          <p:spTgt spid="44"/>
                                        </p:tgtEl>
                                      </p:cBhvr>
                                    </p:animEffect>
                                  </p:childTnLst>
                                </p:cTn>
                              </p:par>
                              <p:par>
                                <p:cTn id="131" presetID="10" presetClass="entr" presetSubtype="0" fill="hold" grpId="0" nodeType="withEffect">
                                  <p:stCondLst>
                                    <p:cond delay="2352"/>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500"/>
                                        <p:tgtEl>
                                          <p:spTgt spid="45"/>
                                        </p:tgtEl>
                                      </p:cBhvr>
                                    </p:animEffect>
                                  </p:childTnLst>
                                </p:cTn>
                              </p:par>
                              <p:par>
                                <p:cTn id="134" presetID="10" presetClass="entr" presetSubtype="0" fill="hold" grpId="0" nodeType="withEffect">
                                  <p:stCondLst>
                                    <p:cond delay="2408"/>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500"/>
                                        <p:tgtEl>
                                          <p:spTgt spid="46"/>
                                        </p:tgtEl>
                                      </p:cBhvr>
                                    </p:animEffect>
                                  </p:childTnLst>
                                </p:cTn>
                              </p:par>
                              <p:par>
                                <p:cTn id="137" presetID="10" presetClass="entr" presetSubtype="0" fill="hold" grpId="0" nodeType="withEffect">
                                  <p:stCondLst>
                                    <p:cond delay="2464"/>
                                  </p:stCondLst>
                                  <p:childTnLst>
                                    <p:set>
                                      <p:cBhvr>
                                        <p:cTn id="138" dur="1" fill="hold">
                                          <p:stCondLst>
                                            <p:cond delay="0"/>
                                          </p:stCondLst>
                                        </p:cTn>
                                        <p:tgtEl>
                                          <p:spTgt spid="47"/>
                                        </p:tgtEl>
                                        <p:attrNameLst>
                                          <p:attrName>style.visibility</p:attrName>
                                        </p:attrNameLst>
                                      </p:cBhvr>
                                      <p:to>
                                        <p:strVal val="visible"/>
                                      </p:to>
                                    </p:set>
                                    <p:animEffect transition="in" filter="fade">
                                      <p:cBhvr>
                                        <p:cTn id="139" dur="500"/>
                                        <p:tgtEl>
                                          <p:spTgt spid="47"/>
                                        </p:tgtEl>
                                      </p:cBhvr>
                                    </p:animEffect>
                                  </p:childTnLst>
                                </p:cTn>
                              </p:par>
                              <p:par>
                                <p:cTn id="140" presetID="10" presetClass="entr" presetSubtype="0" fill="hold" grpId="0" nodeType="withEffect">
                                  <p:stCondLst>
                                    <p:cond delay="2520"/>
                                  </p:stCondLst>
                                  <p:childTnLst>
                                    <p:set>
                                      <p:cBhvr>
                                        <p:cTn id="141" dur="1" fill="hold">
                                          <p:stCondLst>
                                            <p:cond delay="0"/>
                                          </p:stCondLst>
                                        </p:cTn>
                                        <p:tgtEl>
                                          <p:spTgt spid="48"/>
                                        </p:tgtEl>
                                        <p:attrNameLst>
                                          <p:attrName>style.visibility</p:attrName>
                                        </p:attrNameLst>
                                      </p:cBhvr>
                                      <p:to>
                                        <p:strVal val="visible"/>
                                      </p:to>
                                    </p:set>
                                    <p:animEffect transition="in" filter="fade">
                                      <p:cBhvr>
                                        <p:cTn id="142" dur="500"/>
                                        <p:tgtEl>
                                          <p:spTgt spid="48"/>
                                        </p:tgtEl>
                                      </p:cBhvr>
                                    </p:animEffect>
                                  </p:childTnLst>
                                </p:cTn>
                              </p:par>
                              <p:par>
                                <p:cTn id="143" presetID="10" presetClass="entr" presetSubtype="0" fill="hold" grpId="0" nodeType="withEffect">
                                  <p:stCondLst>
                                    <p:cond delay="2576"/>
                                  </p:stCondLst>
                                  <p:childTnLst>
                                    <p:set>
                                      <p:cBhvr>
                                        <p:cTn id="144" dur="1" fill="hold">
                                          <p:stCondLst>
                                            <p:cond delay="0"/>
                                          </p:stCondLst>
                                        </p:cTn>
                                        <p:tgtEl>
                                          <p:spTgt spid="49"/>
                                        </p:tgtEl>
                                        <p:attrNameLst>
                                          <p:attrName>style.visibility</p:attrName>
                                        </p:attrNameLst>
                                      </p:cBhvr>
                                      <p:to>
                                        <p:strVal val="visible"/>
                                      </p:to>
                                    </p:set>
                                    <p:animEffect transition="in" filter="fade">
                                      <p:cBhvr>
                                        <p:cTn id="145" dur="500"/>
                                        <p:tgtEl>
                                          <p:spTgt spid="49"/>
                                        </p:tgtEl>
                                      </p:cBhvr>
                                    </p:animEffect>
                                  </p:childTnLst>
                                </p:cTn>
                              </p:par>
                              <p:par>
                                <p:cTn id="146" presetID="10" presetClass="entr" presetSubtype="0" fill="hold" grpId="0" nodeType="withEffect">
                                  <p:stCondLst>
                                    <p:cond delay="2632"/>
                                  </p:stCondLst>
                                  <p:childTnLst>
                                    <p:set>
                                      <p:cBhvr>
                                        <p:cTn id="147" dur="1" fill="hold">
                                          <p:stCondLst>
                                            <p:cond delay="0"/>
                                          </p:stCondLst>
                                        </p:cTn>
                                        <p:tgtEl>
                                          <p:spTgt spid="50"/>
                                        </p:tgtEl>
                                        <p:attrNameLst>
                                          <p:attrName>style.visibility</p:attrName>
                                        </p:attrNameLst>
                                      </p:cBhvr>
                                      <p:to>
                                        <p:strVal val="visible"/>
                                      </p:to>
                                    </p:set>
                                    <p:animEffect transition="in" filter="fade">
                                      <p:cBhvr>
                                        <p:cTn id="148" dur="500"/>
                                        <p:tgtEl>
                                          <p:spTgt spid="50"/>
                                        </p:tgtEl>
                                      </p:cBhvr>
                                    </p:animEffect>
                                  </p:childTnLst>
                                </p:cTn>
                              </p:par>
                              <p:par>
                                <p:cTn id="149" presetID="10" presetClass="entr" presetSubtype="0" fill="hold" grpId="0" nodeType="withEffect">
                                  <p:stCondLst>
                                    <p:cond delay="2688"/>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500"/>
                                        <p:tgtEl>
                                          <p:spTgt spid="51"/>
                                        </p:tgtEl>
                                      </p:cBhvr>
                                    </p:animEffect>
                                  </p:childTnLst>
                                </p:cTn>
                              </p:par>
                              <p:par>
                                <p:cTn id="152" presetID="10" presetClass="entr" presetSubtype="0" fill="hold" grpId="0" nodeType="withEffect">
                                  <p:stCondLst>
                                    <p:cond delay="2744"/>
                                  </p:stCondLst>
                                  <p:childTnLst>
                                    <p:set>
                                      <p:cBhvr>
                                        <p:cTn id="153" dur="1" fill="hold">
                                          <p:stCondLst>
                                            <p:cond delay="0"/>
                                          </p:stCondLst>
                                        </p:cTn>
                                        <p:tgtEl>
                                          <p:spTgt spid="52"/>
                                        </p:tgtEl>
                                        <p:attrNameLst>
                                          <p:attrName>style.visibility</p:attrName>
                                        </p:attrNameLst>
                                      </p:cBhvr>
                                      <p:to>
                                        <p:strVal val="visible"/>
                                      </p:to>
                                    </p:set>
                                    <p:animEffect transition="in" filter="fade">
                                      <p:cBhvr>
                                        <p:cTn id="154" dur="500"/>
                                        <p:tgtEl>
                                          <p:spTgt spid="52"/>
                                        </p:tgtEl>
                                      </p:cBhvr>
                                    </p:animEffect>
                                  </p:childTnLst>
                                </p:cTn>
                              </p:par>
                              <p:par>
                                <p:cTn id="155" presetID="10" presetClass="entr" presetSubtype="0" fill="hold" grpId="0" nodeType="withEffect">
                                  <p:stCondLst>
                                    <p:cond delay="2800"/>
                                  </p:stCondLst>
                                  <p:childTnLst>
                                    <p:set>
                                      <p:cBhvr>
                                        <p:cTn id="156" dur="1" fill="hold">
                                          <p:stCondLst>
                                            <p:cond delay="0"/>
                                          </p:stCondLst>
                                        </p:cTn>
                                        <p:tgtEl>
                                          <p:spTgt spid="53"/>
                                        </p:tgtEl>
                                        <p:attrNameLst>
                                          <p:attrName>style.visibility</p:attrName>
                                        </p:attrNameLst>
                                      </p:cBhvr>
                                      <p:to>
                                        <p:strVal val="visible"/>
                                      </p:to>
                                    </p:set>
                                    <p:animEffect transition="in" filter="fade">
                                      <p:cBhvr>
                                        <p:cTn id="157" dur="500"/>
                                        <p:tgtEl>
                                          <p:spTgt spid="53"/>
                                        </p:tgtEl>
                                      </p:cBhvr>
                                    </p:animEffect>
                                  </p:childTnLst>
                                </p:cTn>
                              </p:par>
                              <p:par>
                                <p:cTn id="158" presetID="10" presetClass="entr" presetSubtype="0" fill="hold" grpId="0" nodeType="withEffect">
                                  <p:stCondLst>
                                    <p:cond delay="2856"/>
                                  </p:stCondLst>
                                  <p:childTnLst>
                                    <p:set>
                                      <p:cBhvr>
                                        <p:cTn id="159" dur="1" fill="hold">
                                          <p:stCondLst>
                                            <p:cond delay="0"/>
                                          </p:stCondLst>
                                        </p:cTn>
                                        <p:tgtEl>
                                          <p:spTgt spid="54"/>
                                        </p:tgtEl>
                                        <p:attrNameLst>
                                          <p:attrName>style.visibility</p:attrName>
                                        </p:attrNameLst>
                                      </p:cBhvr>
                                      <p:to>
                                        <p:strVal val="visible"/>
                                      </p:to>
                                    </p:set>
                                    <p:animEffect transition="in" filter="fade">
                                      <p:cBhvr>
                                        <p:cTn id="160" dur="500"/>
                                        <p:tgtEl>
                                          <p:spTgt spid="54"/>
                                        </p:tgtEl>
                                      </p:cBhvr>
                                    </p:animEffect>
                                  </p:childTnLst>
                                </p:cTn>
                              </p:par>
                              <p:par>
                                <p:cTn id="161" presetID="10" presetClass="entr" presetSubtype="0" fill="hold" grpId="0" nodeType="withEffect">
                                  <p:stCondLst>
                                    <p:cond delay="2912"/>
                                  </p:stCondLst>
                                  <p:childTnLst>
                                    <p:set>
                                      <p:cBhvr>
                                        <p:cTn id="162" dur="1" fill="hold">
                                          <p:stCondLst>
                                            <p:cond delay="0"/>
                                          </p:stCondLst>
                                        </p:cTn>
                                        <p:tgtEl>
                                          <p:spTgt spid="55"/>
                                        </p:tgtEl>
                                        <p:attrNameLst>
                                          <p:attrName>style.visibility</p:attrName>
                                        </p:attrNameLst>
                                      </p:cBhvr>
                                      <p:to>
                                        <p:strVal val="visible"/>
                                      </p:to>
                                    </p:set>
                                    <p:animEffect transition="in" filter="fade">
                                      <p:cBhvr>
                                        <p:cTn id="163" dur="500"/>
                                        <p:tgtEl>
                                          <p:spTgt spid="55"/>
                                        </p:tgtEl>
                                      </p:cBhvr>
                                    </p:animEffect>
                                  </p:childTnLst>
                                </p:cTn>
                              </p:par>
                              <p:par>
                                <p:cTn id="164" presetID="10" presetClass="entr" presetSubtype="0" fill="hold" grpId="0" nodeType="withEffect">
                                  <p:stCondLst>
                                    <p:cond delay="2968"/>
                                  </p:stCondLst>
                                  <p:childTnLst>
                                    <p:set>
                                      <p:cBhvr>
                                        <p:cTn id="165" dur="1" fill="hold">
                                          <p:stCondLst>
                                            <p:cond delay="0"/>
                                          </p:stCondLst>
                                        </p:cTn>
                                        <p:tgtEl>
                                          <p:spTgt spid="56"/>
                                        </p:tgtEl>
                                        <p:attrNameLst>
                                          <p:attrName>style.visibility</p:attrName>
                                        </p:attrNameLst>
                                      </p:cBhvr>
                                      <p:to>
                                        <p:strVal val="visible"/>
                                      </p:to>
                                    </p:set>
                                    <p:animEffect transition="in" filter="fade">
                                      <p:cBhvr>
                                        <p:cTn id="166" dur="500"/>
                                        <p:tgtEl>
                                          <p:spTgt spid="56"/>
                                        </p:tgtEl>
                                      </p:cBhvr>
                                    </p:animEffect>
                                  </p:childTnLst>
                                </p:cTn>
                              </p:par>
                              <p:par>
                                <p:cTn id="167" presetID="10" presetClass="entr" presetSubtype="0" fill="hold" grpId="0" nodeType="withEffect">
                                  <p:stCondLst>
                                    <p:cond delay="3024"/>
                                  </p:stCondLst>
                                  <p:childTnLst>
                                    <p:set>
                                      <p:cBhvr>
                                        <p:cTn id="168" dur="1" fill="hold">
                                          <p:stCondLst>
                                            <p:cond delay="0"/>
                                          </p:stCondLst>
                                        </p:cTn>
                                        <p:tgtEl>
                                          <p:spTgt spid="57"/>
                                        </p:tgtEl>
                                        <p:attrNameLst>
                                          <p:attrName>style.visibility</p:attrName>
                                        </p:attrNameLst>
                                      </p:cBhvr>
                                      <p:to>
                                        <p:strVal val="visible"/>
                                      </p:to>
                                    </p:set>
                                    <p:animEffect transition="in" filter="fade">
                                      <p:cBhvr>
                                        <p:cTn id="169" dur="500"/>
                                        <p:tgtEl>
                                          <p:spTgt spid="57"/>
                                        </p:tgtEl>
                                      </p:cBhvr>
                                    </p:animEffect>
                                  </p:childTnLst>
                                </p:cTn>
                              </p:par>
                              <p:par>
                                <p:cTn id="170" presetID="10" presetClass="entr" presetSubtype="0" fill="hold" grpId="0" nodeType="withEffect">
                                  <p:stCondLst>
                                    <p:cond delay="3080"/>
                                  </p:stCondLst>
                                  <p:childTnLst>
                                    <p:set>
                                      <p:cBhvr>
                                        <p:cTn id="171" dur="1" fill="hold">
                                          <p:stCondLst>
                                            <p:cond delay="0"/>
                                          </p:stCondLst>
                                        </p:cTn>
                                        <p:tgtEl>
                                          <p:spTgt spid="58"/>
                                        </p:tgtEl>
                                        <p:attrNameLst>
                                          <p:attrName>style.visibility</p:attrName>
                                        </p:attrNameLst>
                                      </p:cBhvr>
                                      <p:to>
                                        <p:strVal val="visible"/>
                                      </p:to>
                                    </p:set>
                                    <p:animEffect transition="in" filter="fade">
                                      <p:cBhvr>
                                        <p:cTn id="172" dur="500"/>
                                        <p:tgtEl>
                                          <p:spTgt spid="58"/>
                                        </p:tgtEl>
                                      </p:cBhvr>
                                    </p:animEffect>
                                  </p:childTnLst>
                                </p:cTn>
                              </p:par>
                              <p:par>
                                <p:cTn id="173" presetID="10" presetClass="entr" presetSubtype="0" fill="hold" grpId="0" nodeType="withEffect">
                                  <p:stCondLst>
                                    <p:cond delay="3136"/>
                                  </p:stCondLst>
                                  <p:childTnLst>
                                    <p:set>
                                      <p:cBhvr>
                                        <p:cTn id="174" dur="1" fill="hold">
                                          <p:stCondLst>
                                            <p:cond delay="0"/>
                                          </p:stCondLst>
                                        </p:cTn>
                                        <p:tgtEl>
                                          <p:spTgt spid="59"/>
                                        </p:tgtEl>
                                        <p:attrNameLst>
                                          <p:attrName>style.visibility</p:attrName>
                                        </p:attrNameLst>
                                      </p:cBhvr>
                                      <p:to>
                                        <p:strVal val="visible"/>
                                      </p:to>
                                    </p:set>
                                    <p:animEffect transition="in" filter="fade">
                                      <p:cBhvr>
                                        <p:cTn id="175" dur="500"/>
                                        <p:tgtEl>
                                          <p:spTgt spid="59"/>
                                        </p:tgtEl>
                                      </p:cBhvr>
                                    </p:animEffect>
                                  </p:childTnLst>
                                </p:cTn>
                              </p:par>
                              <p:par>
                                <p:cTn id="176" presetID="10" presetClass="entr" presetSubtype="0" fill="hold" grpId="0" nodeType="withEffect">
                                  <p:stCondLst>
                                    <p:cond delay="3192"/>
                                  </p:stCondLst>
                                  <p:childTnLst>
                                    <p:set>
                                      <p:cBhvr>
                                        <p:cTn id="177" dur="1" fill="hold">
                                          <p:stCondLst>
                                            <p:cond delay="0"/>
                                          </p:stCondLst>
                                        </p:cTn>
                                        <p:tgtEl>
                                          <p:spTgt spid="60"/>
                                        </p:tgtEl>
                                        <p:attrNameLst>
                                          <p:attrName>style.visibility</p:attrName>
                                        </p:attrNameLst>
                                      </p:cBhvr>
                                      <p:to>
                                        <p:strVal val="visible"/>
                                      </p:to>
                                    </p:set>
                                    <p:animEffect transition="in" filter="fade">
                                      <p:cBhvr>
                                        <p:cTn id="178" dur="500"/>
                                        <p:tgtEl>
                                          <p:spTgt spid="60"/>
                                        </p:tgtEl>
                                      </p:cBhvr>
                                    </p:animEffect>
                                  </p:childTnLst>
                                </p:cTn>
                              </p:par>
                              <p:par>
                                <p:cTn id="179" presetID="10" presetClass="entr" presetSubtype="0" fill="hold" grpId="0" nodeType="withEffect">
                                  <p:stCondLst>
                                    <p:cond delay="3248"/>
                                  </p:stCondLst>
                                  <p:childTnLst>
                                    <p:set>
                                      <p:cBhvr>
                                        <p:cTn id="180" dur="1" fill="hold">
                                          <p:stCondLst>
                                            <p:cond delay="0"/>
                                          </p:stCondLst>
                                        </p:cTn>
                                        <p:tgtEl>
                                          <p:spTgt spid="61"/>
                                        </p:tgtEl>
                                        <p:attrNameLst>
                                          <p:attrName>style.visibility</p:attrName>
                                        </p:attrNameLst>
                                      </p:cBhvr>
                                      <p:to>
                                        <p:strVal val="visible"/>
                                      </p:to>
                                    </p:set>
                                    <p:animEffect transition="in" filter="fade">
                                      <p:cBhvr>
                                        <p:cTn id="181" dur="500"/>
                                        <p:tgtEl>
                                          <p:spTgt spid="61"/>
                                        </p:tgtEl>
                                      </p:cBhvr>
                                    </p:animEffect>
                                  </p:childTnLst>
                                </p:cTn>
                              </p:par>
                              <p:par>
                                <p:cTn id="182" presetID="10" presetClass="entr" presetSubtype="0" fill="hold" grpId="0" nodeType="withEffect">
                                  <p:stCondLst>
                                    <p:cond delay="3304"/>
                                  </p:stCondLst>
                                  <p:childTnLst>
                                    <p:set>
                                      <p:cBhvr>
                                        <p:cTn id="183" dur="1" fill="hold">
                                          <p:stCondLst>
                                            <p:cond delay="0"/>
                                          </p:stCondLst>
                                        </p:cTn>
                                        <p:tgtEl>
                                          <p:spTgt spid="62"/>
                                        </p:tgtEl>
                                        <p:attrNameLst>
                                          <p:attrName>style.visibility</p:attrName>
                                        </p:attrNameLst>
                                      </p:cBhvr>
                                      <p:to>
                                        <p:strVal val="visible"/>
                                      </p:to>
                                    </p:set>
                                    <p:animEffect transition="in" filter="fade">
                                      <p:cBhvr>
                                        <p:cTn id="184" dur="500"/>
                                        <p:tgtEl>
                                          <p:spTgt spid="62"/>
                                        </p:tgtEl>
                                      </p:cBhvr>
                                    </p:animEffect>
                                  </p:childTnLst>
                                </p:cTn>
                              </p:par>
                              <p:par>
                                <p:cTn id="185" presetID="10" presetClass="entr" presetSubtype="0" fill="hold" grpId="0" nodeType="withEffect">
                                  <p:stCondLst>
                                    <p:cond delay="3360"/>
                                  </p:stCondLst>
                                  <p:childTnLst>
                                    <p:set>
                                      <p:cBhvr>
                                        <p:cTn id="186" dur="1" fill="hold">
                                          <p:stCondLst>
                                            <p:cond delay="0"/>
                                          </p:stCondLst>
                                        </p:cTn>
                                        <p:tgtEl>
                                          <p:spTgt spid="63"/>
                                        </p:tgtEl>
                                        <p:attrNameLst>
                                          <p:attrName>style.visibility</p:attrName>
                                        </p:attrNameLst>
                                      </p:cBhvr>
                                      <p:to>
                                        <p:strVal val="visible"/>
                                      </p:to>
                                    </p:set>
                                    <p:animEffect transition="in" filter="fade">
                                      <p:cBhvr>
                                        <p:cTn id="187" dur="500"/>
                                        <p:tgtEl>
                                          <p:spTgt spid="63"/>
                                        </p:tgtEl>
                                      </p:cBhvr>
                                    </p:animEffect>
                                  </p:childTnLst>
                                </p:cTn>
                              </p:par>
                              <p:par>
                                <p:cTn id="188" presetID="10" presetClass="entr" presetSubtype="0" fill="hold" grpId="0" nodeType="withEffect">
                                  <p:stCondLst>
                                    <p:cond delay="3416"/>
                                  </p:stCondLst>
                                  <p:childTnLst>
                                    <p:set>
                                      <p:cBhvr>
                                        <p:cTn id="189" dur="1" fill="hold">
                                          <p:stCondLst>
                                            <p:cond delay="0"/>
                                          </p:stCondLst>
                                        </p:cTn>
                                        <p:tgtEl>
                                          <p:spTgt spid="64"/>
                                        </p:tgtEl>
                                        <p:attrNameLst>
                                          <p:attrName>style.visibility</p:attrName>
                                        </p:attrNameLst>
                                      </p:cBhvr>
                                      <p:to>
                                        <p:strVal val="visible"/>
                                      </p:to>
                                    </p:set>
                                    <p:animEffect transition="in" filter="fade">
                                      <p:cBhvr>
                                        <p:cTn id="190" dur="500"/>
                                        <p:tgtEl>
                                          <p:spTgt spid="64"/>
                                        </p:tgtEl>
                                      </p:cBhvr>
                                    </p:animEffect>
                                  </p:childTnLst>
                                </p:cTn>
                              </p:par>
                              <p:par>
                                <p:cTn id="191" presetID="10" presetClass="entr" presetSubtype="0" fill="hold" grpId="0" nodeType="withEffect">
                                  <p:stCondLst>
                                    <p:cond delay="3472"/>
                                  </p:stCondLst>
                                  <p:childTnLst>
                                    <p:set>
                                      <p:cBhvr>
                                        <p:cTn id="192" dur="1" fill="hold">
                                          <p:stCondLst>
                                            <p:cond delay="0"/>
                                          </p:stCondLst>
                                        </p:cTn>
                                        <p:tgtEl>
                                          <p:spTgt spid="65"/>
                                        </p:tgtEl>
                                        <p:attrNameLst>
                                          <p:attrName>style.visibility</p:attrName>
                                        </p:attrNameLst>
                                      </p:cBhvr>
                                      <p:to>
                                        <p:strVal val="visible"/>
                                      </p:to>
                                    </p:set>
                                    <p:animEffect transition="in" filter="fade">
                                      <p:cBhvr>
                                        <p:cTn id="193" dur="500"/>
                                        <p:tgtEl>
                                          <p:spTgt spid="65"/>
                                        </p:tgtEl>
                                      </p:cBhvr>
                                    </p:animEffect>
                                  </p:childTnLst>
                                </p:cTn>
                              </p:par>
                              <p:par>
                                <p:cTn id="194" presetID="10" presetClass="entr" presetSubtype="0" fill="hold" grpId="0" nodeType="withEffect">
                                  <p:stCondLst>
                                    <p:cond delay="3528"/>
                                  </p:stCondLst>
                                  <p:childTnLst>
                                    <p:set>
                                      <p:cBhvr>
                                        <p:cTn id="195" dur="1" fill="hold">
                                          <p:stCondLst>
                                            <p:cond delay="0"/>
                                          </p:stCondLst>
                                        </p:cTn>
                                        <p:tgtEl>
                                          <p:spTgt spid="66"/>
                                        </p:tgtEl>
                                        <p:attrNameLst>
                                          <p:attrName>style.visibility</p:attrName>
                                        </p:attrNameLst>
                                      </p:cBhvr>
                                      <p:to>
                                        <p:strVal val="visible"/>
                                      </p:to>
                                    </p:set>
                                    <p:animEffect transition="in" filter="fade">
                                      <p:cBhvr>
                                        <p:cTn id="196" dur="500"/>
                                        <p:tgtEl>
                                          <p:spTgt spid="66"/>
                                        </p:tgtEl>
                                      </p:cBhvr>
                                    </p:animEffect>
                                  </p:childTnLst>
                                </p:cTn>
                              </p:par>
                              <p:par>
                                <p:cTn id="197" presetID="10" presetClass="entr" presetSubtype="0" fill="hold" grpId="0" nodeType="withEffect">
                                  <p:stCondLst>
                                    <p:cond delay="3584"/>
                                  </p:stCondLst>
                                  <p:childTnLst>
                                    <p:set>
                                      <p:cBhvr>
                                        <p:cTn id="198" dur="1" fill="hold">
                                          <p:stCondLst>
                                            <p:cond delay="0"/>
                                          </p:stCondLst>
                                        </p:cTn>
                                        <p:tgtEl>
                                          <p:spTgt spid="67"/>
                                        </p:tgtEl>
                                        <p:attrNameLst>
                                          <p:attrName>style.visibility</p:attrName>
                                        </p:attrNameLst>
                                      </p:cBhvr>
                                      <p:to>
                                        <p:strVal val="visible"/>
                                      </p:to>
                                    </p:set>
                                    <p:animEffect transition="in" filter="fade">
                                      <p:cBhvr>
                                        <p:cTn id="199" dur="500"/>
                                        <p:tgtEl>
                                          <p:spTgt spid="67"/>
                                        </p:tgtEl>
                                      </p:cBhvr>
                                    </p:animEffect>
                                  </p:childTnLst>
                                </p:cTn>
                              </p:par>
                              <p:par>
                                <p:cTn id="200" presetID="10" presetClass="entr" presetSubtype="0" fill="hold" grpId="0" nodeType="withEffect">
                                  <p:stCondLst>
                                    <p:cond delay="3640"/>
                                  </p:stCondLst>
                                  <p:childTnLst>
                                    <p:set>
                                      <p:cBhvr>
                                        <p:cTn id="201" dur="1" fill="hold">
                                          <p:stCondLst>
                                            <p:cond delay="0"/>
                                          </p:stCondLst>
                                        </p:cTn>
                                        <p:tgtEl>
                                          <p:spTgt spid="68"/>
                                        </p:tgtEl>
                                        <p:attrNameLst>
                                          <p:attrName>style.visibility</p:attrName>
                                        </p:attrNameLst>
                                      </p:cBhvr>
                                      <p:to>
                                        <p:strVal val="visible"/>
                                      </p:to>
                                    </p:set>
                                    <p:animEffect transition="in" filter="fade">
                                      <p:cBhvr>
                                        <p:cTn id="202" dur="500"/>
                                        <p:tgtEl>
                                          <p:spTgt spid="68"/>
                                        </p:tgtEl>
                                      </p:cBhvr>
                                    </p:animEffect>
                                  </p:childTnLst>
                                </p:cTn>
                              </p:par>
                              <p:par>
                                <p:cTn id="203" presetID="10" presetClass="entr" presetSubtype="0" fill="hold" grpId="0" nodeType="withEffect">
                                  <p:stCondLst>
                                    <p:cond delay="3696"/>
                                  </p:stCondLst>
                                  <p:childTnLst>
                                    <p:set>
                                      <p:cBhvr>
                                        <p:cTn id="204" dur="1" fill="hold">
                                          <p:stCondLst>
                                            <p:cond delay="0"/>
                                          </p:stCondLst>
                                        </p:cTn>
                                        <p:tgtEl>
                                          <p:spTgt spid="69"/>
                                        </p:tgtEl>
                                        <p:attrNameLst>
                                          <p:attrName>style.visibility</p:attrName>
                                        </p:attrNameLst>
                                      </p:cBhvr>
                                      <p:to>
                                        <p:strVal val="visible"/>
                                      </p:to>
                                    </p:set>
                                    <p:animEffect transition="in" filter="fade">
                                      <p:cBhvr>
                                        <p:cTn id="205" dur="500"/>
                                        <p:tgtEl>
                                          <p:spTgt spid="69"/>
                                        </p:tgtEl>
                                      </p:cBhvr>
                                    </p:animEffect>
                                  </p:childTnLst>
                                </p:cTn>
                              </p:par>
                              <p:par>
                                <p:cTn id="206" presetID="10" presetClass="entr" presetSubtype="0" fill="hold" grpId="0" nodeType="withEffect">
                                  <p:stCondLst>
                                    <p:cond delay="3752"/>
                                  </p:stCondLst>
                                  <p:childTnLst>
                                    <p:set>
                                      <p:cBhvr>
                                        <p:cTn id="207" dur="1" fill="hold">
                                          <p:stCondLst>
                                            <p:cond delay="0"/>
                                          </p:stCondLst>
                                        </p:cTn>
                                        <p:tgtEl>
                                          <p:spTgt spid="70"/>
                                        </p:tgtEl>
                                        <p:attrNameLst>
                                          <p:attrName>style.visibility</p:attrName>
                                        </p:attrNameLst>
                                      </p:cBhvr>
                                      <p:to>
                                        <p:strVal val="visible"/>
                                      </p:to>
                                    </p:set>
                                    <p:animEffect transition="in" filter="fade">
                                      <p:cBhvr>
                                        <p:cTn id="208" dur="500"/>
                                        <p:tgtEl>
                                          <p:spTgt spid="70"/>
                                        </p:tgtEl>
                                      </p:cBhvr>
                                    </p:animEffect>
                                  </p:childTnLst>
                                </p:cTn>
                              </p:par>
                              <p:par>
                                <p:cTn id="209" presetID="10" presetClass="entr" presetSubtype="0" fill="hold" grpId="0" nodeType="withEffect">
                                  <p:stCondLst>
                                    <p:cond delay="3808"/>
                                  </p:stCondLst>
                                  <p:childTnLst>
                                    <p:set>
                                      <p:cBhvr>
                                        <p:cTn id="210" dur="1" fill="hold">
                                          <p:stCondLst>
                                            <p:cond delay="0"/>
                                          </p:stCondLst>
                                        </p:cTn>
                                        <p:tgtEl>
                                          <p:spTgt spid="71"/>
                                        </p:tgtEl>
                                        <p:attrNameLst>
                                          <p:attrName>style.visibility</p:attrName>
                                        </p:attrNameLst>
                                      </p:cBhvr>
                                      <p:to>
                                        <p:strVal val="visible"/>
                                      </p:to>
                                    </p:set>
                                    <p:animEffect transition="in" filter="fade">
                                      <p:cBhvr>
                                        <p:cTn id="211" dur="500"/>
                                        <p:tgtEl>
                                          <p:spTgt spid="71"/>
                                        </p:tgtEl>
                                      </p:cBhvr>
                                    </p:animEffect>
                                  </p:childTnLst>
                                </p:cTn>
                              </p:par>
                              <p:par>
                                <p:cTn id="212" presetID="10" presetClass="entr" presetSubtype="0" fill="hold" grpId="0" nodeType="withEffect">
                                  <p:stCondLst>
                                    <p:cond delay="3864"/>
                                  </p:stCondLst>
                                  <p:childTnLst>
                                    <p:set>
                                      <p:cBhvr>
                                        <p:cTn id="213" dur="1" fill="hold">
                                          <p:stCondLst>
                                            <p:cond delay="0"/>
                                          </p:stCondLst>
                                        </p:cTn>
                                        <p:tgtEl>
                                          <p:spTgt spid="72"/>
                                        </p:tgtEl>
                                        <p:attrNameLst>
                                          <p:attrName>style.visibility</p:attrName>
                                        </p:attrNameLst>
                                      </p:cBhvr>
                                      <p:to>
                                        <p:strVal val="visible"/>
                                      </p:to>
                                    </p:set>
                                    <p:animEffect transition="in" filter="fade">
                                      <p:cBhvr>
                                        <p:cTn id="214" dur="500"/>
                                        <p:tgtEl>
                                          <p:spTgt spid="72"/>
                                        </p:tgtEl>
                                      </p:cBhvr>
                                    </p:animEffect>
                                  </p:childTnLst>
                                </p:cTn>
                              </p:par>
                              <p:par>
                                <p:cTn id="215" presetID="10" presetClass="entr" presetSubtype="0" fill="hold" grpId="0" nodeType="withEffect">
                                  <p:stCondLst>
                                    <p:cond delay="3920"/>
                                  </p:stCondLst>
                                  <p:childTnLst>
                                    <p:set>
                                      <p:cBhvr>
                                        <p:cTn id="216" dur="1" fill="hold">
                                          <p:stCondLst>
                                            <p:cond delay="0"/>
                                          </p:stCondLst>
                                        </p:cTn>
                                        <p:tgtEl>
                                          <p:spTgt spid="73"/>
                                        </p:tgtEl>
                                        <p:attrNameLst>
                                          <p:attrName>style.visibility</p:attrName>
                                        </p:attrNameLst>
                                      </p:cBhvr>
                                      <p:to>
                                        <p:strVal val="visible"/>
                                      </p:to>
                                    </p:set>
                                    <p:animEffect transition="in" filter="fade">
                                      <p:cBhvr>
                                        <p:cTn id="21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ACTION FRAMEWORK</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Risk Response Levels</a:t>
            </a:r>
          </a:p>
        </p:txBody>
      </p:sp>
      <p:sp>
        <p:nvSpPr>
          <p:cNvPr id="6" name="actionCard0"/>
          <p:cNvSpPr/>
          <p:nvPr/>
        </p:nvSpPr>
        <p:spPr>
          <a:xfrm>
            <a:off x="640080" y="1600200"/>
            <a:ext cx="10972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ctionBadge0"/>
          <p:cNvSpPr/>
          <p:nvPr/>
        </p:nvSpPr>
        <p:spPr>
          <a:xfrm>
            <a:off x="868680" y="1783080"/>
            <a:ext cx="2926080" cy="64008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tionTitle0"/>
          <p:cNvSpPr txBox="1"/>
          <p:nvPr/>
        </p:nvSpPr>
        <p:spPr>
          <a:xfrm>
            <a:off x="868680" y="1920240"/>
            <a:ext cx="2926080" cy="411480"/>
          </a:xfrm>
          <a:prstGeom prst="rect">
            <a:avLst/>
          </a:prstGeom>
          <a:noFill/>
        </p:spPr>
        <p:txBody>
          <a:bodyPr wrap="square">
            <a:spAutoFit/>
          </a:bodyPr>
          <a:lstStyle/>
          <a:p>
            <a:pPr algn="ctr"/>
            <a:r>
              <a:rPr sz="1500" b="1">
                <a:solidFill>
                  <a:srgbClr val="FFFFFF"/>
                </a:solidFill>
                <a:latin typeface="Segoe UI"/>
              </a:rPr>
              <a:t>INTOLERABLE</a:t>
            </a:r>
          </a:p>
        </p:txBody>
      </p:sp>
      <p:sp>
        <p:nvSpPr>
          <p:cNvPr id="9" name="actionRange0"/>
          <p:cNvSpPr txBox="1"/>
          <p:nvPr/>
        </p:nvSpPr>
        <p:spPr>
          <a:xfrm>
            <a:off x="868680" y="2468880"/>
            <a:ext cx="2926080" cy="457200"/>
          </a:xfrm>
          <a:prstGeom prst="rect">
            <a:avLst/>
          </a:prstGeom>
          <a:noFill/>
        </p:spPr>
        <p:txBody>
          <a:bodyPr wrap="square">
            <a:spAutoFit/>
          </a:bodyPr>
          <a:lstStyle/>
          <a:p>
            <a:pPr algn="ctr"/>
            <a:r>
              <a:rPr sz="1000" b="0">
                <a:solidFill>
                  <a:srgbClr val="5A6B7D"/>
                </a:solidFill>
                <a:latin typeface="Segoe UI"/>
              </a:rPr>
              <a:t>5A, 5B, 5C, 4A, 4B, 3A</a:t>
            </a:r>
          </a:p>
        </p:txBody>
      </p:sp>
      <p:sp>
        <p:nvSpPr>
          <p:cNvPr id="10" name="actionDesc0"/>
          <p:cNvSpPr txBox="1"/>
          <p:nvPr/>
        </p:nvSpPr>
        <p:spPr>
          <a:xfrm>
            <a:off x="4114800" y="1783080"/>
            <a:ext cx="7223760" cy="1097280"/>
          </a:xfrm>
          <a:prstGeom prst="rect">
            <a:avLst/>
          </a:prstGeom>
          <a:noFill/>
        </p:spPr>
        <p:txBody>
          <a:bodyPr wrap="square">
            <a:spAutoFit/>
          </a:bodyPr>
          <a:lstStyle/>
          <a:p>
            <a:pPr algn="l"/>
            <a:r>
              <a:rPr sz="1250" b="0">
                <a:solidFill>
                  <a:srgbClr val="0B1F3A"/>
                </a:solidFill>
                <a:latin typeface="Segoe UI"/>
              </a:rPr>
              <a:t>Take immediate action to mitigate the risk or stop the activity. Perform priority safety risk mitigation to ensure additional or enhanced preventative controls are in place to bring the safety risk index down to tolerable.</a:t>
            </a:r>
          </a:p>
        </p:txBody>
      </p:sp>
      <p:sp>
        <p:nvSpPr>
          <p:cNvPr id="11" name="actionCard1"/>
          <p:cNvSpPr/>
          <p:nvPr/>
        </p:nvSpPr>
        <p:spPr>
          <a:xfrm>
            <a:off x="640080" y="3108960"/>
            <a:ext cx="10972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ctionBadge1"/>
          <p:cNvSpPr/>
          <p:nvPr/>
        </p:nvSpPr>
        <p:spPr>
          <a:xfrm>
            <a:off x="868680" y="3291840"/>
            <a:ext cx="2926080" cy="6400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ctionTitle1"/>
          <p:cNvSpPr txBox="1"/>
          <p:nvPr/>
        </p:nvSpPr>
        <p:spPr>
          <a:xfrm>
            <a:off x="868680" y="3429000"/>
            <a:ext cx="2926080" cy="411480"/>
          </a:xfrm>
          <a:prstGeom prst="rect">
            <a:avLst/>
          </a:prstGeom>
          <a:noFill/>
        </p:spPr>
        <p:txBody>
          <a:bodyPr wrap="square">
            <a:spAutoFit/>
          </a:bodyPr>
          <a:lstStyle/>
          <a:p>
            <a:pPr algn="ctr"/>
            <a:r>
              <a:rPr sz="1500" b="1">
                <a:solidFill>
                  <a:srgbClr val="FFFFFF"/>
                </a:solidFill>
                <a:latin typeface="Segoe UI"/>
              </a:rPr>
              <a:t>TOLERABLE</a:t>
            </a:r>
          </a:p>
        </p:txBody>
      </p:sp>
      <p:sp>
        <p:nvSpPr>
          <p:cNvPr id="14" name="actionRange1"/>
          <p:cNvSpPr txBox="1"/>
          <p:nvPr/>
        </p:nvSpPr>
        <p:spPr>
          <a:xfrm>
            <a:off x="868680" y="3977640"/>
            <a:ext cx="2926080" cy="457200"/>
          </a:xfrm>
          <a:prstGeom prst="rect">
            <a:avLst/>
          </a:prstGeom>
          <a:noFill/>
        </p:spPr>
        <p:txBody>
          <a:bodyPr wrap="square">
            <a:spAutoFit/>
          </a:bodyPr>
          <a:lstStyle/>
          <a:p>
            <a:pPr algn="ctr"/>
            <a:r>
              <a:rPr sz="1000" b="0">
                <a:solidFill>
                  <a:srgbClr val="5A6B7D"/>
                </a:solidFill>
                <a:latin typeface="Segoe UI"/>
              </a:rPr>
              <a:t>5D, 5E, 4C, 4D, 4E, 3B, 3C, 3D, 2A, 2B, 2C, 1A</a:t>
            </a:r>
          </a:p>
        </p:txBody>
      </p:sp>
      <p:sp>
        <p:nvSpPr>
          <p:cNvPr id="15" name="actionDesc1"/>
          <p:cNvSpPr txBox="1"/>
          <p:nvPr/>
        </p:nvSpPr>
        <p:spPr>
          <a:xfrm>
            <a:off x="4114800" y="3291840"/>
            <a:ext cx="7223760" cy="1097280"/>
          </a:xfrm>
          <a:prstGeom prst="rect">
            <a:avLst/>
          </a:prstGeom>
          <a:noFill/>
        </p:spPr>
        <p:txBody>
          <a:bodyPr wrap="square">
            <a:spAutoFit/>
          </a:bodyPr>
          <a:lstStyle/>
          <a:p>
            <a:pPr algn="l"/>
            <a:r>
              <a:rPr sz="1250" b="0">
                <a:solidFill>
                  <a:srgbClr val="0B1F3A"/>
                </a:solidFill>
                <a:latin typeface="Segoe UI"/>
              </a:rPr>
              <a:t>Can be tolerated based on the safety risk mitigation. It may require management decision to accept the risk.</a:t>
            </a:r>
          </a:p>
        </p:txBody>
      </p:sp>
      <p:sp>
        <p:nvSpPr>
          <p:cNvPr id="16" name="actionCard2"/>
          <p:cNvSpPr/>
          <p:nvPr/>
        </p:nvSpPr>
        <p:spPr>
          <a:xfrm>
            <a:off x="640080" y="4617720"/>
            <a:ext cx="10972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ctionBadge2"/>
          <p:cNvSpPr/>
          <p:nvPr/>
        </p:nvSpPr>
        <p:spPr>
          <a:xfrm>
            <a:off x="868680" y="4800600"/>
            <a:ext cx="2926080" cy="6400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ctionTitle2"/>
          <p:cNvSpPr txBox="1"/>
          <p:nvPr/>
        </p:nvSpPr>
        <p:spPr>
          <a:xfrm>
            <a:off x="868680" y="4937760"/>
            <a:ext cx="2926080" cy="411480"/>
          </a:xfrm>
          <a:prstGeom prst="rect">
            <a:avLst/>
          </a:prstGeom>
          <a:noFill/>
        </p:spPr>
        <p:txBody>
          <a:bodyPr wrap="square">
            <a:spAutoFit/>
          </a:bodyPr>
          <a:lstStyle/>
          <a:p>
            <a:pPr algn="ctr"/>
            <a:r>
              <a:rPr sz="1500" b="1">
                <a:solidFill>
                  <a:srgbClr val="FFFFFF"/>
                </a:solidFill>
                <a:latin typeface="Segoe UI"/>
              </a:rPr>
              <a:t>ACCEPTABLE</a:t>
            </a:r>
          </a:p>
        </p:txBody>
      </p:sp>
      <p:sp>
        <p:nvSpPr>
          <p:cNvPr id="19" name="actionRange2"/>
          <p:cNvSpPr txBox="1"/>
          <p:nvPr/>
        </p:nvSpPr>
        <p:spPr>
          <a:xfrm>
            <a:off x="868680" y="5486400"/>
            <a:ext cx="2926080" cy="457200"/>
          </a:xfrm>
          <a:prstGeom prst="rect">
            <a:avLst/>
          </a:prstGeom>
          <a:noFill/>
        </p:spPr>
        <p:txBody>
          <a:bodyPr wrap="square">
            <a:spAutoFit/>
          </a:bodyPr>
          <a:lstStyle/>
          <a:p>
            <a:pPr algn="ctr"/>
            <a:r>
              <a:rPr sz="1000" b="0">
                <a:solidFill>
                  <a:srgbClr val="5A6B7D"/>
                </a:solidFill>
                <a:latin typeface="Segoe UI"/>
              </a:rPr>
              <a:t>3E, 2D, 2E, 1B, 1C, 1D, 1E</a:t>
            </a:r>
          </a:p>
        </p:txBody>
      </p:sp>
      <p:sp>
        <p:nvSpPr>
          <p:cNvPr id="20" name="actionDesc2"/>
          <p:cNvSpPr txBox="1"/>
          <p:nvPr/>
        </p:nvSpPr>
        <p:spPr>
          <a:xfrm>
            <a:off x="4114800" y="4800600"/>
            <a:ext cx="7223760" cy="1097280"/>
          </a:xfrm>
          <a:prstGeom prst="rect">
            <a:avLst/>
          </a:prstGeom>
          <a:noFill/>
        </p:spPr>
        <p:txBody>
          <a:bodyPr wrap="square">
            <a:spAutoFit/>
          </a:bodyPr>
          <a:lstStyle/>
          <a:p>
            <a:pPr algn="l"/>
            <a:r>
              <a:rPr sz="1250" b="0">
                <a:solidFill>
                  <a:srgbClr val="0B1F3A"/>
                </a:solidFill>
                <a:latin typeface="Segoe UI"/>
              </a:rPr>
              <a:t>Acceptable as is. No further safety risk mitigation required.</a:t>
            </a:r>
          </a:p>
        </p:txBody>
      </p:sp>
      <p:sp>
        <p:nvSpPr>
          <p:cNvPr id="21" name="actionNote"/>
          <p:cNvSpPr txBox="1"/>
          <p:nvPr/>
        </p:nvSpPr>
        <p:spPr>
          <a:xfrm>
            <a:off x="640080" y="6172200"/>
            <a:ext cx="10972800" cy="365760"/>
          </a:xfrm>
          <a:prstGeom prst="rect">
            <a:avLst/>
          </a:prstGeom>
          <a:noFill/>
        </p:spPr>
        <p:txBody>
          <a:bodyPr wrap="square">
            <a:spAutoFit/>
          </a:bodyPr>
          <a:lstStyle/>
          <a:p>
            <a:pPr algn="ctr"/>
            <a:r>
              <a:rPr sz="1200" b="0">
                <a:solidFill>
                  <a:srgbClr val="5A6B7D"/>
                </a:solidFill>
                <a:latin typeface="Segoe UI"/>
              </a:rPr>
              <a:t>Based on hazard identification analysis — likelihood of occurrence × severity of resulting consequences.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COMPONENT 3</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Safety Assurance</a:t>
            </a:r>
          </a:p>
        </p:txBody>
      </p:sp>
      <p:sp>
        <p:nvSpPr>
          <p:cNvPr id="6" name="assSub"/>
          <p:cNvSpPr txBox="1"/>
          <p:nvPr/>
        </p:nvSpPr>
        <p:spPr>
          <a:xfrm>
            <a:off x="640080" y="1280160"/>
            <a:ext cx="10972800" cy="320040"/>
          </a:xfrm>
          <a:prstGeom prst="rect">
            <a:avLst/>
          </a:prstGeom>
          <a:noFill/>
        </p:spPr>
        <p:txBody>
          <a:bodyPr wrap="square">
            <a:spAutoFit/>
          </a:bodyPr>
          <a:lstStyle/>
          <a:p>
            <a:pPr algn="l"/>
            <a:r>
              <a:rPr sz="1400" b="0">
                <a:solidFill>
                  <a:srgbClr val="5A6B7D"/>
                </a:solidFill>
                <a:latin typeface="Segoe UI"/>
              </a:rPr>
              <a:t>Safety performance measures link directly to operational performance.</a:t>
            </a:r>
          </a:p>
        </p:txBody>
      </p:sp>
      <p:sp>
        <p:nvSpPr>
          <p:cNvPr id="7" name="assCard0"/>
          <p:cNvSpPr/>
          <p:nvPr/>
        </p:nvSpPr>
        <p:spPr>
          <a:xfrm>
            <a:off x="548640" y="1828800"/>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ssBar0"/>
          <p:cNvSpPr/>
          <p:nvPr/>
        </p:nvSpPr>
        <p:spPr>
          <a:xfrm>
            <a:off x="548640" y="1828800"/>
            <a:ext cx="5486400" cy="914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ssHead0"/>
          <p:cNvSpPr txBox="1"/>
          <p:nvPr/>
        </p:nvSpPr>
        <p:spPr>
          <a:xfrm>
            <a:off x="868680" y="2148840"/>
            <a:ext cx="4846320" cy="365760"/>
          </a:xfrm>
          <a:prstGeom prst="rect">
            <a:avLst/>
          </a:prstGeom>
          <a:noFill/>
        </p:spPr>
        <p:txBody>
          <a:bodyPr wrap="square">
            <a:spAutoFit/>
          </a:bodyPr>
          <a:lstStyle/>
          <a:p>
            <a:pPr algn="l"/>
            <a:r>
              <a:rPr sz="1300" b="1">
                <a:solidFill>
                  <a:srgbClr val="0B1F3A"/>
                </a:solidFill>
                <a:latin typeface="Segoe UI"/>
              </a:rPr>
              <a:t>Organization Objective</a:t>
            </a:r>
          </a:p>
        </p:txBody>
      </p:sp>
      <p:sp>
        <p:nvSpPr>
          <p:cNvPr id="10" name="assBody0"/>
          <p:cNvSpPr txBox="1"/>
          <p:nvPr/>
        </p:nvSpPr>
        <p:spPr>
          <a:xfrm>
            <a:off x="868680" y="2606040"/>
            <a:ext cx="4846320" cy="1005840"/>
          </a:xfrm>
          <a:prstGeom prst="rect">
            <a:avLst/>
          </a:prstGeom>
          <a:noFill/>
        </p:spPr>
        <p:txBody>
          <a:bodyPr wrap="square">
            <a:spAutoFit/>
          </a:bodyPr>
          <a:lstStyle/>
          <a:p>
            <a:pPr algn="l"/>
            <a:r>
              <a:rPr sz="1500" b="1">
                <a:solidFill>
                  <a:srgbClr val="0B1F3A"/>
                </a:solidFill>
                <a:latin typeface="Segoe UI"/>
              </a:rPr>
              <a:t>Reduce Costs</a:t>
            </a:r>
          </a:p>
        </p:txBody>
      </p:sp>
      <p:sp>
        <p:nvSpPr>
          <p:cNvPr id="11" name="assCard1"/>
          <p:cNvSpPr/>
          <p:nvPr/>
        </p:nvSpPr>
        <p:spPr>
          <a:xfrm>
            <a:off x="6309359" y="1828800"/>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ssBar1"/>
          <p:cNvSpPr/>
          <p:nvPr/>
        </p:nvSpPr>
        <p:spPr>
          <a:xfrm>
            <a:off x="6309359" y="1828800"/>
            <a:ext cx="5486400" cy="91440"/>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ssHead1"/>
          <p:cNvSpPr txBox="1"/>
          <p:nvPr/>
        </p:nvSpPr>
        <p:spPr>
          <a:xfrm>
            <a:off x="6629399" y="2148840"/>
            <a:ext cx="4846320" cy="365760"/>
          </a:xfrm>
          <a:prstGeom prst="rect">
            <a:avLst/>
          </a:prstGeom>
          <a:noFill/>
        </p:spPr>
        <p:txBody>
          <a:bodyPr wrap="square">
            <a:spAutoFit/>
          </a:bodyPr>
          <a:lstStyle/>
          <a:p>
            <a:pPr algn="l"/>
            <a:r>
              <a:rPr sz="1300" b="1">
                <a:solidFill>
                  <a:srgbClr val="1AB3A6"/>
                </a:solidFill>
                <a:latin typeface="Segoe UI"/>
              </a:rPr>
              <a:t>Organization Performance Measure</a:t>
            </a:r>
          </a:p>
        </p:txBody>
      </p:sp>
      <p:sp>
        <p:nvSpPr>
          <p:cNvPr id="14" name="assBody1"/>
          <p:cNvSpPr txBox="1"/>
          <p:nvPr/>
        </p:nvSpPr>
        <p:spPr>
          <a:xfrm>
            <a:off x="6629399" y="2606040"/>
            <a:ext cx="4846320" cy="1005840"/>
          </a:xfrm>
          <a:prstGeom prst="rect">
            <a:avLst/>
          </a:prstGeom>
          <a:noFill/>
        </p:spPr>
        <p:txBody>
          <a:bodyPr wrap="square">
            <a:spAutoFit/>
          </a:bodyPr>
          <a:lstStyle/>
          <a:p>
            <a:pPr algn="l"/>
            <a:r>
              <a:rPr sz="1500" b="1">
                <a:solidFill>
                  <a:srgbClr val="0B1F3A"/>
                </a:solidFill>
                <a:latin typeface="Segoe UI"/>
              </a:rPr>
              <a:t>Reduction in Insurance Rates</a:t>
            </a:r>
          </a:p>
        </p:txBody>
      </p:sp>
      <p:sp>
        <p:nvSpPr>
          <p:cNvPr id="15" name="assCard2"/>
          <p:cNvSpPr/>
          <p:nvPr/>
        </p:nvSpPr>
        <p:spPr>
          <a:xfrm>
            <a:off x="548640" y="4023360"/>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ssBar2"/>
          <p:cNvSpPr/>
          <p:nvPr/>
        </p:nvSpPr>
        <p:spPr>
          <a:xfrm>
            <a:off x="548640" y="4023360"/>
            <a:ext cx="5486400" cy="9144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ssHead2"/>
          <p:cNvSpPr txBox="1"/>
          <p:nvPr/>
        </p:nvSpPr>
        <p:spPr>
          <a:xfrm>
            <a:off x="868680" y="4343400"/>
            <a:ext cx="4846320" cy="365760"/>
          </a:xfrm>
          <a:prstGeom prst="rect">
            <a:avLst/>
          </a:prstGeom>
          <a:noFill/>
        </p:spPr>
        <p:txBody>
          <a:bodyPr wrap="square">
            <a:spAutoFit/>
          </a:bodyPr>
          <a:lstStyle/>
          <a:p>
            <a:pPr algn="l"/>
            <a:r>
              <a:rPr sz="1300" b="1">
                <a:solidFill>
                  <a:srgbClr val="E8B923"/>
                </a:solidFill>
                <a:latin typeface="Segoe UI"/>
              </a:rPr>
              <a:t>Safety Objective</a:t>
            </a:r>
          </a:p>
        </p:txBody>
      </p:sp>
      <p:sp>
        <p:nvSpPr>
          <p:cNvPr id="18" name="assBody2"/>
          <p:cNvSpPr txBox="1"/>
          <p:nvPr/>
        </p:nvSpPr>
        <p:spPr>
          <a:xfrm>
            <a:off x="868680" y="4800600"/>
            <a:ext cx="4846320" cy="1005840"/>
          </a:xfrm>
          <a:prstGeom prst="rect">
            <a:avLst/>
          </a:prstGeom>
          <a:noFill/>
        </p:spPr>
        <p:txBody>
          <a:bodyPr wrap="square">
            <a:spAutoFit/>
          </a:bodyPr>
          <a:lstStyle/>
          <a:p>
            <a:pPr algn="l"/>
            <a:r>
              <a:rPr sz="1500" b="1">
                <a:solidFill>
                  <a:srgbClr val="0B1F3A"/>
                </a:solidFill>
                <a:latin typeface="Segoe UI"/>
              </a:rPr>
              <a:t>Decrease Number and Severity
of Hangar Incidents</a:t>
            </a:r>
          </a:p>
        </p:txBody>
      </p:sp>
      <p:sp>
        <p:nvSpPr>
          <p:cNvPr id="19" name="assCard3"/>
          <p:cNvSpPr/>
          <p:nvPr/>
        </p:nvSpPr>
        <p:spPr>
          <a:xfrm>
            <a:off x="6309359" y="4023360"/>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ssBar3"/>
          <p:cNvSpPr/>
          <p:nvPr/>
        </p:nvSpPr>
        <p:spPr>
          <a:xfrm>
            <a:off x="6309359" y="4023360"/>
            <a:ext cx="5486400" cy="91440"/>
          </a:xfrm>
          <a:prstGeom prst="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ssHead3"/>
          <p:cNvSpPr txBox="1"/>
          <p:nvPr/>
        </p:nvSpPr>
        <p:spPr>
          <a:xfrm>
            <a:off x="6629399" y="4343400"/>
            <a:ext cx="4846320" cy="365760"/>
          </a:xfrm>
          <a:prstGeom prst="rect">
            <a:avLst/>
          </a:prstGeom>
          <a:noFill/>
        </p:spPr>
        <p:txBody>
          <a:bodyPr wrap="square">
            <a:spAutoFit/>
          </a:bodyPr>
          <a:lstStyle/>
          <a:p>
            <a:pPr algn="l"/>
            <a:r>
              <a:rPr sz="1300" b="1">
                <a:solidFill>
                  <a:srgbClr val="2E86DE"/>
                </a:solidFill>
                <a:latin typeface="Segoe UI"/>
              </a:rPr>
              <a:t>Safety Performance Measure</a:t>
            </a:r>
          </a:p>
        </p:txBody>
      </p:sp>
      <p:sp>
        <p:nvSpPr>
          <p:cNvPr id="22" name="assBody3"/>
          <p:cNvSpPr txBox="1"/>
          <p:nvPr/>
        </p:nvSpPr>
        <p:spPr>
          <a:xfrm>
            <a:off x="6629399" y="4800600"/>
            <a:ext cx="4846320" cy="1005840"/>
          </a:xfrm>
          <a:prstGeom prst="rect">
            <a:avLst/>
          </a:prstGeom>
          <a:noFill/>
        </p:spPr>
        <p:txBody>
          <a:bodyPr wrap="square">
            <a:spAutoFit/>
          </a:bodyPr>
          <a:lstStyle/>
          <a:p>
            <a:pPr algn="l"/>
            <a:r>
              <a:rPr sz="1500" b="1">
                <a:solidFill>
                  <a:srgbClr val="0B1F3A"/>
                </a:solidFill>
                <a:latin typeface="Segoe UI"/>
              </a:rPr>
              <a:t>Reduction in total number of events:
Damage-only · Near-miss · Lessons Learned · Corrective Action Plans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MONITORING &amp; MEASUREMENT</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Safety Performance Monitoring</a:t>
            </a:r>
          </a:p>
        </p:txBody>
      </p:sp>
      <p:sp>
        <p:nvSpPr>
          <p:cNvPr id="6" name="spiSub"/>
          <p:cNvSpPr txBox="1"/>
          <p:nvPr/>
        </p:nvSpPr>
        <p:spPr>
          <a:xfrm>
            <a:off x="640080" y="1234440"/>
            <a:ext cx="10972800" cy="320040"/>
          </a:xfrm>
          <a:prstGeom prst="rect">
            <a:avLst/>
          </a:prstGeom>
          <a:noFill/>
        </p:spPr>
        <p:txBody>
          <a:bodyPr wrap="square">
            <a:spAutoFit/>
          </a:bodyPr>
          <a:lstStyle/>
          <a:p>
            <a:pPr algn="l"/>
            <a:r>
              <a:rPr sz="1300" b="0">
                <a:solidFill>
                  <a:srgbClr val="5A6B7D"/>
                </a:solidFill>
                <a:latin typeface="Segoe UI"/>
              </a:rPr>
              <a:t>Safety performance is proactively and reactively monitored so key safety goals continue to be achieved. Example SPI format:</a:t>
            </a:r>
          </a:p>
        </p:txBody>
      </p:sp>
      <p:graphicFrame>
        <p:nvGraphicFramePr>
          <p:cNvPr id="7" name="Chart 6"/>
          <p:cNvGraphicFramePr>
            <a:graphicFrameLocks noGrp="1"/>
          </p:cNvGraphicFramePr>
          <p:nvPr/>
        </p:nvGraphicFramePr>
        <p:xfrm>
          <a:off x="731520" y="1554480"/>
          <a:ext cx="7498079" cy="4572000"/>
        </p:xfrm>
        <a:graphic>
          <a:graphicData uri="http://schemas.openxmlformats.org/drawingml/2006/chart">
            <c:chart xmlns:c="http://schemas.openxmlformats.org/drawingml/2006/chart" r:id="rId2"/>
          </a:graphicData>
        </a:graphic>
      </p:graphicFrame>
      <p:sp>
        <p:nvSpPr>
          <p:cNvPr id="8" name="spiCard0"/>
          <p:cNvSpPr/>
          <p:nvPr/>
        </p:nvSpPr>
        <p:spPr>
          <a:xfrm>
            <a:off x="8595360" y="1645920"/>
            <a:ext cx="30175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piVal0"/>
          <p:cNvSpPr txBox="1"/>
          <p:nvPr/>
        </p:nvSpPr>
        <p:spPr>
          <a:xfrm>
            <a:off x="8778240" y="1783080"/>
            <a:ext cx="2651760" cy="365760"/>
          </a:xfrm>
          <a:prstGeom prst="rect">
            <a:avLst/>
          </a:prstGeom>
          <a:noFill/>
        </p:spPr>
        <p:txBody>
          <a:bodyPr wrap="square">
            <a:spAutoFit/>
          </a:bodyPr>
          <a:lstStyle/>
          <a:p>
            <a:pPr algn="l"/>
            <a:r>
              <a:rPr sz="2000" b="1">
                <a:solidFill>
                  <a:srgbClr val="27AE60"/>
                </a:solidFill>
                <a:latin typeface="Segoe UI"/>
              </a:rPr>
              <a:t>↓ 39%</a:t>
            </a:r>
          </a:p>
        </p:txBody>
      </p:sp>
      <p:sp>
        <p:nvSpPr>
          <p:cNvPr id="10" name="spiLabel0"/>
          <p:cNvSpPr txBox="1"/>
          <p:nvPr/>
        </p:nvSpPr>
        <p:spPr>
          <a:xfrm>
            <a:off x="8778240" y="2148840"/>
            <a:ext cx="2651760" cy="320040"/>
          </a:xfrm>
          <a:prstGeom prst="rect">
            <a:avLst/>
          </a:prstGeom>
          <a:noFill/>
        </p:spPr>
        <p:txBody>
          <a:bodyPr wrap="square">
            <a:spAutoFit/>
          </a:bodyPr>
          <a:lstStyle/>
          <a:p>
            <a:pPr algn="l"/>
            <a:r>
              <a:rPr sz="1200" b="0">
                <a:solidFill>
                  <a:srgbClr val="5A6B7D"/>
                </a:solidFill>
                <a:latin typeface="Segoe UI"/>
              </a:rPr>
              <a:t>Damage events</a:t>
            </a:r>
          </a:p>
        </p:txBody>
      </p:sp>
      <p:sp>
        <p:nvSpPr>
          <p:cNvPr id="11" name="spiCard1"/>
          <p:cNvSpPr/>
          <p:nvPr/>
        </p:nvSpPr>
        <p:spPr>
          <a:xfrm>
            <a:off x="8595360" y="2743200"/>
            <a:ext cx="30175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piVal1"/>
          <p:cNvSpPr txBox="1"/>
          <p:nvPr/>
        </p:nvSpPr>
        <p:spPr>
          <a:xfrm>
            <a:off x="8778240" y="2880360"/>
            <a:ext cx="2651760" cy="365760"/>
          </a:xfrm>
          <a:prstGeom prst="rect">
            <a:avLst/>
          </a:prstGeom>
          <a:noFill/>
        </p:spPr>
        <p:txBody>
          <a:bodyPr wrap="square">
            <a:spAutoFit/>
          </a:bodyPr>
          <a:lstStyle/>
          <a:p>
            <a:pPr algn="l"/>
            <a:r>
              <a:rPr sz="2000" b="1">
                <a:solidFill>
                  <a:srgbClr val="27AE60"/>
                </a:solidFill>
                <a:latin typeface="Segoe UI"/>
              </a:rPr>
              <a:t>↓ 33%</a:t>
            </a:r>
          </a:p>
        </p:txBody>
      </p:sp>
      <p:sp>
        <p:nvSpPr>
          <p:cNvPr id="13" name="spiLabel1"/>
          <p:cNvSpPr txBox="1"/>
          <p:nvPr/>
        </p:nvSpPr>
        <p:spPr>
          <a:xfrm>
            <a:off x="8778240" y="3246120"/>
            <a:ext cx="2651760" cy="320040"/>
          </a:xfrm>
          <a:prstGeom prst="rect">
            <a:avLst/>
          </a:prstGeom>
          <a:noFill/>
        </p:spPr>
        <p:txBody>
          <a:bodyPr wrap="square">
            <a:spAutoFit/>
          </a:bodyPr>
          <a:lstStyle/>
          <a:p>
            <a:pPr algn="l"/>
            <a:r>
              <a:rPr sz="1200" b="0">
                <a:solidFill>
                  <a:srgbClr val="5A6B7D"/>
                </a:solidFill>
                <a:latin typeface="Segoe UI"/>
              </a:rPr>
              <a:t>Near-misses</a:t>
            </a:r>
          </a:p>
        </p:txBody>
      </p:sp>
      <p:sp>
        <p:nvSpPr>
          <p:cNvPr id="14" name="spiCard2"/>
          <p:cNvSpPr/>
          <p:nvPr/>
        </p:nvSpPr>
        <p:spPr>
          <a:xfrm>
            <a:off x="8595360" y="3840480"/>
            <a:ext cx="30175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piVal2"/>
          <p:cNvSpPr txBox="1"/>
          <p:nvPr/>
        </p:nvSpPr>
        <p:spPr>
          <a:xfrm>
            <a:off x="8778240" y="3977640"/>
            <a:ext cx="2651760" cy="365760"/>
          </a:xfrm>
          <a:prstGeom prst="rect">
            <a:avLst/>
          </a:prstGeom>
          <a:noFill/>
        </p:spPr>
        <p:txBody>
          <a:bodyPr wrap="square">
            <a:spAutoFit/>
          </a:bodyPr>
          <a:lstStyle/>
          <a:p>
            <a:pPr algn="l"/>
            <a:r>
              <a:rPr sz="2000" b="1">
                <a:solidFill>
                  <a:srgbClr val="1AB3A6"/>
                </a:solidFill>
                <a:latin typeface="Segoe UI"/>
              </a:rPr>
              <a:t>↑ 100%</a:t>
            </a:r>
          </a:p>
        </p:txBody>
      </p:sp>
      <p:sp>
        <p:nvSpPr>
          <p:cNvPr id="16" name="spiLabel2"/>
          <p:cNvSpPr txBox="1"/>
          <p:nvPr/>
        </p:nvSpPr>
        <p:spPr>
          <a:xfrm>
            <a:off x="8778240" y="4343400"/>
            <a:ext cx="2651760" cy="320040"/>
          </a:xfrm>
          <a:prstGeom prst="rect">
            <a:avLst/>
          </a:prstGeom>
          <a:noFill/>
        </p:spPr>
        <p:txBody>
          <a:bodyPr wrap="square">
            <a:spAutoFit/>
          </a:bodyPr>
          <a:lstStyle/>
          <a:p>
            <a:pPr algn="l"/>
            <a:r>
              <a:rPr sz="1200" b="0">
                <a:solidFill>
                  <a:srgbClr val="5A6B7D"/>
                </a:solidFill>
                <a:latin typeface="Segoe UI"/>
              </a:rPr>
              <a:t>Lessons captured</a:t>
            </a:r>
          </a:p>
        </p:txBody>
      </p:sp>
      <p:sp>
        <p:nvSpPr>
          <p:cNvPr id="17" name="spiCard3"/>
          <p:cNvSpPr/>
          <p:nvPr/>
        </p:nvSpPr>
        <p:spPr>
          <a:xfrm>
            <a:off x="8595360" y="4937759"/>
            <a:ext cx="30175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piVal3"/>
          <p:cNvSpPr txBox="1"/>
          <p:nvPr/>
        </p:nvSpPr>
        <p:spPr>
          <a:xfrm>
            <a:off x="8778240" y="5074919"/>
            <a:ext cx="2651760" cy="365760"/>
          </a:xfrm>
          <a:prstGeom prst="rect">
            <a:avLst/>
          </a:prstGeom>
          <a:noFill/>
        </p:spPr>
        <p:txBody>
          <a:bodyPr wrap="square">
            <a:spAutoFit/>
          </a:bodyPr>
          <a:lstStyle/>
          <a:p>
            <a:pPr algn="l"/>
            <a:r>
              <a:rPr sz="2000" b="1">
                <a:solidFill>
                  <a:srgbClr val="1AB3A6"/>
                </a:solidFill>
                <a:latin typeface="Segoe UI"/>
              </a:rPr>
              <a:t>↑ 75%</a:t>
            </a:r>
          </a:p>
        </p:txBody>
      </p:sp>
      <p:sp>
        <p:nvSpPr>
          <p:cNvPr id="19" name="spiLabel3"/>
          <p:cNvSpPr txBox="1"/>
          <p:nvPr/>
        </p:nvSpPr>
        <p:spPr>
          <a:xfrm>
            <a:off x="8778240" y="5440679"/>
            <a:ext cx="2651760" cy="320040"/>
          </a:xfrm>
          <a:prstGeom prst="rect">
            <a:avLst/>
          </a:prstGeom>
          <a:noFill/>
        </p:spPr>
        <p:txBody>
          <a:bodyPr wrap="square">
            <a:spAutoFit/>
          </a:bodyPr>
          <a:lstStyle/>
          <a:p>
            <a:pPr algn="l"/>
            <a:r>
              <a:rPr sz="1200" b="0">
                <a:solidFill>
                  <a:srgbClr val="5A6B7D"/>
                </a:solidFill>
                <a:latin typeface="Segoe UI"/>
              </a:rPr>
              <a:t>CAPs closed</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CHANGE CONTROL</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Management of Change</a:t>
            </a:r>
          </a:p>
        </p:txBody>
      </p:sp>
      <p:sp>
        <p:nvSpPr>
          <p:cNvPr id="6" name="mocIntro"/>
          <p:cNvSpPr txBox="1"/>
          <p:nvPr/>
        </p:nvSpPr>
        <p:spPr>
          <a:xfrm>
            <a:off x="640080" y="1280160"/>
            <a:ext cx="10972800" cy="365760"/>
          </a:xfrm>
          <a:prstGeom prst="rect">
            <a:avLst/>
          </a:prstGeom>
          <a:noFill/>
        </p:spPr>
        <p:txBody>
          <a:bodyPr wrap="square">
            <a:spAutoFit/>
          </a:bodyPr>
          <a:lstStyle/>
          <a:p>
            <a:pPr algn="l"/>
            <a:r>
              <a:rPr sz="1300" b="0">
                <a:solidFill>
                  <a:srgbClr val="5A6B7D"/>
                </a:solidFill>
                <a:latin typeface="Segoe UI"/>
              </a:rPr>
              <a:t>The MOC process has four basic phases. Both the effect of change and the effect of implementing change are considered.</a:t>
            </a:r>
          </a:p>
        </p:txBody>
      </p:sp>
      <p:sp>
        <p:nvSpPr>
          <p:cNvPr id="7" name="mocCirc0"/>
          <p:cNvSpPr/>
          <p:nvPr/>
        </p:nvSpPr>
        <p:spPr>
          <a:xfrm>
            <a:off x="1508760" y="1783080"/>
            <a:ext cx="868680" cy="86868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ocNum0"/>
          <p:cNvSpPr txBox="1"/>
          <p:nvPr/>
        </p:nvSpPr>
        <p:spPr>
          <a:xfrm>
            <a:off x="1508760" y="1984248"/>
            <a:ext cx="868680" cy="457200"/>
          </a:xfrm>
          <a:prstGeom prst="rect">
            <a:avLst/>
          </a:prstGeom>
          <a:noFill/>
        </p:spPr>
        <p:txBody>
          <a:bodyPr wrap="square">
            <a:spAutoFit/>
          </a:bodyPr>
          <a:lstStyle/>
          <a:p>
            <a:pPr algn="ctr"/>
            <a:r>
              <a:rPr sz="2000" b="1">
                <a:solidFill>
                  <a:srgbClr val="FFFFFF"/>
                </a:solidFill>
                <a:latin typeface="Segoe UI"/>
              </a:rPr>
              <a:t>1</a:t>
            </a:r>
          </a:p>
        </p:txBody>
      </p:sp>
      <p:sp>
        <p:nvSpPr>
          <p:cNvPr id="9" name="mocName0"/>
          <p:cNvSpPr txBox="1"/>
          <p:nvPr/>
        </p:nvSpPr>
        <p:spPr>
          <a:xfrm>
            <a:off x="777240" y="2697480"/>
            <a:ext cx="2423160" cy="365760"/>
          </a:xfrm>
          <a:prstGeom prst="rect">
            <a:avLst/>
          </a:prstGeom>
          <a:noFill/>
        </p:spPr>
        <p:txBody>
          <a:bodyPr wrap="square">
            <a:spAutoFit/>
          </a:bodyPr>
          <a:lstStyle/>
          <a:p>
            <a:pPr algn="ctr"/>
            <a:r>
              <a:rPr sz="1400" b="1">
                <a:solidFill>
                  <a:srgbClr val="0B1F3A"/>
                </a:solidFill>
                <a:latin typeface="Segoe UI"/>
              </a:rPr>
              <a:t>Screening</a:t>
            </a:r>
          </a:p>
        </p:txBody>
      </p:sp>
      <p:sp>
        <p:nvSpPr>
          <p:cNvPr id="10" name="mocArrow0"/>
          <p:cNvSpPr/>
          <p:nvPr/>
        </p:nvSpPr>
        <p:spPr>
          <a:xfrm>
            <a:off x="2971800" y="2103120"/>
            <a:ext cx="320040" cy="228600"/>
          </a:xfrm>
          <a:prstGeom prst="rightArrow">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ocCirc1"/>
          <p:cNvSpPr/>
          <p:nvPr/>
        </p:nvSpPr>
        <p:spPr>
          <a:xfrm>
            <a:off x="4389119" y="1783080"/>
            <a:ext cx="868680" cy="868680"/>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cNum1"/>
          <p:cNvSpPr txBox="1"/>
          <p:nvPr/>
        </p:nvSpPr>
        <p:spPr>
          <a:xfrm>
            <a:off x="4389119" y="1984248"/>
            <a:ext cx="868680" cy="457200"/>
          </a:xfrm>
          <a:prstGeom prst="rect">
            <a:avLst/>
          </a:prstGeom>
          <a:noFill/>
        </p:spPr>
        <p:txBody>
          <a:bodyPr wrap="square">
            <a:spAutoFit/>
          </a:bodyPr>
          <a:lstStyle/>
          <a:p>
            <a:pPr algn="ctr"/>
            <a:r>
              <a:rPr sz="2000" b="1">
                <a:solidFill>
                  <a:srgbClr val="FFFFFF"/>
                </a:solidFill>
                <a:latin typeface="Segoe UI"/>
              </a:rPr>
              <a:t>2</a:t>
            </a:r>
          </a:p>
        </p:txBody>
      </p:sp>
      <p:sp>
        <p:nvSpPr>
          <p:cNvPr id="13" name="mocName1"/>
          <p:cNvSpPr txBox="1"/>
          <p:nvPr/>
        </p:nvSpPr>
        <p:spPr>
          <a:xfrm>
            <a:off x="3657599" y="2697480"/>
            <a:ext cx="2423160" cy="365760"/>
          </a:xfrm>
          <a:prstGeom prst="rect">
            <a:avLst/>
          </a:prstGeom>
          <a:noFill/>
        </p:spPr>
        <p:txBody>
          <a:bodyPr wrap="square">
            <a:spAutoFit/>
          </a:bodyPr>
          <a:lstStyle/>
          <a:p>
            <a:pPr algn="ctr"/>
            <a:r>
              <a:rPr sz="1400" b="1">
                <a:solidFill>
                  <a:srgbClr val="0B1F3A"/>
                </a:solidFill>
                <a:latin typeface="Segoe UI"/>
              </a:rPr>
              <a:t>Review</a:t>
            </a:r>
          </a:p>
        </p:txBody>
      </p:sp>
      <p:sp>
        <p:nvSpPr>
          <p:cNvPr id="14" name="mocArrow1"/>
          <p:cNvSpPr/>
          <p:nvPr/>
        </p:nvSpPr>
        <p:spPr>
          <a:xfrm>
            <a:off x="5852159" y="2103120"/>
            <a:ext cx="320040" cy="228600"/>
          </a:xfrm>
          <a:prstGeom prst="rightArrow">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cCirc2"/>
          <p:cNvSpPr/>
          <p:nvPr/>
        </p:nvSpPr>
        <p:spPr>
          <a:xfrm>
            <a:off x="7269480" y="1783080"/>
            <a:ext cx="868680" cy="868680"/>
          </a:xfrm>
          <a:prstGeom prst="ellipse">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ocNum2"/>
          <p:cNvSpPr txBox="1"/>
          <p:nvPr/>
        </p:nvSpPr>
        <p:spPr>
          <a:xfrm>
            <a:off x="7269480" y="1984248"/>
            <a:ext cx="868680" cy="457200"/>
          </a:xfrm>
          <a:prstGeom prst="rect">
            <a:avLst/>
          </a:prstGeom>
          <a:noFill/>
        </p:spPr>
        <p:txBody>
          <a:bodyPr wrap="square">
            <a:spAutoFit/>
          </a:bodyPr>
          <a:lstStyle/>
          <a:p>
            <a:pPr algn="ctr"/>
            <a:r>
              <a:rPr sz="2000" b="1">
                <a:solidFill>
                  <a:srgbClr val="FFFFFF"/>
                </a:solidFill>
                <a:latin typeface="Segoe UI"/>
              </a:rPr>
              <a:t>3</a:t>
            </a:r>
          </a:p>
        </p:txBody>
      </p:sp>
      <p:sp>
        <p:nvSpPr>
          <p:cNvPr id="17" name="mocName2"/>
          <p:cNvSpPr txBox="1"/>
          <p:nvPr/>
        </p:nvSpPr>
        <p:spPr>
          <a:xfrm>
            <a:off x="6537960" y="2697480"/>
            <a:ext cx="2423160" cy="365760"/>
          </a:xfrm>
          <a:prstGeom prst="rect">
            <a:avLst/>
          </a:prstGeom>
          <a:noFill/>
        </p:spPr>
        <p:txBody>
          <a:bodyPr wrap="square">
            <a:spAutoFit/>
          </a:bodyPr>
          <a:lstStyle/>
          <a:p>
            <a:pPr algn="ctr"/>
            <a:r>
              <a:rPr sz="1400" b="1">
                <a:solidFill>
                  <a:srgbClr val="0B1F3A"/>
                </a:solidFill>
                <a:latin typeface="Segoe UI"/>
              </a:rPr>
              <a:t>Approval</a:t>
            </a:r>
          </a:p>
        </p:txBody>
      </p:sp>
      <p:sp>
        <p:nvSpPr>
          <p:cNvPr id="18" name="mocArrow2"/>
          <p:cNvSpPr/>
          <p:nvPr/>
        </p:nvSpPr>
        <p:spPr>
          <a:xfrm>
            <a:off x="8732520" y="2103120"/>
            <a:ext cx="320040" cy="228600"/>
          </a:xfrm>
          <a:prstGeom prst="rightArrow">
            <a:avLst/>
          </a:prstGeom>
          <a:solidFill>
            <a:srgbClr val="EC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mocCirc3"/>
          <p:cNvSpPr/>
          <p:nvPr/>
        </p:nvSpPr>
        <p:spPr>
          <a:xfrm>
            <a:off x="10149839" y="1783080"/>
            <a:ext cx="868680" cy="86868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ocNum3"/>
          <p:cNvSpPr txBox="1"/>
          <p:nvPr/>
        </p:nvSpPr>
        <p:spPr>
          <a:xfrm>
            <a:off x="10149839" y="1984248"/>
            <a:ext cx="868680" cy="457200"/>
          </a:xfrm>
          <a:prstGeom prst="rect">
            <a:avLst/>
          </a:prstGeom>
          <a:noFill/>
        </p:spPr>
        <p:txBody>
          <a:bodyPr wrap="square">
            <a:spAutoFit/>
          </a:bodyPr>
          <a:lstStyle/>
          <a:p>
            <a:pPr algn="ctr"/>
            <a:r>
              <a:rPr sz="2000" b="1">
                <a:solidFill>
                  <a:srgbClr val="FFFFFF"/>
                </a:solidFill>
                <a:latin typeface="Segoe UI"/>
              </a:rPr>
              <a:t>4</a:t>
            </a:r>
          </a:p>
        </p:txBody>
      </p:sp>
      <p:sp>
        <p:nvSpPr>
          <p:cNvPr id="21" name="mocName3"/>
          <p:cNvSpPr txBox="1"/>
          <p:nvPr/>
        </p:nvSpPr>
        <p:spPr>
          <a:xfrm>
            <a:off x="9418319" y="2697480"/>
            <a:ext cx="2423160" cy="365760"/>
          </a:xfrm>
          <a:prstGeom prst="rect">
            <a:avLst/>
          </a:prstGeom>
          <a:noFill/>
        </p:spPr>
        <p:txBody>
          <a:bodyPr wrap="square">
            <a:spAutoFit/>
          </a:bodyPr>
          <a:lstStyle/>
          <a:p>
            <a:pPr algn="ctr"/>
            <a:r>
              <a:rPr sz="1400" b="1">
                <a:solidFill>
                  <a:srgbClr val="0B1F3A"/>
                </a:solidFill>
                <a:latin typeface="Segoe UI"/>
              </a:rPr>
              <a:t>Implementation</a:t>
            </a:r>
          </a:p>
        </p:txBody>
      </p:sp>
      <p:sp>
        <p:nvSpPr>
          <p:cNvPr id="22" name="mocProc0"/>
          <p:cNvSpPr/>
          <p:nvPr/>
        </p:nvSpPr>
        <p:spPr>
          <a:xfrm>
            <a:off x="640080" y="3246120"/>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ocProcText0"/>
          <p:cNvSpPr txBox="1"/>
          <p:nvPr/>
        </p:nvSpPr>
        <p:spPr>
          <a:xfrm>
            <a:off x="822960" y="3310128"/>
            <a:ext cx="5120640" cy="457200"/>
          </a:xfrm>
          <a:prstGeom prst="rect">
            <a:avLst/>
          </a:prstGeom>
          <a:noFill/>
        </p:spPr>
        <p:txBody>
          <a:bodyPr wrap="square">
            <a:spAutoFit/>
          </a:bodyPr>
          <a:lstStyle/>
          <a:p>
            <a:pPr algn="l"/>
            <a:r>
              <a:rPr sz="1050" b="1">
                <a:solidFill>
                  <a:srgbClr val="0B1F3A"/>
                </a:solidFill>
                <a:latin typeface="Segoe UI"/>
              </a:rPr>
              <a:t>01   Risk assessment</a:t>
            </a:r>
          </a:p>
        </p:txBody>
      </p:sp>
      <p:sp>
        <p:nvSpPr>
          <p:cNvPr id="24" name="mocProc1"/>
          <p:cNvSpPr/>
          <p:nvPr/>
        </p:nvSpPr>
        <p:spPr>
          <a:xfrm>
            <a:off x="6263640" y="3246120"/>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cProcText1"/>
          <p:cNvSpPr txBox="1"/>
          <p:nvPr/>
        </p:nvSpPr>
        <p:spPr>
          <a:xfrm>
            <a:off x="6446520" y="3310128"/>
            <a:ext cx="5120640" cy="457200"/>
          </a:xfrm>
          <a:prstGeom prst="rect">
            <a:avLst/>
          </a:prstGeom>
          <a:noFill/>
        </p:spPr>
        <p:txBody>
          <a:bodyPr wrap="square">
            <a:spAutoFit/>
          </a:bodyPr>
          <a:lstStyle/>
          <a:p>
            <a:pPr algn="l"/>
            <a:r>
              <a:rPr sz="1050" b="1">
                <a:solidFill>
                  <a:srgbClr val="0B1F3A"/>
                </a:solidFill>
                <a:latin typeface="Segoe UI"/>
              </a:rPr>
              <a:t>02   Identifying the goals, objectives and nature of the proposed change</a:t>
            </a:r>
          </a:p>
        </p:txBody>
      </p:sp>
      <p:sp>
        <p:nvSpPr>
          <p:cNvPr id="26" name="mocProc2"/>
          <p:cNvSpPr/>
          <p:nvPr/>
        </p:nvSpPr>
        <p:spPr>
          <a:xfrm>
            <a:off x="640080" y="3904487"/>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cProcText2"/>
          <p:cNvSpPr txBox="1"/>
          <p:nvPr/>
        </p:nvSpPr>
        <p:spPr>
          <a:xfrm>
            <a:off x="822960" y="3968495"/>
            <a:ext cx="5120640" cy="457200"/>
          </a:xfrm>
          <a:prstGeom prst="rect">
            <a:avLst/>
          </a:prstGeom>
          <a:noFill/>
        </p:spPr>
        <p:txBody>
          <a:bodyPr wrap="square">
            <a:spAutoFit/>
          </a:bodyPr>
          <a:lstStyle/>
          <a:p>
            <a:pPr algn="l"/>
            <a:r>
              <a:rPr sz="1050" b="1">
                <a:solidFill>
                  <a:srgbClr val="0B1F3A"/>
                </a:solidFill>
                <a:latin typeface="Segoe UI"/>
              </a:rPr>
              <a:t>03   Identifying operational procedures</a:t>
            </a:r>
          </a:p>
        </p:txBody>
      </p:sp>
      <p:sp>
        <p:nvSpPr>
          <p:cNvPr id="28" name="mocProc3"/>
          <p:cNvSpPr/>
          <p:nvPr/>
        </p:nvSpPr>
        <p:spPr>
          <a:xfrm>
            <a:off x="6263640" y="3904487"/>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cProcText3"/>
          <p:cNvSpPr txBox="1"/>
          <p:nvPr/>
        </p:nvSpPr>
        <p:spPr>
          <a:xfrm>
            <a:off x="6446520" y="3968495"/>
            <a:ext cx="5120640" cy="457200"/>
          </a:xfrm>
          <a:prstGeom prst="rect">
            <a:avLst/>
          </a:prstGeom>
          <a:noFill/>
        </p:spPr>
        <p:txBody>
          <a:bodyPr wrap="square">
            <a:spAutoFit/>
          </a:bodyPr>
          <a:lstStyle/>
          <a:p>
            <a:pPr algn="l"/>
            <a:r>
              <a:rPr sz="1050" b="1">
                <a:solidFill>
                  <a:srgbClr val="0B1F3A"/>
                </a:solidFill>
                <a:latin typeface="Segoe UI"/>
              </a:rPr>
              <a:t>04   Analyzing changes in location, equipment or operating conditions</a:t>
            </a:r>
          </a:p>
        </p:txBody>
      </p:sp>
      <p:sp>
        <p:nvSpPr>
          <p:cNvPr id="30" name="mocProc4"/>
          <p:cNvSpPr/>
          <p:nvPr/>
        </p:nvSpPr>
        <p:spPr>
          <a:xfrm>
            <a:off x="640080" y="4562856"/>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mocProcText4"/>
          <p:cNvSpPr txBox="1"/>
          <p:nvPr/>
        </p:nvSpPr>
        <p:spPr>
          <a:xfrm>
            <a:off x="822960" y="4626864"/>
            <a:ext cx="5120640" cy="457200"/>
          </a:xfrm>
          <a:prstGeom prst="rect">
            <a:avLst/>
          </a:prstGeom>
          <a:noFill/>
        </p:spPr>
        <p:txBody>
          <a:bodyPr wrap="square">
            <a:spAutoFit/>
          </a:bodyPr>
          <a:lstStyle/>
          <a:p>
            <a:pPr algn="l"/>
            <a:r>
              <a:rPr sz="1050" b="1">
                <a:solidFill>
                  <a:srgbClr val="0B1F3A"/>
                </a:solidFill>
                <a:latin typeface="Segoe UI"/>
              </a:rPr>
              <a:t>05   Posting current changes in maintenance and operator manuals</a:t>
            </a:r>
          </a:p>
        </p:txBody>
      </p:sp>
      <p:sp>
        <p:nvSpPr>
          <p:cNvPr id="32" name="mocProc5"/>
          <p:cNvSpPr/>
          <p:nvPr/>
        </p:nvSpPr>
        <p:spPr>
          <a:xfrm>
            <a:off x="6263640" y="4562856"/>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mocProcText5"/>
          <p:cNvSpPr txBox="1"/>
          <p:nvPr/>
        </p:nvSpPr>
        <p:spPr>
          <a:xfrm>
            <a:off x="6446520" y="4626864"/>
            <a:ext cx="5120640" cy="457200"/>
          </a:xfrm>
          <a:prstGeom prst="rect">
            <a:avLst/>
          </a:prstGeom>
          <a:noFill/>
        </p:spPr>
        <p:txBody>
          <a:bodyPr wrap="square">
            <a:spAutoFit/>
          </a:bodyPr>
          <a:lstStyle/>
          <a:p>
            <a:pPr algn="l"/>
            <a:r>
              <a:rPr sz="1050" b="1">
                <a:solidFill>
                  <a:srgbClr val="0B1F3A"/>
                </a:solidFill>
                <a:latin typeface="Segoe UI"/>
              </a:rPr>
              <a:t>06   All personnel being made aware of and understanding changes</a:t>
            </a:r>
          </a:p>
        </p:txBody>
      </p:sp>
      <p:sp>
        <p:nvSpPr>
          <p:cNvPr id="34" name="mocProc6"/>
          <p:cNvSpPr/>
          <p:nvPr/>
        </p:nvSpPr>
        <p:spPr>
          <a:xfrm>
            <a:off x="640080" y="5221224"/>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ocProcText6"/>
          <p:cNvSpPr txBox="1"/>
          <p:nvPr/>
        </p:nvSpPr>
        <p:spPr>
          <a:xfrm>
            <a:off x="822960" y="5285232"/>
            <a:ext cx="5120640" cy="457200"/>
          </a:xfrm>
          <a:prstGeom prst="rect">
            <a:avLst/>
          </a:prstGeom>
          <a:noFill/>
        </p:spPr>
        <p:txBody>
          <a:bodyPr wrap="square">
            <a:spAutoFit/>
          </a:bodyPr>
          <a:lstStyle/>
          <a:p>
            <a:pPr algn="l"/>
            <a:r>
              <a:rPr sz="1050" b="1">
                <a:solidFill>
                  <a:srgbClr val="0B1F3A"/>
                </a:solidFill>
                <a:latin typeface="Segoe UI"/>
              </a:rPr>
              <a:t>07   Identifying the level of management with authority to approve changes</a:t>
            </a:r>
          </a:p>
        </p:txBody>
      </p:sp>
      <p:sp>
        <p:nvSpPr>
          <p:cNvPr id="36" name="mocProc7"/>
          <p:cNvSpPr/>
          <p:nvPr/>
        </p:nvSpPr>
        <p:spPr>
          <a:xfrm>
            <a:off x="6263640" y="5221224"/>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mocProcText7"/>
          <p:cNvSpPr txBox="1"/>
          <p:nvPr/>
        </p:nvSpPr>
        <p:spPr>
          <a:xfrm>
            <a:off x="6446520" y="5285232"/>
            <a:ext cx="5120640" cy="457200"/>
          </a:xfrm>
          <a:prstGeom prst="rect">
            <a:avLst/>
          </a:prstGeom>
          <a:noFill/>
        </p:spPr>
        <p:txBody>
          <a:bodyPr wrap="square">
            <a:spAutoFit/>
          </a:bodyPr>
          <a:lstStyle/>
          <a:p>
            <a:pPr algn="l"/>
            <a:r>
              <a:rPr sz="1050" b="1">
                <a:solidFill>
                  <a:srgbClr val="0B1F3A"/>
                </a:solidFill>
                <a:latin typeface="Segoe UI"/>
              </a:rPr>
              <a:t>08   Reviewing, evaluating and recording potential safety hazards from the change or its implementation</a:t>
            </a:r>
          </a:p>
        </p:txBody>
      </p:sp>
      <p:sp>
        <p:nvSpPr>
          <p:cNvPr id="38" name="mocProc8"/>
          <p:cNvSpPr/>
          <p:nvPr/>
        </p:nvSpPr>
        <p:spPr>
          <a:xfrm>
            <a:off x="640080" y="5879592"/>
            <a:ext cx="54406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mocProcText8"/>
          <p:cNvSpPr txBox="1"/>
          <p:nvPr/>
        </p:nvSpPr>
        <p:spPr>
          <a:xfrm>
            <a:off x="822960" y="5943600"/>
            <a:ext cx="5120640" cy="457200"/>
          </a:xfrm>
          <a:prstGeom prst="rect">
            <a:avLst/>
          </a:prstGeom>
          <a:noFill/>
        </p:spPr>
        <p:txBody>
          <a:bodyPr wrap="square">
            <a:spAutoFit/>
          </a:bodyPr>
          <a:lstStyle/>
          <a:p>
            <a:pPr algn="l"/>
            <a:r>
              <a:rPr sz="1050" b="1">
                <a:solidFill>
                  <a:srgbClr val="0B1F3A"/>
                </a:solidFill>
                <a:latin typeface="Segoe UI"/>
              </a:rPr>
              <a:t>09   Approval of the agreed change and the implementation procedure(s)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08"/>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216"/>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324"/>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432"/>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54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64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756"/>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864"/>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972"/>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08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188"/>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296"/>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404"/>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1512"/>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162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1728"/>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1836"/>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1944"/>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052"/>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216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2268"/>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2376"/>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2484"/>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2592"/>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270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2808"/>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2916"/>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grpId="0" nodeType="withEffect">
                                  <p:stCondLst>
                                    <p:cond delay="3024"/>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3132"/>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324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par>
                                <p:cTn id="98" presetID="10" presetClass="entr" presetSubtype="0" fill="hold" grpId="0" nodeType="withEffect">
                                  <p:stCondLst>
                                    <p:cond delay="3348"/>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par>
                                <p:cTn id="101" presetID="10" presetClass="entr" presetSubtype="0" fill="hold" grpId="0" nodeType="withEffect">
                                  <p:stCondLst>
                                    <p:cond delay="3456"/>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500"/>
                                        <p:tgtEl>
                                          <p:spTgt spid="35"/>
                                        </p:tgtEl>
                                      </p:cBhvr>
                                    </p:animEffect>
                                  </p:childTnLst>
                                </p:cTn>
                              </p:par>
                              <p:par>
                                <p:cTn id="104" presetID="10" presetClass="entr" presetSubtype="0" fill="hold" grpId="0" nodeType="withEffect">
                                  <p:stCondLst>
                                    <p:cond delay="3564"/>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500"/>
                                        <p:tgtEl>
                                          <p:spTgt spid="36"/>
                                        </p:tgtEl>
                                      </p:cBhvr>
                                    </p:animEffect>
                                  </p:childTnLst>
                                </p:cTn>
                              </p:par>
                              <p:par>
                                <p:cTn id="107" presetID="10" presetClass="entr" presetSubtype="0" fill="hold" grpId="0" nodeType="withEffect">
                                  <p:stCondLst>
                                    <p:cond delay="3672"/>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par>
                                <p:cTn id="110" presetID="10" presetClass="entr" presetSubtype="0" fill="hold" grpId="0" nodeType="withEffect">
                                  <p:stCondLst>
                                    <p:cond delay="378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par>
                                <p:cTn id="113" presetID="10" presetClass="entr" presetSubtype="0" fill="hold" grpId="0" nodeType="withEffect">
                                  <p:stCondLst>
                                    <p:cond delay="3888"/>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COMPONENT 4</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Continuous Improvement</a:t>
            </a:r>
          </a:p>
        </p:txBody>
      </p:sp>
      <p:sp>
        <p:nvSpPr>
          <p:cNvPr id="6" name="cycle0"/>
          <p:cNvSpPr/>
          <p:nvPr/>
        </p:nvSpPr>
        <p:spPr>
          <a:xfrm>
            <a:off x="5029200" y="1554480"/>
            <a:ext cx="2377440" cy="1463040"/>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ycleText0"/>
          <p:cNvSpPr txBox="1"/>
          <p:nvPr/>
        </p:nvSpPr>
        <p:spPr>
          <a:xfrm>
            <a:off x="5166360" y="1920240"/>
            <a:ext cx="2103120" cy="822960"/>
          </a:xfrm>
          <a:prstGeom prst="rect">
            <a:avLst/>
          </a:prstGeom>
          <a:noFill/>
        </p:spPr>
        <p:txBody>
          <a:bodyPr wrap="square">
            <a:spAutoFit/>
          </a:bodyPr>
          <a:lstStyle/>
          <a:p>
            <a:pPr algn="ctr"/>
            <a:r>
              <a:rPr sz="1400" b="1">
                <a:solidFill>
                  <a:srgbClr val="FFFFFF"/>
                </a:solidFill>
                <a:latin typeface="Segoe UI"/>
              </a:rPr>
              <a:t>Safety Risk
Management</a:t>
            </a:r>
          </a:p>
        </p:txBody>
      </p:sp>
      <p:sp>
        <p:nvSpPr>
          <p:cNvPr id="8" name="cycle1"/>
          <p:cNvSpPr/>
          <p:nvPr/>
        </p:nvSpPr>
        <p:spPr>
          <a:xfrm>
            <a:off x="8046720" y="3017520"/>
            <a:ext cx="2377440" cy="1463040"/>
          </a:xfrm>
          <a:prstGeom prst="ellipse">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ycleText1"/>
          <p:cNvSpPr txBox="1"/>
          <p:nvPr/>
        </p:nvSpPr>
        <p:spPr>
          <a:xfrm>
            <a:off x="8183880" y="3383280"/>
            <a:ext cx="2103120" cy="822960"/>
          </a:xfrm>
          <a:prstGeom prst="rect">
            <a:avLst/>
          </a:prstGeom>
          <a:noFill/>
        </p:spPr>
        <p:txBody>
          <a:bodyPr wrap="square">
            <a:spAutoFit/>
          </a:bodyPr>
          <a:lstStyle/>
          <a:p>
            <a:pPr algn="ctr"/>
            <a:r>
              <a:rPr sz="1400" b="1">
                <a:solidFill>
                  <a:srgbClr val="FFFFFF"/>
                </a:solidFill>
                <a:latin typeface="Segoe UI"/>
              </a:rPr>
              <a:t>Safety
Assurance</a:t>
            </a:r>
          </a:p>
        </p:txBody>
      </p:sp>
      <p:sp>
        <p:nvSpPr>
          <p:cNvPr id="10" name="cycle2"/>
          <p:cNvSpPr/>
          <p:nvPr/>
        </p:nvSpPr>
        <p:spPr>
          <a:xfrm>
            <a:off x="5029200" y="4480560"/>
            <a:ext cx="2377440" cy="146304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ycleText2"/>
          <p:cNvSpPr txBox="1"/>
          <p:nvPr/>
        </p:nvSpPr>
        <p:spPr>
          <a:xfrm>
            <a:off x="5166360" y="4846320"/>
            <a:ext cx="2103120" cy="822960"/>
          </a:xfrm>
          <a:prstGeom prst="rect">
            <a:avLst/>
          </a:prstGeom>
          <a:noFill/>
        </p:spPr>
        <p:txBody>
          <a:bodyPr wrap="square">
            <a:spAutoFit/>
          </a:bodyPr>
          <a:lstStyle/>
          <a:p>
            <a:pPr algn="ctr"/>
            <a:r>
              <a:rPr sz="1400" b="1">
                <a:solidFill>
                  <a:srgbClr val="FFFFFF"/>
                </a:solidFill>
                <a:latin typeface="Segoe UI"/>
              </a:rPr>
              <a:t>Lessons
Learned</a:t>
            </a:r>
          </a:p>
        </p:txBody>
      </p:sp>
      <p:sp>
        <p:nvSpPr>
          <p:cNvPr id="12" name="cycle3"/>
          <p:cNvSpPr/>
          <p:nvPr/>
        </p:nvSpPr>
        <p:spPr>
          <a:xfrm>
            <a:off x="2011680" y="3017520"/>
            <a:ext cx="2377440" cy="1463040"/>
          </a:xfrm>
          <a:prstGeom prst="ellipse">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ycleText3"/>
          <p:cNvSpPr txBox="1"/>
          <p:nvPr/>
        </p:nvSpPr>
        <p:spPr>
          <a:xfrm>
            <a:off x="2148840" y="3383280"/>
            <a:ext cx="2103120" cy="822960"/>
          </a:xfrm>
          <a:prstGeom prst="rect">
            <a:avLst/>
          </a:prstGeom>
          <a:noFill/>
        </p:spPr>
        <p:txBody>
          <a:bodyPr wrap="square">
            <a:spAutoFit/>
          </a:bodyPr>
          <a:lstStyle/>
          <a:p>
            <a:pPr algn="ctr"/>
            <a:r>
              <a:rPr sz="1400" b="1">
                <a:solidFill>
                  <a:srgbClr val="FFFFFF"/>
                </a:solidFill>
                <a:latin typeface="Segoe UI"/>
              </a:rPr>
              <a:t>Communicate
to All</a:t>
            </a:r>
          </a:p>
        </p:txBody>
      </p:sp>
      <p:sp>
        <p:nvSpPr>
          <p:cNvPr id="14" name="cycleCenter"/>
          <p:cNvSpPr/>
          <p:nvPr/>
        </p:nvSpPr>
        <p:spPr>
          <a:xfrm>
            <a:off x="5212080" y="3108960"/>
            <a:ext cx="2011680" cy="1280160"/>
          </a:xfrm>
          <a:prstGeom prst="ellipse">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ycleCenterText"/>
          <p:cNvSpPr txBox="1"/>
          <p:nvPr/>
        </p:nvSpPr>
        <p:spPr>
          <a:xfrm>
            <a:off x="5212080" y="3429000"/>
            <a:ext cx="2011680" cy="640080"/>
          </a:xfrm>
          <a:prstGeom prst="rect">
            <a:avLst/>
          </a:prstGeom>
          <a:noFill/>
        </p:spPr>
        <p:txBody>
          <a:bodyPr wrap="square">
            <a:spAutoFit/>
          </a:bodyPr>
          <a:lstStyle/>
          <a:p>
            <a:pPr algn="ctr"/>
            <a:r>
              <a:rPr sz="1400" b="1">
                <a:solidFill>
                  <a:srgbClr val="E8B923"/>
                </a:solidFill>
                <a:latin typeface="Segoe UI"/>
              </a:rPr>
              <a:t>SMS
IMPROVE</a:t>
            </a:r>
          </a:p>
        </p:txBody>
      </p:sp>
      <p:sp>
        <p:nvSpPr>
          <p:cNvPr id="16" name="improveNote"/>
          <p:cNvSpPr txBox="1"/>
          <p:nvPr/>
        </p:nvSpPr>
        <p:spPr>
          <a:xfrm>
            <a:off x="640080" y="5989320"/>
            <a:ext cx="10972800" cy="548640"/>
          </a:xfrm>
          <a:prstGeom prst="rect">
            <a:avLst/>
          </a:prstGeom>
          <a:noFill/>
        </p:spPr>
        <p:txBody>
          <a:bodyPr wrap="square">
            <a:spAutoFit/>
          </a:bodyPr>
          <a:lstStyle/>
          <a:p>
            <a:pPr algn="ctr"/>
            <a:r>
              <a:rPr sz="1200" b="0">
                <a:solidFill>
                  <a:srgbClr val="5A6B7D"/>
                </a:solidFill>
                <a:latin typeface="Segoe UI"/>
              </a:rPr>
              <a:t>Continual improvement through recurring application of Safety Risk Management, Safety Assurance — using safety lessons learned and communicating them to all personnel.</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PEOPLE</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Safety Promotion &amp; Culture</a:t>
            </a:r>
          </a:p>
        </p:txBody>
      </p:sp>
      <p:sp>
        <p:nvSpPr>
          <p:cNvPr id="6" name="promoCard0"/>
          <p:cNvSpPr/>
          <p:nvPr/>
        </p:nvSpPr>
        <p:spPr>
          <a:xfrm>
            <a:off x="502920" y="1737360"/>
            <a:ext cx="2743200" cy="4023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moTop0"/>
          <p:cNvSpPr/>
          <p:nvPr/>
        </p:nvSpPr>
        <p:spPr>
          <a:xfrm>
            <a:off x="502920" y="1737360"/>
            <a:ext cx="2743200" cy="1463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moCirc0"/>
          <p:cNvSpPr/>
          <p:nvPr/>
        </p:nvSpPr>
        <p:spPr>
          <a:xfrm>
            <a:off x="1325880" y="2011680"/>
            <a:ext cx="1097280" cy="10972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moIcon0"/>
          <p:cNvSpPr txBox="1"/>
          <p:nvPr/>
        </p:nvSpPr>
        <p:spPr>
          <a:xfrm>
            <a:off x="1325880" y="2286000"/>
            <a:ext cx="1097280" cy="548640"/>
          </a:xfrm>
          <a:prstGeom prst="rect">
            <a:avLst/>
          </a:prstGeom>
          <a:noFill/>
        </p:spPr>
        <p:txBody>
          <a:bodyPr wrap="square">
            <a:spAutoFit/>
          </a:bodyPr>
          <a:lstStyle/>
          <a:p>
            <a:pPr algn="ctr"/>
            <a:r>
              <a:rPr sz="2200" b="1">
                <a:solidFill>
                  <a:srgbClr val="0B1F3A"/>
                </a:solidFill>
                <a:latin typeface="Segoe UI"/>
              </a:rPr>
              <a:t>✎</a:t>
            </a:r>
          </a:p>
        </p:txBody>
      </p:sp>
      <p:sp>
        <p:nvSpPr>
          <p:cNvPr id="10" name="promoTitle0"/>
          <p:cNvSpPr txBox="1"/>
          <p:nvPr/>
        </p:nvSpPr>
        <p:spPr>
          <a:xfrm>
            <a:off x="685800" y="3474720"/>
            <a:ext cx="2377440" cy="640080"/>
          </a:xfrm>
          <a:prstGeom prst="rect">
            <a:avLst/>
          </a:prstGeom>
          <a:noFill/>
        </p:spPr>
        <p:txBody>
          <a:bodyPr wrap="square">
            <a:spAutoFit/>
          </a:bodyPr>
          <a:lstStyle/>
          <a:p>
            <a:pPr algn="ctr"/>
            <a:r>
              <a:rPr sz="1400" b="1">
                <a:solidFill>
                  <a:srgbClr val="0B1F3A"/>
                </a:solidFill>
                <a:latin typeface="Segoe UI"/>
              </a:rPr>
              <a:t>TRAINING &amp; EDUCATION</a:t>
            </a:r>
          </a:p>
        </p:txBody>
      </p:sp>
      <p:sp>
        <p:nvSpPr>
          <p:cNvPr id="11" name="promoDesc0"/>
          <p:cNvSpPr txBox="1"/>
          <p:nvPr/>
        </p:nvSpPr>
        <p:spPr>
          <a:xfrm>
            <a:off x="731520" y="4297680"/>
            <a:ext cx="2286000" cy="1097280"/>
          </a:xfrm>
          <a:prstGeom prst="rect">
            <a:avLst/>
          </a:prstGeom>
          <a:noFill/>
        </p:spPr>
        <p:txBody>
          <a:bodyPr wrap="square">
            <a:spAutoFit/>
          </a:bodyPr>
          <a:lstStyle/>
          <a:p>
            <a:pPr algn="ctr"/>
            <a:r>
              <a:rPr sz="1300" b="0">
                <a:solidFill>
                  <a:srgbClr val="5A6B7D"/>
                </a:solidFill>
                <a:latin typeface="Segoe UI"/>
              </a:rPr>
              <a:t>Minimum safety training to all the employees</a:t>
            </a:r>
          </a:p>
        </p:txBody>
      </p:sp>
      <p:sp>
        <p:nvSpPr>
          <p:cNvPr id="12" name="promoCard1"/>
          <p:cNvSpPr/>
          <p:nvPr/>
        </p:nvSpPr>
        <p:spPr>
          <a:xfrm>
            <a:off x="3429000" y="1737360"/>
            <a:ext cx="2743200" cy="4023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moTop1"/>
          <p:cNvSpPr/>
          <p:nvPr/>
        </p:nvSpPr>
        <p:spPr>
          <a:xfrm>
            <a:off x="3429000" y="1737360"/>
            <a:ext cx="2743200" cy="1463040"/>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moCirc1"/>
          <p:cNvSpPr/>
          <p:nvPr/>
        </p:nvSpPr>
        <p:spPr>
          <a:xfrm>
            <a:off x="4251960" y="2011680"/>
            <a:ext cx="1097280" cy="10972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moIcon1"/>
          <p:cNvSpPr txBox="1"/>
          <p:nvPr/>
        </p:nvSpPr>
        <p:spPr>
          <a:xfrm>
            <a:off x="4251960" y="2286000"/>
            <a:ext cx="1097280" cy="548640"/>
          </a:xfrm>
          <a:prstGeom prst="rect">
            <a:avLst/>
          </a:prstGeom>
          <a:noFill/>
        </p:spPr>
        <p:txBody>
          <a:bodyPr wrap="square">
            <a:spAutoFit/>
          </a:bodyPr>
          <a:lstStyle/>
          <a:p>
            <a:pPr algn="ctr"/>
            <a:r>
              <a:rPr sz="2200" b="1">
                <a:solidFill>
                  <a:srgbClr val="1AB3A6"/>
                </a:solidFill>
                <a:latin typeface="Segoe UI"/>
              </a:rPr>
              <a:t>◎</a:t>
            </a:r>
          </a:p>
        </p:txBody>
      </p:sp>
      <p:sp>
        <p:nvSpPr>
          <p:cNvPr id="16" name="promoTitle1"/>
          <p:cNvSpPr txBox="1"/>
          <p:nvPr/>
        </p:nvSpPr>
        <p:spPr>
          <a:xfrm>
            <a:off x="3611880" y="3474720"/>
            <a:ext cx="2377440" cy="640080"/>
          </a:xfrm>
          <a:prstGeom prst="rect">
            <a:avLst/>
          </a:prstGeom>
          <a:noFill/>
        </p:spPr>
        <p:txBody>
          <a:bodyPr wrap="square">
            <a:spAutoFit/>
          </a:bodyPr>
          <a:lstStyle/>
          <a:p>
            <a:pPr algn="ctr"/>
            <a:r>
              <a:rPr sz="1400" b="1">
                <a:solidFill>
                  <a:srgbClr val="0B1F3A"/>
                </a:solidFill>
                <a:latin typeface="Segoe UI"/>
              </a:rPr>
              <a:t>SMS TRAINING</a:t>
            </a:r>
          </a:p>
        </p:txBody>
      </p:sp>
      <p:sp>
        <p:nvSpPr>
          <p:cNvPr id="17" name="promoDesc1"/>
          <p:cNvSpPr txBox="1"/>
          <p:nvPr/>
        </p:nvSpPr>
        <p:spPr>
          <a:xfrm>
            <a:off x="3657600" y="4297680"/>
            <a:ext cx="2286000" cy="1097280"/>
          </a:xfrm>
          <a:prstGeom prst="rect">
            <a:avLst/>
          </a:prstGeom>
          <a:noFill/>
        </p:spPr>
        <p:txBody>
          <a:bodyPr wrap="square">
            <a:spAutoFit/>
          </a:bodyPr>
          <a:lstStyle/>
          <a:p>
            <a:pPr algn="ctr"/>
            <a:r>
              <a:rPr sz="1300" b="0">
                <a:solidFill>
                  <a:srgbClr val="5A6B7D"/>
                </a:solidFill>
                <a:latin typeface="Segoe UI"/>
              </a:rPr>
              <a:t>All personnel should be given introductory and recurrent SMS training</a:t>
            </a:r>
          </a:p>
        </p:txBody>
      </p:sp>
      <p:sp>
        <p:nvSpPr>
          <p:cNvPr id="18" name="promoCard2"/>
          <p:cNvSpPr/>
          <p:nvPr/>
        </p:nvSpPr>
        <p:spPr>
          <a:xfrm>
            <a:off x="6355080" y="1737360"/>
            <a:ext cx="2743200" cy="4023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romoTop2"/>
          <p:cNvSpPr/>
          <p:nvPr/>
        </p:nvSpPr>
        <p:spPr>
          <a:xfrm>
            <a:off x="6355080" y="1737360"/>
            <a:ext cx="2743200" cy="146304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romoCirc2"/>
          <p:cNvSpPr/>
          <p:nvPr/>
        </p:nvSpPr>
        <p:spPr>
          <a:xfrm>
            <a:off x="7178040" y="2011680"/>
            <a:ext cx="1097280" cy="10972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romoIcon2"/>
          <p:cNvSpPr txBox="1"/>
          <p:nvPr/>
        </p:nvSpPr>
        <p:spPr>
          <a:xfrm>
            <a:off x="7178040" y="2286000"/>
            <a:ext cx="1097280" cy="548640"/>
          </a:xfrm>
          <a:prstGeom prst="rect">
            <a:avLst/>
          </a:prstGeom>
          <a:noFill/>
        </p:spPr>
        <p:txBody>
          <a:bodyPr wrap="square">
            <a:spAutoFit/>
          </a:bodyPr>
          <a:lstStyle/>
          <a:p>
            <a:pPr algn="ctr"/>
            <a:r>
              <a:rPr sz="2200" b="1">
                <a:solidFill>
                  <a:srgbClr val="E8B923"/>
                </a:solidFill>
                <a:latin typeface="Segoe UI"/>
              </a:rPr>
              <a:t>★</a:t>
            </a:r>
          </a:p>
        </p:txBody>
      </p:sp>
      <p:sp>
        <p:nvSpPr>
          <p:cNvPr id="22" name="promoTitle2"/>
          <p:cNvSpPr txBox="1"/>
          <p:nvPr/>
        </p:nvSpPr>
        <p:spPr>
          <a:xfrm>
            <a:off x="6537960" y="3474720"/>
            <a:ext cx="2377440" cy="640080"/>
          </a:xfrm>
          <a:prstGeom prst="rect">
            <a:avLst/>
          </a:prstGeom>
          <a:noFill/>
        </p:spPr>
        <p:txBody>
          <a:bodyPr wrap="square">
            <a:spAutoFit/>
          </a:bodyPr>
          <a:lstStyle/>
          <a:p>
            <a:pPr algn="ctr"/>
            <a:r>
              <a:rPr sz="1400" b="1">
                <a:solidFill>
                  <a:srgbClr val="0B1F3A"/>
                </a:solidFill>
                <a:latin typeface="Segoe UI"/>
              </a:rPr>
              <a:t>SAFETY CULTURE</a:t>
            </a:r>
          </a:p>
        </p:txBody>
      </p:sp>
      <p:sp>
        <p:nvSpPr>
          <p:cNvPr id="23" name="promoDesc2"/>
          <p:cNvSpPr txBox="1"/>
          <p:nvPr/>
        </p:nvSpPr>
        <p:spPr>
          <a:xfrm>
            <a:off x="6583680" y="4297680"/>
            <a:ext cx="2286000" cy="1097280"/>
          </a:xfrm>
          <a:prstGeom prst="rect">
            <a:avLst/>
          </a:prstGeom>
          <a:noFill/>
        </p:spPr>
        <p:txBody>
          <a:bodyPr wrap="square">
            <a:spAutoFit/>
          </a:bodyPr>
          <a:lstStyle/>
          <a:p>
            <a:pPr algn="ctr"/>
            <a:r>
              <a:rPr sz="1300" b="0">
                <a:solidFill>
                  <a:srgbClr val="5A6B7D"/>
                </a:solidFill>
                <a:latin typeface="Segoe UI"/>
              </a:rPr>
              <a:t>Shared values that make safe choices the normal way of working</a:t>
            </a:r>
          </a:p>
        </p:txBody>
      </p:sp>
      <p:sp>
        <p:nvSpPr>
          <p:cNvPr id="24" name="promoCard3"/>
          <p:cNvSpPr/>
          <p:nvPr/>
        </p:nvSpPr>
        <p:spPr>
          <a:xfrm>
            <a:off x="9281160" y="1737360"/>
            <a:ext cx="2743200" cy="4023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romoTop3"/>
          <p:cNvSpPr/>
          <p:nvPr/>
        </p:nvSpPr>
        <p:spPr>
          <a:xfrm>
            <a:off x="9281160" y="1737360"/>
            <a:ext cx="2743200" cy="14630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romoCirc3"/>
          <p:cNvSpPr/>
          <p:nvPr/>
        </p:nvSpPr>
        <p:spPr>
          <a:xfrm>
            <a:off x="10104120" y="2011680"/>
            <a:ext cx="1097280" cy="10972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romoIcon3"/>
          <p:cNvSpPr txBox="1"/>
          <p:nvPr/>
        </p:nvSpPr>
        <p:spPr>
          <a:xfrm>
            <a:off x="10104120" y="2286000"/>
            <a:ext cx="1097280" cy="548640"/>
          </a:xfrm>
          <a:prstGeom prst="rect">
            <a:avLst/>
          </a:prstGeom>
          <a:noFill/>
        </p:spPr>
        <p:txBody>
          <a:bodyPr wrap="square">
            <a:spAutoFit/>
          </a:bodyPr>
          <a:lstStyle/>
          <a:p>
            <a:pPr algn="ctr"/>
            <a:r>
              <a:rPr sz="2200" b="1">
                <a:solidFill>
                  <a:srgbClr val="E67E22"/>
                </a:solidFill>
                <a:latin typeface="Segoe UI"/>
              </a:rPr>
              <a:t>▲</a:t>
            </a:r>
          </a:p>
        </p:txBody>
      </p:sp>
      <p:sp>
        <p:nvSpPr>
          <p:cNvPr id="28" name="promoTitle3"/>
          <p:cNvSpPr txBox="1"/>
          <p:nvPr/>
        </p:nvSpPr>
        <p:spPr>
          <a:xfrm>
            <a:off x="9464040" y="3474720"/>
            <a:ext cx="2377440" cy="640080"/>
          </a:xfrm>
          <a:prstGeom prst="rect">
            <a:avLst/>
          </a:prstGeom>
          <a:noFill/>
        </p:spPr>
        <p:txBody>
          <a:bodyPr wrap="square">
            <a:spAutoFit/>
          </a:bodyPr>
          <a:lstStyle/>
          <a:p>
            <a:pPr algn="ctr"/>
            <a:r>
              <a:rPr sz="1400" b="1">
                <a:solidFill>
                  <a:srgbClr val="0B1F3A"/>
                </a:solidFill>
                <a:latin typeface="Segoe UI"/>
              </a:rPr>
              <a:t>PROMOTION</a:t>
            </a:r>
          </a:p>
        </p:txBody>
      </p:sp>
      <p:sp>
        <p:nvSpPr>
          <p:cNvPr id="29" name="promoDesc3"/>
          <p:cNvSpPr txBox="1"/>
          <p:nvPr/>
        </p:nvSpPr>
        <p:spPr>
          <a:xfrm>
            <a:off x="9509760" y="4297680"/>
            <a:ext cx="2286000" cy="1097280"/>
          </a:xfrm>
          <a:prstGeom prst="rect">
            <a:avLst/>
          </a:prstGeom>
          <a:noFill/>
        </p:spPr>
        <p:txBody>
          <a:bodyPr wrap="square">
            <a:spAutoFit/>
          </a:bodyPr>
          <a:lstStyle/>
          <a:p>
            <a:pPr algn="ctr"/>
            <a:r>
              <a:rPr sz="1300" b="0">
                <a:solidFill>
                  <a:srgbClr val="5A6B7D"/>
                </a:solidFill>
                <a:latin typeface="Segoe UI"/>
              </a:rPr>
              <a:t>Visible leadership, open reporting and recognition</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48"/>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296"/>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44"/>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592"/>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4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88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36"/>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184"/>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32"/>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48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28"/>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776"/>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24"/>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072"/>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2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368"/>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16"/>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664"/>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12"/>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296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3108"/>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3256"/>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3404"/>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3552"/>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370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3848"/>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CAPABILITY</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Training Coverage Target</a:t>
            </a:r>
          </a:p>
        </p:txBody>
      </p:sp>
      <p:graphicFrame>
        <p:nvGraphicFramePr>
          <p:cNvPr id="6" name="Chart 5"/>
          <p:cNvGraphicFramePr>
            <a:graphicFrameLocks noGrp="1"/>
          </p:cNvGraphicFramePr>
          <p:nvPr/>
        </p:nvGraphicFramePr>
        <p:xfrm>
          <a:off x="640080" y="1463040"/>
          <a:ext cx="7772400" cy="4754880"/>
        </p:xfrm>
        <a:graphic>
          <a:graphicData uri="http://schemas.openxmlformats.org/drawingml/2006/chart">
            <c:chart xmlns:c="http://schemas.openxmlformats.org/drawingml/2006/chart" r:id="rId2"/>
          </a:graphicData>
        </a:graphic>
      </p:graphicFrame>
      <p:sp>
        <p:nvSpPr>
          <p:cNvPr id="7" name="trainCall"/>
          <p:cNvSpPr/>
          <p:nvPr/>
        </p:nvSpPr>
        <p:spPr>
          <a:xfrm>
            <a:off x="8686800" y="2286000"/>
            <a:ext cx="3017520" cy="2926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rainCallText"/>
          <p:cNvSpPr txBox="1"/>
          <p:nvPr/>
        </p:nvSpPr>
        <p:spPr>
          <a:xfrm>
            <a:off x="8869680" y="2651760"/>
            <a:ext cx="2651760" cy="2286000"/>
          </a:xfrm>
          <a:prstGeom prst="rect">
            <a:avLst/>
          </a:prstGeom>
          <a:noFill/>
        </p:spPr>
        <p:txBody>
          <a:bodyPr wrap="square">
            <a:spAutoFit/>
          </a:bodyPr>
          <a:lstStyle/>
          <a:p>
            <a:pPr algn="ctr"/>
            <a:r>
              <a:rPr sz="1200" b="1">
                <a:solidFill>
                  <a:srgbClr val="E8B923"/>
                </a:solidFill>
                <a:latin typeface="Segoe UI"/>
              </a:rPr>
              <a:t>GOAL</a:t>
            </a:r>
          </a:p>
          <a:p>
            <a:pPr algn="ctr">
              <a:spcBef>
                <a:spcPts val="1200"/>
              </a:spcBef>
              <a:spcAft>
                <a:spcPts val="0"/>
              </a:spcAft>
            </a:pPr>
            <a:r>
              <a:rPr sz="4000" b="1">
                <a:solidFill>
                  <a:srgbClr val="FFFFFF"/>
                </a:solidFill>
                <a:latin typeface="Segoe UI"/>
              </a:rPr>
              <a:t>100%</a:t>
            </a:r>
          </a:p>
          <a:p>
            <a:pPr algn="ctr">
              <a:spcBef>
                <a:spcPts val="1000"/>
              </a:spcBef>
              <a:spcAft>
                <a:spcPts val="0"/>
              </a:spcAft>
            </a:pPr>
            <a:r>
              <a:rPr sz="1300" b="0">
                <a:solidFill>
                  <a:srgbClr val="A8B8C8"/>
                </a:solidFill>
                <a:latin typeface="Segoe UI"/>
              </a:rPr>
              <a:t>of personnel trained
&amp; current on SMS</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Label"/>
          <p:cNvSpPr txBox="1"/>
          <p:nvPr/>
        </p:nvSpPr>
        <p:spPr>
          <a:xfrm>
            <a:off x="640080" y="320040"/>
            <a:ext cx="5486400" cy="320040"/>
          </a:xfrm>
          <a:prstGeom prst="rect">
            <a:avLst/>
          </a:prstGeom>
          <a:noFill/>
        </p:spPr>
        <p:txBody>
          <a:bodyPr wrap="square">
            <a:spAutoFit/>
          </a:bodyPr>
          <a:lstStyle/>
          <a:p>
            <a:pPr algn="l"/>
            <a:r>
              <a:rPr sz="1100" b="1">
                <a:solidFill>
                  <a:srgbClr val="E8B923"/>
                </a:solidFill>
                <a:latin typeface="Segoe UI"/>
              </a:rPr>
              <a:t>EXECUTIVE SUMMARY</a:t>
            </a:r>
          </a:p>
        </p:txBody>
      </p:sp>
      <p:sp>
        <p:nvSpPr>
          <p:cNvPr id="5" name="slideTitle"/>
          <p:cNvSpPr txBox="1"/>
          <p:nvPr/>
        </p:nvSpPr>
        <p:spPr>
          <a:xfrm>
            <a:off x="640080" y="594360"/>
            <a:ext cx="10515600" cy="640080"/>
          </a:xfrm>
          <a:prstGeom prst="rect">
            <a:avLst/>
          </a:prstGeom>
          <a:noFill/>
        </p:spPr>
        <p:txBody>
          <a:bodyPr wrap="square">
            <a:spAutoFit/>
          </a:bodyPr>
          <a:lstStyle/>
          <a:p>
            <a:pPr algn="l"/>
            <a:r>
              <a:rPr sz="3200" b="1">
                <a:solidFill>
                  <a:srgbClr val="0B1F3A"/>
                </a:solidFill>
                <a:latin typeface="Segoe UI Semibold"/>
              </a:rPr>
              <a:t>What We Need From Leadership</a:t>
            </a:r>
          </a:p>
        </p:txBody>
      </p:sp>
      <p:sp>
        <p:nvSpPr>
          <p:cNvPr id="6" name="askCard0"/>
          <p:cNvSpPr/>
          <p:nvPr/>
        </p:nvSpPr>
        <p:spPr>
          <a:xfrm>
            <a:off x="548640" y="1737360"/>
            <a:ext cx="274320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skTop0"/>
          <p:cNvSpPr/>
          <p:nvPr/>
        </p:nvSpPr>
        <p:spPr>
          <a:xfrm>
            <a:off x="548640" y="1737360"/>
            <a:ext cx="2743200" cy="109728"/>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skNum0"/>
          <p:cNvSpPr txBox="1"/>
          <p:nvPr/>
        </p:nvSpPr>
        <p:spPr>
          <a:xfrm>
            <a:off x="777240" y="2103120"/>
            <a:ext cx="2286000" cy="457200"/>
          </a:xfrm>
          <a:prstGeom prst="rect">
            <a:avLst/>
          </a:prstGeom>
          <a:noFill/>
        </p:spPr>
        <p:txBody>
          <a:bodyPr wrap="square">
            <a:spAutoFit/>
          </a:bodyPr>
          <a:lstStyle/>
          <a:p>
            <a:pPr algn="l"/>
            <a:r>
              <a:rPr sz="2800" b="1">
                <a:solidFill>
                  <a:srgbClr val="E8B923"/>
                </a:solidFill>
                <a:latin typeface="Segoe UI"/>
              </a:rPr>
              <a:t>01</a:t>
            </a:r>
          </a:p>
        </p:txBody>
      </p:sp>
      <p:sp>
        <p:nvSpPr>
          <p:cNvPr id="9" name="askTitle0"/>
          <p:cNvSpPr txBox="1"/>
          <p:nvPr/>
        </p:nvSpPr>
        <p:spPr>
          <a:xfrm>
            <a:off x="777240" y="2834640"/>
            <a:ext cx="2286000" cy="457200"/>
          </a:xfrm>
          <a:prstGeom prst="rect">
            <a:avLst/>
          </a:prstGeom>
          <a:noFill/>
        </p:spPr>
        <p:txBody>
          <a:bodyPr wrap="square">
            <a:spAutoFit/>
          </a:bodyPr>
          <a:lstStyle/>
          <a:p>
            <a:pPr algn="l"/>
            <a:r>
              <a:rPr sz="2200" b="1">
                <a:solidFill>
                  <a:srgbClr val="0B1F3A"/>
                </a:solidFill>
                <a:latin typeface="Segoe UI"/>
              </a:rPr>
              <a:t>Endorse</a:t>
            </a:r>
          </a:p>
        </p:txBody>
      </p:sp>
      <p:sp>
        <p:nvSpPr>
          <p:cNvPr id="10" name="askDesc0"/>
          <p:cNvSpPr txBox="1"/>
          <p:nvPr/>
        </p:nvSpPr>
        <p:spPr>
          <a:xfrm>
            <a:off x="777240" y="3566160"/>
            <a:ext cx="2286000" cy="1371600"/>
          </a:xfrm>
          <a:prstGeom prst="rect">
            <a:avLst/>
          </a:prstGeom>
          <a:noFill/>
        </p:spPr>
        <p:txBody>
          <a:bodyPr wrap="square">
            <a:spAutoFit/>
          </a:bodyPr>
          <a:lstStyle/>
          <a:p>
            <a:pPr algn="l"/>
            <a:r>
              <a:rPr sz="1400" b="0">
                <a:solidFill>
                  <a:srgbClr val="5A6B7D"/>
                </a:solidFill>
                <a:latin typeface="Segoe UI"/>
              </a:rPr>
              <a:t>Approve the Safety Policy &amp; SMS objectives</a:t>
            </a:r>
          </a:p>
        </p:txBody>
      </p:sp>
      <p:sp>
        <p:nvSpPr>
          <p:cNvPr id="11" name="askCard1"/>
          <p:cNvSpPr/>
          <p:nvPr/>
        </p:nvSpPr>
        <p:spPr>
          <a:xfrm>
            <a:off x="3429000" y="1737360"/>
            <a:ext cx="274320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skTop1"/>
          <p:cNvSpPr/>
          <p:nvPr/>
        </p:nvSpPr>
        <p:spPr>
          <a:xfrm>
            <a:off x="3429000" y="1737360"/>
            <a:ext cx="2743200" cy="109728"/>
          </a:xfrm>
          <a:prstGeom prst="rect">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skNum1"/>
          <p:cNvSpPr txBox="1"/>
          <p:nvPr/>
        </p:nvSpPr>
        <p:spPr>
          <a:xfrm>
            <a:off x="3657600" y="2103120"/>
            <a:ext cx="2286000" cy="457200"/>
          </a:xfrm>
          <a:prstGeom prst="rect">
            <a:avLst/>
          </a:prstGeom>
          <a:noFill/>
        </p:spPr>
        <p:txBody>
          <a:bodyPr wrap="square">
            <a:spAutoFit/>
          </a:bodyPr>
          <a:lstStyle/>
          <a:p>
            <a:pPr algn="l"/>
            <a:r>
              <a:rPr sz="2800" b="1">
                <a:solidFill>
                  <a:srgbClr val="1AB3A6"/>
                </a:solidFill>
                <a:latin typeface="Segoe UI"/>
              </a:rPr>
              <a:t>02</a:t>
            </a:r>
          </a:p>
        </p:txBody>
      </p:sp>
      <p:sp>
        <p:nvSpPr>
          <p:cNvPr id="14" name="askTitle1"/>
          <p:cNvSpPr txBox="1"/>
          <p:nvPr/>
        </p:nvSpPr>
        <p:spPr>
          <a:xfrm>
            <a:off x="3657600" y="2834640"/>
            <a:ext cx="2286000" cy="457200"/>
          </a:xfrm>
          <a:prstGeom prst="rect">
            <a:avLst/>
          </a:prstGeom>
          <a:noFill/>
        </p:spPr>
        <p:txBody>
          <a:bodyPr wrap="square">
            <a:spAutoFit/>
          </a:bodyPr>
          <a:lstStyle/>
          <a:p>
            <a:pPr algn="l"/>
            <a:r>
              <a:rPr sz="2200" b="1">
                <a:solidFill>
                  <a:srgbClr val="0B1F3A"/>
                </a:solidFill>
                <a:latin typeface="Segoe UI"/>
              </a:rPr>
              <a:t>Resource</a:t>
            </a:r>
          </a:p>
        </p:txBody>
      </p:sp>
      <p:sp>
        <p:nvSpPr>
          <p:cNvPr id="15" name="askDesc1"/>
          <p:cNvSpPr txBox="1"/>
          <p:nvPr/>
        </p:nvSpPr>
        <p:spPr>
          <a:xfrm>
            <a:off x="3657600" y="3566160"/>
            <a:ext cx="2286000" cy="1371600"/>
          </a:xfrm>
          <a:prstGeom prst="rect">
            <a:avLst/>
          </a:prstGeom>
          <a:noFill/>
        </p:spPr>
        <p:txBody>
          <a:bodyPr wrap="square">
            <a:spAutoFit/>
          </a:bodyPr>
          <a:lstStyle/>
          <a:p>
            <a:pPr algn="l"/>
            <a:r>
              <a:rPr sz="1400" b="0">
                <a:solidFill>
                  <a:srgbClr val="5A6B7D"/>
                </a:solidFill>
                <a:latin typeface="Segoe UI"/>
              </a:rPr>
              <a:t>Fund the Safety Manager role &amp; tools</a:t>
            </a:r>
          </a:p>
        </p:txBody>
      </p:sp>
      <p:sp>
        <p:nvSpPr>
          <p:cNvPr id="16" name="askCard2"/>
          <p:cNvSpPr/>
          <p:nvPr/>
        </p:nvSpPr>
        <p:spPr>
          <a:xfrm>
            <a:off x="6309359" y="1737360"/>
            <a:ext cx="274320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skTop2"/>
          <p:cNvSpPr/>
          <p:nvPr/>
        </p:nvSpPr>
        <p:spPr>
          <a:xfrm>
            <a:off x="6309359" y="1737360"/>
            <a:ext cx="2743200" cy="109728"/>
          </a:xfrm>
          <a:prstGeom prst="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skNum2"/>
          <p:cNvSpPr txBox="1"/>
          <p:nvPr/>
        </p:nvSpPr>
        <p:spPr>
          <a:xfrm>
            <a:off x="6537959" y="2103120"/>
            <a:ext cx="2286000" cy="457200"/>
          </a:xfrm>
          <a:prstGeom prst="rect">
            <a:avLst/>
          </a:prstGeom>
          <a:noFill/>
        </p:spPr>
        <p:txBody>
          <a:bodyPr wrap="square">
            <a:spAutoFit/>
          </a:bodyPr>
          <a:lstStyle/>
          <a:p>
            <a:pPr algn="l"/>
            <a:r>
              <a:rPr sz="2800" b="1">
                <a:solidFill>
                  <a:srgbClr val="2E86DE"/>
                </a:solidFill>
                <a:latin typeface="Segoe UI"/>
              </a:rPr>
              <a:t>03</a:t>
            </a:r>
          </a:p>
        </p:txBody>
      </p:sp>
      <p:sp>
        <p:nvSpPr>
          <p:cNvPr id="19" name="askTitle2"/>
          <p:cNvSpPr txBox="1"/>
          <p:nvPr/>
        </p:nvSpPr>
        <p:spPr>
          <a:xfrm>
            <a:off x="6537959" y="2834640"/>
            <a:ext cx="2286000" cy="457200"/>
          </a:xfrm>
          <a:prstGeom prst="rect">
            <a:avLst/>
          </a:prstGeom>
          <a:noFill/>
        </p:spPr>
        <p:txBody>
          <a:bodyPr wrap="square">
            <a:spAutoFit/>
          </a:bodyPr>
          <a:lstStyle/>
          <a:p>
            <a:pPr algn="l"/>
            <a:r>
              <a:rPr sz="2200" b="1">
                <a:solidFill>
                  <a:srgbClr val="0B1F3A"/>
                </a:solidFill>
                <a:latin typeface="Segoe UI"/>
              </a:rPr>
              <a:t>Own</a:t>
            </a:r>
          </a:p>
        </p:txBody>
      </p:sp>
      <p:sp>
        <p:nvSpPr>
          <p:cNvPr id="20" name="askDesc2"/>
          <p:cNvSpPr txBox="1"/>
          <p:nvPr/>
        </p:nvSpPr>
        <p:spPr>
          <a:xfrm>
            <a:off x="6537959" y="3566160"/>
            <a:ext cx="2286000" cy="1371600"/>
          </a:xfrm>
          <a:prstGeom prst="rect">
            <a:avLst/>
          </a:prstGeom>
          <a:noFill/>
        </p:spPr>
        <p:txBody>
          <a:bodyPr wrap="square">
            <a:spAutoFit/>
          </a:bodyPr>
          <a:lstStyle/>
          <a:p>
            <a:pPr algn="l"/>
            <a:r>
              <a:rPr sz="1400" b="0">
                <a:solidFill>
                  <a:srgbClr val="5A6B7D"/>
                </a:solidFill>
                <a:latin typeface="Segoe UI"/>
              </a:rPr>
              <a:t>Hold line managers accountable as SMS owners</a:t>
            </a:r>
          </a:p>
        </p:txBody>
      </p:sp>
      <p:sp>
        <p:nvSpPr>
          <p:cNvPr id="21" name="askCard3"/>
          <p:cNvSpPr/>
          <p:nvPr/>
        </p:nvSpPr>
        <p:spPr>
          <a:xfrm>
            <a:off x="9189719" y="1737360"/>
            <a:ext cx="274320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skTop3"/>
          <p:cNvSpPr/>
          <p:nvPr/>
        </p:nvSpPr>
        <p:spPr>
          <a:xfrm>
            <a:off x="9189719" y="1737360"/>
            <a:ext cx="2743200"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skNum3"/>
          <p:cNvSpPr txBox="1"/>
          <p:nvPr/>
        </p:nvSpPr>
        <p:spPr>
          <a:xfrm>
            <a:off x="9418319" y="2103120"/>
            <a:ext cx="2286000" cy="457200"/>
          </a:xfrm>
          <a:prstGeom prst="rect">
            <a:avLst/>
          </a:prstGeom>
          <a:noFill/>
        </p:spPr>
        <p:txBody>
          <a:bodyPr wrap="square">
            <a:spAutoFit/>
          </a:bodyPr>
          <a:lstStyle/>
          <a:p>
            <a:pPr algn="l"/>
            <a:r>
              <a:rPr sz="2800" b="1">
                <a:solidFill>
                  <a:srgbClr val="E67E22"/>
                </a:solidFill>
                <a:latin typeface="Segoe UI"/>
              </a:rPr>
              <a:t>04</a:t>
            </a:r>
          </a:p>
        </p:txBody>
      </p:sp>
      <p:sp>
        <p:nvSpPr>
          <p:cNvPr id="24" name="askTitle3"/>
          <p:cNvSpPr txBox="1"/>
          <p:nvPr/>
        </p:nvSpPr>
        <p:spPr>
          <a:xfrm>
            <a:off x="9418319" y="2834640"/>
            <a:ext cx="2286000" cy="457200"/>
          </a:xfrm>
          <a:prstGeom prst="rect">
            <a:avLst/>
          </a:prstGeom>
          <a:noFill/>
        </p:spPr>
        <p:txBody>
          <a:bodyPr wrap="square">
            <a:spAutoFit/>
          </a:bodyPr>
          <a:lstStyle/>
          <a:p>
            <a:pPr algn="l"/>
            <a:r>
              <a:rPr sz="2200" b="1">
                <a:solidFill>
                  <a:srgbClr val="0B1F3A"/>
                </a:solidFill>
                <a:latin typeface="Segoe UI"/>
              </a:rPr>
              <a:t>Champion</a:t>
            </a:r>
          </a:p>
        </p:txBody>
      </p:sp>
      <p:sp>
        <p:nvSpPr>
          <p:cNvPr id="25" name="askDesc3"/>
          <p:cNvSpPr txBox="1"/>
          <p:nvPr/>
        </p:nvSpPr>
        <p:spPr>
          <a:xfrm>
            <a:off x="9418319" y="3566160"/>
            <a:ext cx="2286000" cy="1371600"/>
          </a:xfrm>
          <a:prstGeom prst="rect">
            <a:avLst/>
          </a:prstGeom>
          <a:noFill/>
        </p:spPr>
        <p:txBody>
          <a:bodyPr wrap="square">
            <a:spAutoFit/>
          </a:bodyPr>
          <a:lstStyle/>
          <a:p>
            <a:pPr algn="l"/>
            <a:r>
              <a:rPr sz="1400" b="0">
                <a:solidFill>
                  <a:srgbClr val="5A6B7D"/>
                </a:solidFill>
                <a:latin typeface="Segoe UI"/>
              </a:rPr>
              <a:t>Visible leadership for reporting &amp; culture</a:t>
            </a:r>
          </a:p>
        </p:txBody>
      </p:sp>
    </p:spTree>
  </p:cSld>
  <p:clrMapOvr>
    <a:masterClrMapping/>
  </p:clrMapOvr>
  <mc:AlternateContent xmlns:mc="http://schemas.openxmlformats.org/markup-compatibility/2006" xmlns:p14="http://schemas.microsoft.com/office/powerpoint/2010/main">
    <mc:Choice Requires="p14">
      <p:transition spd="med">
        <p14: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13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16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18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19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21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2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25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2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28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315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33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loseLabel"/>
          <p:cNvSpPr txBox="1"/>
          <p:nvPr/>
        </p:nvSpPr>
        <p:spPr>
          <a:xfrm>
            <a:off x="822960" y="2011680"/>
            <a:ext cx="10058400" cy="365760"/>
          </a:xfrm>
          <a:prstGeom prst="rect">
            <a:avLst/>
          </a:prstGeom>
          <a:noFill/>
        </p:spPr>
        <p:txBody>
          <a:bodyPr wrap="square">
            <a:spAutoFit/>
          </a:bodyPr>
          <a:lstStyle/>
          <a:p>
            <a:pPr algn="l"/>
            <a:r>
              <a:rPr sz="1400" b="1">
                <a:solidFill>
                  <a:srgbClr val="E8B923"/>
                </a:solidFill>
                <a:latin typeface="Segoe UI"/>
              </a:rPr>
              <a:t>NEXT STEP</a:t>
            </a:r>
          </a:p>
        </p:txBody>
      </p:sp>
      <p:sp>
        <p:nvSpPr>
          <p:cNvPr id="5" name="closeTitle"/>
          <p:cNvSpPr txBox="1"/>
          <p:nvPr/>
        </p:nvSpPr>
        <p:spPr>
          <a:xfrm>
            <a:off x="822960" y="2560320"/>
            <a:ext cx="10515600" cy="1097280"/>
          </a:xfrm>
          <a:prstGeom prst="rect">
            <a:avLst/>
          </a:prstGeom>
          <a:noFill/>
        </p:spPr>
        <p:txBody>
          <a:bodyPr wrap="square">
            <a:spAutoFit/>
          </a:bodyPr>
          <a:lstStyle/>
          <a:p>
            <a:pPr algn="l"/>
            <a:r>
              <a:rPr sz="4000" b="1">
                <a:solidFill>
                  <a:srgbClr val="FFFFFF"/>
                </a:solidFill>
                <a:latin typeface="Segoe UI Semibold"/>
              </a:rPr>
              <a:t>Approve. Resource. Lead.</a:t>
            </a:r>
          </a:p>
        </p:txBody>
      </p:sp>
      <p:sp>
        <p:nvSpPr>
          <p:cNvPr id="6" name="closeSub"/>
          <p:cNvSpPr txBox="1"/>
          <p:nvPr/>
        </p:nvSpPr>
        <p:spPr>
          <a:xfrm>
            <a:off x="822960" y="3840480"/>
            <a:ext cx="9144000" cy="731520"/>
          </a:xfrm>
          <a:prstGeom prst="rect">
            <a:avLst/>
          </a:prstGeom>
          <a:noFill/>
        </p:spPr>
        <p:txBody>
          <a:bodyPr wrap="square">
            <a:spAutoFit/>
          </a:bodyPr>
          <a:lstStyle/>
          <a:p>
            <a:pPr algn="l"/>
            <a:r>
              <a:rPr sz="1600" b="0">
                <a:solidFill>
                  <a:srgbClr val="A8B8C8"/>
                </a:solidFill>
                <a:latin typeface="Segoe UI"/>
              </a:rPr>
              <a:t>A continuous reduction in mishaps starts with management commitment today.</a:t>
            </a:r>
          </a:p>
        </p:txBody>
      </p:sp>
      <p:sp>
        <p:nvSpPr>
          <p:cNvPr id="7" name="closeDot0"/>
          <p:cNvSpPr/>
          <p:nvPr/>
        </p:nvSpPr>
        <p:spPr>
          <a:xfrm>
            <a:off x="822960" y="5029200"/>
            <a:ext cx="164592" cy="164592"/>
          </a:xfrm>
          <a:prstGeom prst="ellipse">
            <a:avLst/>
          </a:prstGeom>
          <a:solidFill>
            <a:srgbClr val="E8B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loseDot1"/>
          <p:cNvSpPr/>
          <p:nvPr/>
        </p:nvSpPr>
        <p:spPr>
          <a:xfrm>
            <a:off x="1143000" y="5029200"/>
            <a:ext cx="164592" cy="164592"/>
          </a:xfrm>
          <a:prstGeom prst="ellipse">
            <a:avLst/>
          </a:prstGeom>
          <a:solidFill>
            <a:srgbClr val="1A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loseDot2"/>
          <p:cNvSpPr/>
          <p:nvPr/>
        </p:nvSpPr>
        <p:spPr>
          <a:xfrm>
            <a:off x="1463040" y="5029200"/>
            <a:ext cx="164592" cy="164592"/>
          </a:xfrm>
          <a:prstGeom prst="ellipse">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