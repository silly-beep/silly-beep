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Events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Close Calls</c:v>
                </c:pt>
                <c:pt idx="1">
                  <c:v>Incidents</c:v>
                </c:pt>
                <c:pt idx="2">
                  <c:v>Accidents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10000</c:v>
                </c:pt>
                <c:pt idx="1">
                  <c:v>1000</c:v>
                </c:pt>
                <c:pt idx="2">
                  <c:v>1</c:v>
                </c:pt>
              </c:numCache>
            </c:numRef>
          </c:val>
          <c:dPt>
            <c:idx val="0"/>
            <c:spPr>
              <a:solidFill>
                <a:srgbClr val="F1C40F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E74C3C"/>
              </a:solidFill>
            </c:spPr>
          </c:dPt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Previous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Damage-only
Events</c:v>
                </c:pt>
                <c:pt idx="1">
                  <c:v>Near-miss
Accidents</c:v>
                </c:pt>
                <c:pt idx="2">
                  <c:v>Lessons
Learned</c:v>
                </c:pt>
                <c:pt idx="3">
                  <c:v>CAPs
Closed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42</c:v>
                </c:pt>
                <c:pt idx="2">
                  <c:v>12</c:v>
                </c:pt>
                <c:pt idx="3">
                  <c:v>20</c:v>
                </c:pt>
              </c:numCache>
            </c:numRef>
          </c:val>
          <c:spPr>
            <a:solidFill>
              <a:srgbClr val="5A6B7D"/>
            </a:solidFill>
          </c:spPr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Damage-only
Events</c:v>
                </c:pt>
                <c:pt idx="1">
                  <c:v>Near-miss
Accidents</c:v>
                </c:pt>
                <c:pt idx="2">
                  <c:v>Lessons
Learned</c:v>
                </c:pt>
                <c:pt idx="3">
                  <c:v>CAPs
Closed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</c:v>
                </c:pt>
                <c:pt idx="1">
                  <c:v>28</c:v>
                </c:pt>
                <c:pt idx="2">
                  <c:v>24</c:v>
                </c:pt>
                <c:pt idx="3">
                  <c:v>35</c:v>
                </c:pt>
              </c:numCache>
            </c:numRef>
          </c:val>
          <c:spPr>
            <a:solidFill>
              <a:srgbClr val="1AB3A6"/>
            </a:solidFill>
          </c:spPr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Target %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All Employees
(Minimum Safety)</c:v>
                </c:pt>
                <c:pt idx="1">
                  <c:v>Introductory
SMS</c:v>
                </c:pt>
                <c:pt idx="2">
                  <c:v>Recurrent
SMS</c:v>
                </c:pt>
                <c:pt idx="3">
                  <c:v>Leadership
Safety Brief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  <c:spPr>
            <a:solidFill>
              <a:srgbClr val="E8B923"/>
            </a:solidFill>
          </c:spPr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 %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All Employees
(Minimum Safety)</c:v>
                </c:pt>
                <c:pt idx="1">
                  <c:v>Introductory
SMS</c:v>
                </c:pt>
                <c:pt idx="2">
                  <c:v>Recurrent
SMS</c:v>
                </c:pt>
                <c:pt idx="3">
                  <c:v>Leadership
Safety Brief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92</c:v>
                </c:pt>
                <c:pt idx="1">
                  <c:v>78</c:v>
                </c:pt>
                <c:pt idx="2">
                  <c:v>65</c:v>
                </c:pt>
                <c:pt idx="3">
                  <c:v>88</c:v>
                </c:pt>
              </c:numCache>
            </c:numRef>
          </c:val>
          <c:spPr>
            <a:solidFill>
              <a:srgbClr val="0B1F3A"/>
            </a:solidFill>
          </c:spPr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8686800" y="0"/>
            <a:ext cx="3566160" cy="6858000"/>
          </a:xfrm>
          <a:prstGeom prst="rtTriangl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880360"/>
            <a:ext cx="1645920" cy="54864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rand"/>
          <p:cNvSpPr txBox="1"/>
          <p:nvPr/>
        </p:nvSpPr>
        <p:spPr>
          <a:xfrm>
            <a:off x="822960" y="1645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B923"/>
                </a:solidFill>
                <a:latin typeface="Segoe UI"/>
              </a:rPr>
              <a:t>SAFETY MANAGEMENT SYSTEM</a:t>
            </a:r>
          </a:p>
        </p:txBody>
      </p:sp>
      <p:sp>
        <p:nvSpPr>
          <p:cNvPr id="6" name="mainTitle"/>
          <p:cNvSpPr txBox="1"/>
          <p:nvPr/>
        </p:nvSpPr>
        <p:spPr>
          <a:xfrm>
            <a:off x="822960" y="31089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Segoe UI Semibold"/>
              </a:rPr>
              <a:t>Building a Culture of
Continuous Safety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822960" y="5029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B8C8"/>
                </a:solidFill>
                <a:latin typeface="Segoe UI"/>
              </a:rPr>
              <a:t>Executive Briefing  ·  Policy · Risk · Assurance · Promotion</a:t>
            </a:r>
          </a:p>
        </p:txBody>
      </p:sp>
      <p:sp>
        <p:nvSpPr>
          <p:cNvPr id="8" name="dot0"/>
          <p:cNvSpPr/>
          <p:nvPr/>
        </p:nvSpPr>
        <p:spPr>
          <a:xfrm>
            <a:off x="822960" y="5943600"/>
            <a:ext cx="164592" cy="164592"/>
          </a:xfrm>
          <a:prstGeom prst="ellipse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t1"/>
          <p:cNvSpPr/>
          <p:nvPr/>
        </p:nvSpPr>
        <p:spPr>
          <a:xfrm>
            <a:off x="1143000" y="5943600"/>
            <a:ext cx="164592" cy="164592"/>
          </a:xfrm>
          <a:prstGeom prst="ellipse">
            <a:avLst/>
          </a:prstGeom>
          <a:solidFill>
            <a:srgbClr val="1A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t2"/>
          <p:cNvSpPr/>
          <p:nvPr/>
        </p:nvSpPr>
        <p:spPr>
          <a:xfrm>
            <a:off x="1463040" y="5943600"/>
            <a:ext cx="164592" cy="164592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2.xml><?xml version='1.0' encoding='UTF-8' standalone='yes'?>
<p:sld xmlns:a="http://schemas.openxmlformats.org/drawingml/2006/main" xmlns:p="http://schemas.openxmlformats.org/presentationml/2006/main" xmlns:r="http://schemas.openxmlformats.org/officeDocument/2006/relationships" xmlns:ns2="http://www.w3.org/2000/xmlns/" ns2:p14="http://schemas.microsoft.com/office/powerpoint/2010/main" ns2:mc="http://schemas.openxmlformats.org/markup-compatibility/2006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Rectangle 2"/><p:cNvSpPr/><p:nvPr/></p:nvSpPr><p:spPr><a:xfrm><a:off x="0" y="0"/><a:ext cx="109728" cy="685800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" name="sectionLabel"/><p:cNvSpPr txBox="1"/><p:nvPr/></p:nvSpPr><p:spPr><a:xfrm><a:off x="640080" y="320040"/><a:ext cx="5486400" cy="320040"/></a:xfrm><a:prstGeom prst="rect"><a:avLst/></a:prstGeom><a:noFill/></p:spPr><p:txBody><a:bodyPr wrap="square"><a:spAutoFit/></a:bodyPr><a:lstStyle/><a:p><a:pPr algn="l"/><a:r><a:rPr sz="1100" b="1"><a:solidFill><a:srgbClr val="E8B923"/></a:solidFill><a:latin typeface="Segoe UI"/></a:rPr><a:t>ROADMAP</a:t></a:r></a:p></p:txBody></p:sp><p:sp><p:nvSpPr><p:cNvPr id="5" name="slideTitle"/><p:cNvSpPr txBox="1"/><p:nvPr/></p:nvSpPr><p:spPr><a:xfrm><a:off x="640080" y="594360"/><a:ext cx="10515600" cy="640080"/></a:xfrm><a:prstGeom prst="rect"><a:avLst/></a:prstGeom><a:noFill/></p:spPr><p:txBody><a:bodyPr wrap="square"><a:spAutoFit/></a:bodyPr><a:lstStyle/><a:p><a:pPr algn="l"/><a:r><a:rPr sz="3200" b="1"><a:solidFill><a:srgbClr val="0B1F3A"/></a:solidFill><a:latin typeface="Segoe UI Semibold"/></a:rPr><a:t>Today's Focus</a:t></a:r></a:p></p:txBody></p:sp><p:sp><p:nvSpPr><p:cNvPr id="6" name="agendaCard0"/><p:cNvSpPr/><p:nvPr/></p:nvSpPr><p:spPr><a:xfrm><a:off x="640080" y="2011680"/><a:ext cx="2651760" cy="347472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7" name="agendaBar0"/><p:cNvSpPr/><p:nvPr/></p:nvSpPr><p:spPr><a:xfrm><a:off x="640080" y="2011680"/><a:ext cx="2651760" cy="9144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8" name="agendaNum0"/><p:cNvSpPr txBox="1"/><p:nvPr/></p:nvSpPr><p:spPr><a:xfrm><a:off x="868680" y="2468880"/><a:ext cx="2194560" cy="640080"/></a:xfrm><a:prstGeom prst="rect"><a:avLst/></a:prstGeom><a:noFill/></p:spPr><p:txBody><a:bodyPr wrap="square"><a:spAutoFit/></a:bodyPr><a:lstStyle/><a:p><a:pPr algn="l"/><a:r><a:rPr sz="3600" b="1"><a:solidFill><a:srgbClr val="E8B923"/></a:solidFill><a:latin typeface="Segoe UI"/></a:rPr><a:t>01</a:t></a:r></a:p></p:txBody></p:sp><p:sp><p:nvSpPr><p:cNvPr id="9" name="agendaTitle0"/><p:cNvSpPr txBox="1"/><p:nvPr/></p:nvSpPr><p:spPr><a:xfrm><a:off x="868680" y="3383280"/><a:ext cx="2194560" cy="914400"/></a:xfrm><a:prstGeom prst="rect"><a:avLst/></a:prstGeom><a:noFill/></p:spPr><p:txBody><a:bodyPr wrap="square"><a:spAutoFit/></a:bodyPr><a:lstStyle/><a:p><a:pPr algn="l"/><a:r><a:rPr sz="1800" b="1"><a:solidFill><a:srgbClr val="0B1F3A"/></a:solidFill><a:latin typeface="Segoe UI"/></a:rPr><a:t>Safety Policy</a:t></a:r></a:p></p:txBody></p:sp><p:sp><p:nvSpPr><p:cNvPr id="10" name="agendaDesc0"/><p:cNvSpPr txBox="1"/><p:nvPr/></p:nvSpPr><p:spPr><a:xfrm><a:off x="868680" y="4297680"/><a:ext cx="2194560" cy="822960"/></a:xfrm><a:prstGeom prst="rect"><a:avLst/></a:prstGeom><a:noFill/></p:spPr><p:txBody><a:bodyPr wrap="square"><a:spAutoFit/></a:bodyPr><a:lstStyle/><a:p><a:pPr algn="l"/><a:r><a:rPr sz="1300" b="0"><a:solidFill><a:srgbClr val="5A6B7D"/></a:solidFill><a:latin typeface="Segoe UI"/></a:rPr><a:t>Values, objectives &amp; ownership</a:t></a:r></a:p></p:txBody></p:sp><p:sp><p:nvSpPr><p:cNvPr id="11" name="agendaCard1"/><p:cNvSpPr/><p:nvPr/></p:nvSpPr><p:spPr><a:xfrm><a:off x="3474720" y="2011680"/><a:ext cx="2651760" cy="347472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2" name="agendaBar1"/><p:cNvSpPr/><p:nvPr/></p:nvSpPr><p:spPr><a:xfrm><a:off x="3474720" y="2011680"/><a:ext cx="2651760" cy="91440"/></a:xfrm><a:prstGeom prst="rect"><a:avLst/></a:prstGeom><a:solidFill><a:srgbClr val="1AB3A6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3" name="agendaNum1"/><p:cNvSpPr txBox="1"/><p:nvPr/></p:nvSpPr><p:spPr><a:xfrm><a:off x="3703320" y="2468880"/><a:ext cx="2194560" cy="640080"/></a:xfrm><a:prstGeom prst="rect"><a:avLst/></a:prstGeom><a:noFill/></p:spPr><p:txBody><a:bodyPr wrap="square"><a:spAutoFit/></a:bodyPr><a:lstStyle/><a:p><a:pPr algn="l"/><a:r><a:rPr sz="3600" b="1"><a:solidFill><a:srgbClr val="1AB3A6"/></a:solidFill><a:latin typeface="Segoe UI"/></a:rPr><a:t>02</a:t></a:r></a:p></p:txBody></p:sp><p:sp><p:nvSpPr><p:cNvPr id="14" name="agendaTitle1"/><p:cNvSpPr txBox="1"/><p:nvPr/></p:nvSpPr><p:spPr><a:xfrm><a:off x="3703320" y="3383280"/><a:ext cx="2194560" cy="914400"/></a:xfrm><a:prstGeom prst="rect"><a:avLst/></a:prstGeom><a:noFill/></p:spPr><p:txBody><a:bodyPr wrap="square"><a:spAutoFit/></a:bodyPr><a:lstStyle/><a:p><a:pPr algn="l"/><a:r><a:rPr sz="1800" b="1"><a:solidFill><a:srgbClr val="0B1F3A"/></a:solidFill><a:latin typeface="Segoe UI"/></a:rPr><a:t>Safety Risk Management</a:t></a:r></a:p></p:txBody></p:sp><p:sp><p:nvSpPr><p:cNvPr id="15" name="agendaDesc1"/><p:cNvSpPr txBox="1"/><p:nvPr/></p:nvSpPr><p:spPr><a:xfrm><a:off x="3703320" y="4297680"/><a:ext cx="2194560" cy="822960"/></a:xfrm><a:prstGeom prst="rect"><a:avLst/></a:prstGeom><a:noFill/></p:spPr><p:txBody><a:bodyPr wrap="square"><a:spAutoFit/></a:bodyPr><a:lstStyle/><a:p><a:pPr algn="l"/><a:r><a:rPr sz="1300" b="0"><a:solidFill><a:srgbClr val="5A6B7D"/></a:solidFill><a:latin typeface="Segoe UI"/></a:rPr><a:t>Identify · Assess · Mitigate</a:t></a:r></a:p></p:txBody></p:sp><p:sp><p:nvSpPr><p:cNvPr id="16" name="agendaCard2"/><p:cNvSpPr/><p:nvPr/></p:nvSpPr><p:spPr><a:xfrm><a:off x="6309360" y="2011680"/><a:ext cx="2651760" cy="347472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7" name="agendaBar2"/><p:cNvSpPr/><p:nvPr/></p:nvSpPr><p:spPr><a:xfrm><a:off x="6309360" y="2011680"/><a:ext cx="2651760" cy="91440"/></a:xfrm><a:prstGeom prst="rect"><a:avLst/></a:prstGeom><a:solidFill><a:srgbClr val="2E86DE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8" name="agendaNum2"/><p:cNvSpPr txBox="1"/><p:nvPr/></p:nvSpPr><p:spPr><a:xfrm><a:off x="6537960" y="2468880"/><a:ext cx="2194560" cy="640080"/></a:xfrm><a:prstGeom prst="rect"><a:avLst/></a:prstGeom><a:noFill/></p:spPr><p:txBody><a:bodyPr wrap="square"><a:spAutoFit/></a:bodyPr><a:lstStyle/><a:p><a:pPr algn="l"/><a:r><a:rPr sz="3600" b="1"><a:solidFill><a:srgbClr val="2E86DE"/></a:solidFill><a:latin typeface="Segoe UI"/></a:rPr><a:t>03</a:t></a:r></a:p></p:txBody></p:sp><p:sp><p:nvSpPr><p:cNvPr id="19" name="agendaTitle2"/><p:cNvSpPr txBox="1"/><p:nvPr/></p:nvSpPr><p:spPr><a:xfrm><a:off x="6537960" y="3383280"/><a:ext cx="2194560" cy="914400"/></a:xfrm><a:prstGeom prst="rect"><a:avLst/></a:prstGeom><a:noFill/></p:spPr><p:txBody><a:bodyPr wrap="square"><a:spAutoFit/></a:bodyPr><a:lstStyle/><a:p><a:pPr algn="l"/><a:r><a:rPr sz="1800" b="1"><a:solidFill><a:srgbClr val="0B1F3A"/></a:solidFill><a:latin typeface="Segoe UI"/></a:rPr><a:t>Safety Assurance</a:t></a:r></a:p></p:txBody></p:sp><p:sp><p:nvSpPr><p:cNvPr id="20" name="agendaDesc2"/><p:cNvSpPr txBox="1"/><p:nvPr/></p:nvSpPr><p:spPr><a:xfrm><a:off x="6537960" y="4297680"/><a:ext cx="2194560" cy="822960"/></a:xfrm><a:prstGeom prst="rect"><a:avLst/></a:prstGeom><a:noFill/></p:spPr><p:txBody><a:bodyPr wrap="square"><a:spAutoFit/></a:bodyPr><a:lstStyle/><a:p><a:pPr algn="l"/><a:r><a:rPr sz="1300" b="0"><a:solidFill><a:srgbClr val="5A6B7D"/></a:solidFill><a:latin typeface="Segoe UI"/></a:rPr><a:t>Measure what matters</a:t></a:r></a:p></p:txBody></p:sp><p:sp><p:nvSpPr><p:cNvPr id="21" name="agendaCard3"/><p:cNvSpPr/><p:nvPr/></p:nvSpPr><p:spPr><a:xfrm><a:off x="9144000" y="2011680"/><a:ext cx="2651760" cy="347472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2" name="agendaBar3"/><p:cNvSpPr/><p:nvPr/></p:nvSpPr><p:spPr><a:xfrm><a:off x="9144000" y="2011680"/><a:ext cx="2651760" cy="91440"/></a:xfrm><a:prstGeom prst="rect"><a:avLst/></a:prstGeom><a:solidFill><a:srgbClr val="E67E2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3" name="agendaNum3"/><p:cNvSpPr txBox="1"/><p:nvPr/></p:nvSpPr><p:spPr><a:xfrm><a:off x="9372600" y="2468880"/><a:ext cx="2194560" cy="640080"/></a:xfrm><a:prstGeom prst="rect"><a:avLst/></a:prstGeom><a:noFill/></p:spPr><p:txBody><a:bodyPr wrap="square"><a:spAutoFit/></a:bodyPr><a:lstStyle/><a:p><a:pPr algn="l"/><a:r><a:rPr sz="3600" b="1"><a:solidFill><a:srgbClr val="E67E22"/></a:solidFill><a:latin typeface="Segoe UI"/></a:rPr><a:t>04</a:t></a:r></a:p></p:txBody></p:sp><p:sp><p:nvSpPr><p:cNvPr id="24" name="agendaTitle3"/><p:cNvSpPr txBox="1"/><p:nvPr/></p:nvSpPr><p:spPr><a:xfrm><a:off x="9372600" y="3383280"/><a:ext cx="2194560" cy="914400"/></a:xfrm><a:prstGeom prst="rect"><a:avLst/></a:prstGeom><a:noFill/></p:spPr><p:txBody><a:bodyPr wrap="square"><a:spAutoFit/></a:bodyPr><a:lstStyle/><a:p><a:pPr algn="l"/><a:r><a:rPr sz="1800" b="1"><a:solidFill><a:srgbClr val="0B1F3A"/></a:solidFill><a:latin typeface="Segoe UI"/></a:rPr><a:t>Safety Promotion</a:t></a:r></a:p></p:txBody></p:sp><p:sp><p:nvSpPr><p:cNvPr id="25" name="agendaDesc3"/><p:cNvSpPr txBox="1"/><p:nvPr/></p:nvSpPr><p:spPr><a:xfrm><a:off x="9372600" y="4297680"/><a:ext cx="2194560" cy="822960"/></a:xfrm><a:prstGeom prst="rect"><a:avLst/></a:prstGeom><a:noFill/></p:spPr><p:txBody><a:bodyPr wrap="square"><a:spAutoFit/></a:bodyPr><a:lstStyle/><a:p><a:pPr algn="l"/><a:r><a:rPr sz="1300" b="0"><a:solidFill><a:srgbClr val="5A6B7D"/></a:solidFill><a:latin typeface="Segoe UI"/></a:rPr><a:t>Culture, training &amp; improvement</a:t></a:r></a:p></p:txBody></p:sp></p:spTree></p:cSld><p:clrMapOvr><a:masterClrMapping/></p:clrMapOvr><ns0:AlternateContent xmlns:ns0="http://schemas.openxmlformats.org/markup-compatibility/2006"><ns0:Choice Requires="p14"><p:transition spd="med"><ns1:morph xmlns:ns1="http://schemas.microsoft.com/office/powerpoint/2010/main" option="byObject"/></p:transition></ns0:Choice><ns0:Fallback><p:transition spd="med"><p:fade/></p:transition></ns0:Fallback></ns0:AlternateContent></p:sld>
</file>

<file path=ppt/slides/slide3.xml><?xml version='1.0' encoding='UTF-8' standalone='yes'?>
<p:sld xmlns:a="http://schemas.openxmlformats.org/drawingml/2006/main" xmlns:p="http://schemas.openxmlformats.org/presentationml/2006/main" xmlns:r="http://schemas.openxmlformats.org/officeDocument/2006/relationships" xmlns:ns2="http://www.w3.org/2000/xmlns/" ns2:p14="http://schemas.microsoft.com/office/powerpoint/2010/main" ns2:mc="http://schemas.openxmlformats.org/markup-compatibility/2006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Rectangle 2"/><p:cNvSpPr/><p:nvPr/></p:nvSpPr><p:spPr><a:xfrm><a:off x="0" y="0"/><a:ext cx="109728" cy="685800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" name="sectionLabel"/><p:cNvSpPr txBox="1"/><p:nvPr/></p:nvSpPr><p:spPr><a:xfrm><a:off x="640080" y="320040"/><a:ext cx="5486400" cy="320040"/></a:xfrm><a:prstGeom prst="rect"><a:avLst/></a:prstGeom><a:noFill/></p:spPr><p:txBody><a:bodyPr wrap="square"><a:spAutoFit/></a:bodyPr><a:lstStyle/><a:p><a:pPr algn="l"/><a:r><a:rPr sz="1100" b="1"><a:solidFill><a:srgbClr val="E8B923"/></a:solidFill><a:latin typeface="Segoe UI"/></a:rPr><a:t>COMPONENT 1</a:t></a:r></a:p></p:txBody></p:sp><p:sp><p:nvSpPr><p:cNvPr id="5" name="slideTitle"/><p:cNvSpPr txBox="1"/><p:nvPr/></p:nvSpPr><p:spPr><a:xfrm><a:off x="640080" y="594360"/><a:ext cx="10515600" cy="640080"/></a:xfrm><a:prstGeom prst="rect"><a:avLst/></a:prstGeom><a:noFill/></p:spPr><p:txBody><a:bodyPr wrap="square"><a:spAutoFit/></a:bodyPr><a:lstStyle/><a:p><a:pPr algn="l"/><a:r><a:rPr sz="3200" b="1"><a:solidFill><a:srgbClr val="0B1F3A"/></a:solidFill><a:latin typeface="Segoe UI Semibold"/></a:rPr><a:t>Safety Policy</a:t></a:r></a:p></p:txBody></p:sp><p:sp><p:nvSpPr><p:cNvPr id="6" name="policyRow0"/><p:cNvSpPr/><p:nvPr/></p:nvSpPr><p:spPr><a:xfrm><a:off x="640080" y="1554480"/><a:ext cx="10789920" cy="77724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7" name="policyIcon0"/><p:cNvSpPr/><p:nvPr/></p:nvSpPr><p:spPr><a:xfrm><a:off x="868680" y="1691640"/><a:ext cx="502920" cy="502920"/></a:xfrm><a:prstGeom prst="ellipse"><a:avLst/></a:prstGeom><a:solidFill><a:srgbClr val="0B1F3A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8" name="policyNum0"/><p:cNvSpPr txBox="1"/><p:nvPr/></p:nvSpPr><p:spPr><a:xfrm><a:off x="868680" y="1783080"/><a:ext cx="502920" cy="365760"/></a:xfrm><a:prstGeom prst="rect"><a:avLst/></a:prstGeom><a:noFill/></p:spPr><p:txBody><a:bodyPr wrap="square"><a:spAutoFit/></a:bodyPr><a:lstStyle/><a:p><a:pPr algn="ctr"/><a:r><a:rPr sz="1600" b="1"><a:solidFill><a:srgbClr val="FFFFFF"/></a:solidFill><a:latin typeface="Segoe UI"/></a:rPr><a:t>1</a:t></a:r></a:p></p:txBody></p:sp><p:sp><p:nvSpPr><p:cNvPr id="9" name="policyTitle0"/><p:cNvSpPr txBox="1"/><p:nvPr/></p:nvSpPr><p:spPr><a:xfrm><a:off x="1645920" y="1664208"/><a:ext cx="9144000" cy="320040"/></a:xfrm><a:prstGeom prst="rect"><a:avLst/></a:prstGeom><a:noFill/></p:spPr><p:txBody><a:bodyPr wrap="square"><a:spAutoFit/></a:bodyPr><a:lstStyle/><a:p><a:pPr algn="l"/><a:r><a:rPr sz="1600" b="1"><a:solidFill><a:srgbClr val="0B1F3A"/></a:solidFill><a:latin typeface="Segoe UI"/></a:rPr><a:t>Define Values</a:t></a:r></a:p></p:txBody></p:sp><p:sp><p:nvSpPr><p:cNvPr id="10" name="policyDesc0"/><p:cNvSpPr txBox="1"/><p:nvPr/></p:nvSpPr><p:spPr><a:xfrm><a:off x="1645920" y="1965960"/><a:ext cx="9144000" cy="274320"/></a:xfrm><a:prstGeom prst="rect"><a:avLst/></a:prstGeom><a:noFill/></p:spPr><p:txBody><a:bodyPr wrap="square"><a:spAutoFit/></a:bodyPr><a:lstStyle/><a:p><a:pPr algn="l"/><a:r><a:rPr sz="1300" b="0"><a:solidFill><a:srgbClr val="5A6B7D"/></a:solidFill><a:latin typeface="Segoe UI"/></a:rPr><a:t>Brainstorm and document your organization's core values</a:t></a:r></a:p></p:txBody></p:sp><p:sp><p:nvSpPr><p:cNvPr id="11" name="policyRow1"/><p:cNvSpPr/><p:nvPr/></p:nvSpPr><p:spPr><a:xfrm><a:off x="640080" y="2468880"/><a:ext cx="10789920" cy="77724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2" name="policyIcon1"/><p:cNvSpPr/><p:nvPr/></p:nvSpPr><p:spPr><a:xfrm><a:off x="868680" y="2606040"/><a:ext cx="502920" cy="502920"/></a:xfrm><a:prstGeom prst="ellipse"><a:avLst/></a:prstGeom><a:solidFill><a:srgbClr val="1AB3A6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3" name="policyNum1"/><p:cNvSpPr txBox="1"/><p:nvPr/></p:nvSpPr><p:spPr><a:xfrm><a:off x="868680" y="2697480"/><a:ext cx="502920" cy="365760"/></a:xfrm><a:prstGeom prst="rect"><a:avLst/></a:prstGeom><a:noFill/></p:spPr><p:txBody><a:bodyPr wrap="square"><a:spAutoFit/></a:bodyPr><a:lstStyle/><a:p><a:pPr algn="ctr"/><a:r><a:rPr sz="1600" b="1"><a:solidFill><a:srgbClr val="FFFFFF"/></a:solidFill><a:latin typeface="Segoe UI"/></a:rPr><a:t>2</a:t></a:r></a:p></p:txBody></p:sp><p:sp><p:nvSpPr><p:cNvPr id="14" name="policyTitle1"/><p:cNvSpPr txBox="1"/><p:nvPr/></p:nvSpPr><p:spPr><a:xfrm><a:off x="1645920" y="2578608"/><a:ext cx="9144000" cy="320040"/></a:xfrm><a:prstGeom prst="rect"><a:avLst/></a:prstGeom><a:noFill/></p:spPr><p:txBody><a:bodyPr wrap="square"><a:spAutoFit/></a:bodyPr><a:lstStyle/><a:p><a:pPr algn="l"/><a:r><a:rPr sz="1600" b="1"><a:solidFill><a:srgbClr val="0B1F3A"/></a:solidFill><a:latin typeface="Segoe UI"/></a:rPr><a:t>Anchor Safety</a:t></a:r></a:p></p:txBody></p:sp><p:sp><p:nvSpPr><p:cNvPr id="15" name="policyDesc1"/><p:cNvSpPr txBox="1"/><p:nvPr/></p:nvSpPr><p:spPr><a:xfrm><a:off x="1645920" y="2880360"/><a:ext cx="9144000" cy="274320"/></a:xfrm><a:prstGeom prst="rect"><a:avLst/></a:prstGeom><a:noFill/></p:spPr><p:txBody><a:bodyPr wrap="square"><a:spAutoFit/></a:bodyPr><a:lstStyle/><a:p><a:pPr algn="l"/><a:r><a:rPr sz="1300" b="0"><a:solidFill><a:srgbClr val="5A6B7D"/></a:solidFill><a:latin typeface="Segoe UI"/></a:rPr><a:t>Opening paragraph reflects where safety fits in those values</a:t></a:r></a:p></p:txBody></p:sp><p:sp><p:nvSpPr><p:cNvPr id="16" name="policyRow2"/><p:cNvSpPr/><p:nvPr/></p:nvSpPr><p:spPr><a:xfrm><a:off x="640080" y="3383280"/><a:ext cx="10789920" cy="77724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7" name="policyIcon2"/><p:cNvSpPr/><p:nvPr/></p:nvSpPr><p:spPr><a:xfrm><a:off x="868680" y="3520440"/><a:ext cx="502920" cy="502920"/></a:xfrm><a:prstGeom prst="ellipse"><a:avLst/></a:prstGeom><a:solidFill><a:srgbClr val="0B1F3A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8" name="policyNum2"/><p:cNvSpPr txBox="1"/><p:nvPr/></p:nvSpPr><p:spPr><a:xfrm><a:off x="868680" y="3611880"/><a:ext cx="502920" cy="365760"/></a:xfrm><a:prstGeom prst="rect"><a:avLst/></a:prstGeom><a:noFill/></p:spPr><p:txBody><a:bodyPr wrap="square"><a:spAutoFit/></a:bodyPr><a:lstStyle/><a:p><a:pPr algn="ctr"/><a:r><a:rPr sz="1600" b="1"><a:solidFill><a:srgbClr val="FFFFFF"/></a:solidFill><a:latin typeface="Segoe UI"/></a:rPr><a:t>3</a:t></a:r></a:p></p:txBody></p:sp><p:sp><p:nvSpPr><p:cNvPr id="19" name="policyTitle2"/><p:cNvSpPr txBox="1"/><p:nvPr/></p:nvSpPr><p:spPr><a:xfrm><a:off x="1645920" y="3493008"/><a:ext cx="9144000" cy="320040"/></a:xfrm><a:prstGeom prst="rect"><a:avLst/></a:prstGeom><a:noFill/></p:spPr><p:txBody><a:bodyPr wrap="square"><a:spAutoFit/></a:bodyPr><a:lstStyle/><a:p><a:pPr algn="l"/><a:r><a:rPr sz="1600" b="1"><a:solidFill><a:srgbClr val="0B1F3A"/></a:solidFill><a:latin typeface="Segoe UI"/></a:rPr><a:t>Set the Dream</a:t></a:r></a:p></p:txBody></p:sp><p:sp><p:nvSpPr><p:cNvPr id="20" name="policyDesc2"/><p:cNvSpPr txBox="1"/><p:nvPr/></p:nvSpPr><p:spPr><a:xfrm><a:off x="1645920" y="3794760"/><a:ext cx="9144000" cy="274320"/></a:xfrm><a:prstGeom prst="rect"><a:avLst/></a:prstGeom><a:noFill/></p:spPr><p:txBody><a:bodyPr wrap="square"><a:spAutoFit/></a:bodyPr><a:lstStyle/><a:p><a:pPr algn="l"/><a:r><a:rPr sz="1300" b="0"><a:solidFill><a:srgbClr val="5A6B7D"/></a:solidFill><a:latin typeface="Segoe UI"/></a:rPr><a:t>What should the SMS deliver for the organization?</a:t></a:r></a:p></p:txBody></p:sp><p:sp><p:nvSpPr><p:cNvPr id="21" name="policyRow3"/><p:cNvSpPr/><p:nvPr/></p:nvSpPr><p:spPr><a:xfrm><a:off x="640080" y="4297680"/><a:ext cx="10789920" cy="77724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2" name="policyIcon3"/><p:cNvSpPr/><p:nvPr/></p:nvSpPr><p:spPr><a:xfrm><a:off x="868680" y="4434840"/><a:ext cx="502920" cy="502920"/></a:xfrm><a:prstGeom prst="ellipse"><a:avLst/></a:prstGeom><a:solidFill><a:srgbClr val="1AB3A6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3" name="policyNum3"/><p:cNvSpPr txBox="1"/><p:nvPr/></p:nvSpPr><p:spPr><a:xfrm><a:off x="868680" y="4526280"/><a:ext cx="502920" cy="365760"/></a:xfrm><a:prstGeom prst="rect"><a:avLst/></a:prstGeom><a:noFill/></p:spPr><p:txBody><a:bodyPr wrap="square"><a:spAutoFit/></a:bodyPr><a:lstStyle/><a:p><a:pPr algn="ctr"/><a:r><a:rPr sz="1600" b="1"><a:solidFill><a:srgbClr val="FFFFFF"/></a:solidFill><a:latin typeface="Segoe UI"/></a:rPr><a:t>4</a:t></a:r></a:p></p:txBody></p:sp><p:sp><p:nvSpPr><p:cNvPr id="24" name="policyTitle3"/><p:cNvSpPr txBox="1"/><p:nvPr/></p:nvSpPr><p:spPr><a:xfrm><a:off x="1645920" y="4407408"/><a:ext cx="9144000" cy="320040"/></a:xfrm><a:prstGeom prst="rect"><a:avLst/></a:prstGeom><a:noFill/></p:spPr><p:txBody><a:bodyPr wrap="square"><a:spAutoFit/></a:bodyPr><a:lstStyle/><a:p><a:pPr algn="l"/><a:r><a:rPr sz="1600" b="1"><a:solidFill><a:srgbClr val="0B1F3A"/></a:solidFill><a:latin typeface="Segoe UI"/></a:rPr><a:t>Write Objectives</a:t></a:r></a:p></p:txBody></p:sp><p:sp><p:nvSpPr><p:cNvPr id="25" name="policyDesc3"/><p:cNvSpPr txBox="1"/><p:nvPr/></p:nvSpPr><p:spPr><a:xfrm><a:off x="1645920" y="4709160"/><a:ext cx="9144000" cy="274320"/></a:xfrm><a:prstGeom prst="rect"><a:avLst/></a:prstGeom><a:noFill/></p:spPr><p:txBody><a:bodyPr wrap="square"><a:spAutoFit/></a:bodyPr><a:lstStyle/><a:p><a:pPr algn="l"/><a:r><a:rPr sz="1300" b="0"><a:solidFill><a:srgbClr val="5A6B7D"/></a:solidFill><a:latin typeface="Segoe UI"/></a:rPr><a:t>Turn that vision into clear SMS policy objectives</a:t></a:r></a:p></p:txBody></p:sp><p:sp><p:nvSpPr><p:cNvPr id="26" name="policyRow4"/><p:cNvSpPr/><p:nvPr/></p:nvSpPr><p:spPr><a:xfrm><a:off x="640080" y="5212080"/><a:ext cx="10789920" cy="77724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7" name="policyIcon4"/><p:cNvSpPr/><p:nvPr/></p:nvSpPr><p:spPr><a:xfrm><a:off x="868680" y="5349240"/><a:ext cx="502920" cy="502920"/></a:xfrm><a:prstGeom prst="ellipse"><a:avLst/></a:prstGeom><a:solidFill><a:srgbClr val="0B1F3A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8" name="policyNum4"/><p:cNvSpPr txBox="1"/><p:nvPr/></p:nvSpPr><p:spPr><a:xfrm><a:off x="868680" y="5440680"/><a:ext cx="502920" cy="365760"/></a:xfrm><a:prstGeom prst="rect"><a:avLst/></a:prstGeom><a:noFill/></p:spPr><p:txBody><a:bodyPr wrap="square"><a:spAutoFit/></a:bodyPr><a:lstStyle/><a:p><a:pPr algn="ctr"/><a:r><a:rPr sz="1600" b="1"><a:solidFill><a:srgbClr val="FFFFFF"/></a:solidFill><a:latin typeface="Segoe UI"/></a:rPr><a:t>5</a:t></a:r></a:p></p:txBody></p:sp><p:sp><p:nvSpPr><p:cNvPr id="29" name="policyTitle4"/><p:cNvSpPr txBox="1"/><p:nvPr/></p:nvSpPr><p:spPr><a:xfrm><a:off x="1645920" y="5321808"/><a:ext cx="9144000" cy="320040"/></a:xfrm><a:prstGeom prst="rect"><a:avLst/></a:prstGeom><a:noFill/></p:spPr><p:txBody><a:bodyPr wrap="square"><a:spAutoFit/></a:bodyPr><a:lstStyle/><a:p><a:pPr algn="l"/><a:r><a:rPr sz="1600" b="1"><a:solidFill><a:srgbClr val="0B1F3A"/></a:solidFill><a:latin typeface="Segoe UI"/></a:rPr><a:t>Assign Ownership</a:t></a:r></a:p></p:txBody></p:sp><p:sp><p:nvSpPr><p:cNvPr id="30" name="policyDesc4"/><p:cNvSpPr txBox="1"/><p:nvPr/></p:nvSpPr><p:spPr><a:xfrm><a:off x="1645920" y="5623560"/><a:ext cx="9144000" cy="274320"/></a:xfrm><a:prstGeom prst="rect"><a:avLst/></a:prstGeom><a:noFill/></p:spPr><p:txBody><a:bodyPr wrap="square"><a:spAutoFit/></a:bodyPr><a:lstStyle/><a:p><a:pPr algn="l"/><a:r><a:rPr sz="1300" b="0"><a:solidFill><a:srgbClr val="5A6B7D"/></a:solidFill><a:latin typeface="Segoe UI"/></a:rPr><a:t>Outline high-level responsibilities for every employee</a:t></a:r></a:p></p:txBody></p:sp></p:spTree></p:cSld><p:clrMapOvr><a:masterClrMapping/></p:clrMapOvr><ns0:AlternateContent xmlns:ns0="http://schemas.openxmlformats.org/markup-compatibility/2006"><ns0:Choice Requires="p14"><p:transition spd="med"><ns1:morph xmlns:ns1="http://schemas.microsoft.com/office/powerpoint/2010/main" option="byObject"/></p:transition></ns0:Choice><ns0:Fallback><p:transition spd="med"><p:fade/></p:transition></ns0:Fallback></ns0:AlternateContent></p:sld>
</file>

<file path=ppt/slides/slide4.xml><?xml version='1.0' encoding='UTF-8' standalone='yes'?>
<p:sld xmlns:a="http://schemas.openxmlformats.org/drawingml/2006/main" xmlns:p="http://schemas.openxmlformats.org/presentationml/2006/main" xmlns:r="http://schemas.openxmlformats.org/officeDocument/2006/relationships" xmlns:ns2="http://www.w3.org/2000/xmlns/" ns2:p14="http://schemas.microsoft.com/office/powerpoint/2010/main" ns2:mc="http://schemas.openxmlformats.org/markup-compatibility/2006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0B1F3A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objLabel"/><p:cNvSpPr txBox="1"/><p:nvPr/></p:nvSpPr><p:spPr><a:xfrm><a:off x="822960" y="2194560"/><a:ext cx="10058400" cy="365760"/></a:xfrm><a:prstGeom prst="rect"><a:avLst/></a:prstGeom><a:noFill/></p:spPr><p:txBody><a:bodyPr wrap="square"><a:spAutoFit/></a:bodyPr><a:lstStyle/><a:p><a:pPr algn="ctr"/><a:r><a:rPr sz="1600" b="1"><a:solidFill><a:srgbClr val="E8B923"/></a:solidFill><a:latin typeface="Segoe UI"/></a:rPr><a:t>OUR SAFETY OBJECTIVE IS</a:t></a:r></a:p></p:txBody></p:sp><p:sp><p:nvSpPr><p:cNvPr id="4" name="objTitle"/><p:cNvSpPr txBox="1"/><p:nvPr/></p:nvSpPr><p:spPr><a:xfrm><a:off x="822960" y="2834640"/><a:ext cx="10515600" cy="914400"/></a:xfrm><a:prstGeom prst="rect"><a:avLst/></a:prstGeom><a:noFill/></p:spPr><p:txBody><a:bodyPr wrap="square"><a:spAutoFit/></a:bodyPr><a:lstStyle/><a:p><a:pPr algn="ctr"/><a:r><a:rPr sz="3600" b="1"><a:solidFill><a:srgbClr val="FFFFFF"/></a:solidFill><a:latin typeface="Segoe UI Semibold"/></a:rPr><a:t>"A Continuous Reduction in Mishaps"</a:t></a:r></a:p></p:txBody></p:sp></p:spTree></p:cSld><p:clrMapOvr><a:masterClrMapping/></p:clrMapOvr><ns0:AlternateContent xmlns:ns0="http://schemas.openxmlformats.org/markup-compatibility/2006"><ns0:Choice Requires="p14"><p:transition spd="med"><ns1:morph xmlns:ns1="http://schemas.microsoft.com/office/powerpoint/2010/main" option="byObject"/></p:transition></ns0:Choice><ns0:Fallback><p:transition spd="med"><p:fade/></p:transition></ns0:Fallback></ns0:AlternateContent></p:sld>
</file>

<file path=ppt/slides/slide5.xml><?xml version='1.0' encoding='UTF-8' standalone='yes'?>
<p:sld xmlns:a="http://schemas.openxmlformats.org/drawingml/2006/main" xmlns:p="http://schemas.openxmlformats.org/presentationml/2006/main" xmlns:r="http://schemas.openxmlformats.org/officeDocument/2006/relationships" xmlns:ns2="http://www.w3.org/2000/xmlns/" ns2:p14="http://schemas.microsoft.com/office/powerpoint/2010/main" ns2:mc="http://schemas.openxmlformats.org/markup-compatibility/2006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0B1F3A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objLabel"/><p:cNvSpPr txBox="1"/><p:nvPr/></p:nvSpPr><p:spPr><a:xfrm><a:off x="457200" y="274320"/><a:ext cx="7315200" cy="320040"/></a:xfrm><a:prstGeom prst="rect"><a:avLst/></a:prstGeom><a:noFill/></p:spPr><p:txBody><a:bodyPr wrap="square"><a:spAutoFit/></a:bodyPr><a:lstStyle/><a:p><a:pPr algn="l"/><a:r><a:rPr sz="1200" b="1"><a:solidFill><a:srgbClr val="E8B923"/></a:solidFill><a:latin typeface="Segoe UI"/></a:rPr><a:t>OUR SAFETY OBJECTIVE IS</a:t></a:r></a:p></p:txBody></p:sp><p:sp><p:nvSpPr><p:cNvPr id="4" name="objTitle"/><p:cNvSpPr txBox="1"/><p:nvPr/></p:nvSpPr><p:spPr><a:xfrm><a:off x="457200" y="594360"/><a:ext cx="7315200" cy="457200"/></a:xfrm><a:prstGeom prst="rect"><a:avLst/></a:prstGeom><a:noFill/></p:spPr><p:txBody><a:bodyPr wrap="square"><a:spAutoFit/></a:bodyPr><a:lstStyle/><a:p><a:pPr algn="l"/><a:r><a:rPr sz="2200" b="1"><a:solidFill><a:srgbClr val="FFFFFF"/></a:solidFill><a:latin typeface="Segoe UI Semibold"/></a:rPr><a:t>"A Continuous Reduction in Mishaps"</a:t></a:r></a:p></p:txBody></p:sp><p:sp><p:nvSpPr><p:cNvPr id="5" name="pyramidBase"/><p:cNvSpPr/><p:nvPr/></p:nvSpPr><p:spPr><a:xfrm><a:off x="1097280" y="1645920"/><a:ext cx="4754880" cy="4206240"/></a:xfrm><a:prstGeom prst="triangle"><a:avLst/></a:prstGeom><a:solidFill><a:srgbClr val="F1C40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6" name="pyramidMid"/><p:cNvSpPr/><p:nvPr/></p:nvSpPr><p:spPr><a:xfrm><a:off x="1783080" y="1645920"/><a:ext cx="3383280" cy="2926080"/></a:xfrm><a:prstGeom prst="triangle"><a:avLst/></a:prstGeom><a:solidFill><a:srgbClr val="E67E2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7" name="pyramidTop"/><p:cNvSpPr/><p:nvPr/></p:nvSpPr><p:spPr><a:xfrm><a:off x="2468880" y="1645920"/><a:ext cx="2011680" cy="1645920"/></a:xfrm><a:prstGeom prst="triangle"><a:avLst/></a:prstGeom><a:solidFill><a:srgbClr val="E74C3C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8" name="pyrLabel0"/><p:cNvSpPr txBox="1"/><p:nvPr/></p:nvSpPr><p:spPr><a:xfrm><a:off x="365760" y="2103120"/><a:ext cx="1645920" cy="320040"/></a:xfrm><a:prstGeom prst="rect"><a:avLst/></a:prstGeom><a:noFill/></p:spPr><p:txBody><a:bodyPr wrap="square"><a:spAutoFit/></a:bodyPr><a:lstStyle/><a:p><a:pPr algn="l"/><a:r><a:rPr sz="1200" b="1"><a:solidFill><a:srgbClr val="E74C3C"/></a:solidFill><a:latin typeface="Segoe UI"/></a:rPr><a:t>ACCIDENT</a:t></a:r></a:p></p:txBody></p:sp><p:sp><p:nvSpPr><p:cNvPr id="9" name="pyrLabel1"/><p:cNvSpPr txBox="1"/><p:nvPr/></p:nvSpPr><p:spPr><a:xfrm><a:off x="365760" y="3291840"/><a:ext cx="1645920" cy="320040"/></a:xfrm><a:prstGeom prst="rect"><a:avLst/></a:prstGeom><a:noFill/></p:spPr><p:txBody><a:bodyPr wrap="square"><a:spAutoFit/></a:bodyPr><a:lstStyle/><a:p><a:pPr algn="l"/><a:r><a:rPr sz="1200" b="1"><a:solidFill><a:srgbClr val="E67E22"/></a:solidFill><a:latin typeface="Segoe UI"/></a:rPr><a:t>INCIDENTS</a:t></a:r></a:p></p:txBody></p:sp><p:sp><p:nvSpPr><p:cNvPr id="10" name="pyrLabel2"/><p:cNvSpPr txBox="1"/><p:nvPr/></p:nvSpPr><p:spPr><a:xfrm><a:off x="365760" y="4572000"/><a:ext cx="1645920" cy="320040"/></a:xfrm><a:prstGeom prst="rect"><a:avLst/></a:prstGeom><a:noFill/></p:spPr><p:txBody><a:bodyPr wrap="square"><a:spAutoFit/></a:bodyPr><a:lstStyle/><a:p><a:pPr algn="l"/><a:r><a:rPr sz="1200" b="1"><a:solidFill><a:srgbClr val="E8B923"/></a:solidFill><a:latin typeface="Segoe UI"/></a:rPr><a:t>CLOSE CALLS</a:t></a:r></a:p></p:txBody></p:sp><p:sp><p:nvSpPr><p:cNvPr id="11" name="pyrNum0"/><p:cNvSpPr txBox="1"/><p:nvPr/></p:nvSpPr><p:spPr><a:xfrm><a:off x="2926080" y="2103120"/><a:ext cx="1371600" cy="365760"/></a:xfrm><a:prstGeom prst="rect"><a:avLst/></a:prstGeom><a:noFill/></p:spPr><p:txBody><a:bodyPr wrap="square"><a:spAutoFit/></a:bodyPr><a:lstStyle/><a:p><a:pPr algn="ctr"/><a:r><a:rPr sz="1600" b="1"><a:solidFill><a:srgbClr val="FFFFFF"/></a:solidFill><a:latin typeface="Segoe UI"/></a:rPr><a:t>1</a:t></a:r></a:p></p:txBody></p:sp><p:sp><p:nvSpPr><p:cNvPr id="12" name="pyrNum1"/><p:cNvSpPr txBox="1"/><p:nvPr/></p:nvSpPr><p:spPr><a:xfrm><a:off x="2834640" y="3383280"/><a:ext cx="1371600" cy="365760"/></a:xfrm><a:prstGeom prst="rect"><a:avLst/></a:prstGeom><a:noFill/></p:spPr><p:txBody><a:bodyPr wrap="square"><a:spAutoFit/></a:bodyPr><a:lstStyle/><a:p><a:pPr algn="ctr"/><a:r><a:rPr sz="1600" b="1"><a:solidFill><a:srgbClr val="FFFFFF"/></a:solidFill><a:latin typeface="Segoe UI"/></a:rPr><a:t>1,000</a:t></a:r></a:p></p:txBody></p:sp><p:sp><p:nvSpPr><p:cNvPr id="13" name="pyrNum2"/><p:cNvSpPr txBox="1"/><p:nvPr/></p:nvSpPr><p:spPr><a:xfrm><a:off x="2651760" y="4754880"/><a:ext cx="1371600" cy="365760"/></a:xfrm><a:prstGeom prst="rect"><a:avLst/></a:prstGeom><a:noFill/></p:spPr><p:txBody><a:bodyPr wrap="square"><a:spAutoFit/></a:bodyPr><a:lstStyle/><a:p><a:pPr algn="ctr"/><a:r><a:rPr sz="1600" b="1"><a:solidFill><a:srgbClr val="FFFFFF"/></a:solidFill><a:latin typeface="Segoe UI"/></a:rPr><a:t>10,000</a:t></a:r></a:p></p:txBody></p:sp><p:sp><p:nvSpPr><p:cNvPr id="14" name="magnifier"/><p:cNvSpPr/><p:nvPr/></p:nvSpPr><p:spPr><a:xfrm><a:off x="4206240" y="1371600"/><a:ext cx="502920" cy="502920"/></a:xfrm><a:prstGeom prst="ellipse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5" name="magnifierInner"/><p:cNvSpPr/><p:nvPr/></p:nvSpPr><p:spPr><a:xfrm><a:off x="4297680" y="1463040"/><a:ext cx="320040" cy="320040"/></a:xfrm><a:prstGeom prst="ellipse"><a:avLst/></a:prstGeom><a:solidFill><a:srgbClr val="E74C3C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graphicFrame><p:nvGraphicFramePr><p:cNvPr id="16" name="Chart 15"/><p:cNvGraphicFramePr><a:graphicFrameLocks noGrp="1"/></p:cNvGraphicFramePr><p:nvPr/></p:nvGraphicFramePr><p:xfrm><a:off x="6400800" y="1645920"/><a:ext cx="5120640" cy="3840480"/></p:xfrm><a:graphic><a:graphicData uri="http://schemas.openxmlformats.org/drawingml/2006/chart"><c:chart xmlns:c="http://schemas.openxmlformats.org/drawingml/2006/chart" r:id="rId2"/></a:graphicData></a:graphic></p:graphicFrame><p:sp><p:nvSpPr><p:cNvPr id="17" name="pyrFooter"/><p:cNvSpPr txBox="1"/><p:nvPr/></p:nvSpPr><p:spPr><a:xfrm><a:off x="457200" y="6126480"/><a:ext cx="10972800" cy="411480"/></a:xfrm><a:prstGeom prst="rect"><a:avLst/></a:prstGeom><a:noFill/></p:spPr><p:txBody><a:bodyPr wrap="square"><a:spAutoFit/></a:bodyPr><a:lstStyle/><a:p><a:pPr algn="ctr"/><a:r><a:rPr sz="1400" b="1"><a:solidFill><a:srgbClr val="F5D06A"/></a:solidFill><a:latin typeface="Segoe UI"/></a:rPr><a:t>Be vigilant — FIND the next POTENTIAL accident and prevent it from HAPPENING</a:t></a:r></a:p></p:txBody></p:sp></p:spTree></p:cSld><p:clrMapOvr><a:masterClrMapping/></p:clrMapOvr><ns0:AlternateContent xmlns:ns0="http://schemas.openxmlformats.org/markup-compatibility/2006"><ns0:Choice Requires="p14"><p:transition spd="med"><ns1:morph xmlns:ns1="http://schemas.microsoft.com/office/powerpoint/2010/main" option="byObject"/></p:transition></ns0:Choice><ns0:Fallback><p:transition spd="med"><p:fade/></p:transition></ns0:Fallback></ns0:AlternateContent></p:sld>
</file>

<file path=ppt/slides/slide6.xml><?xml version='1.0' encoding='UTF-8' standalone='yes'?>
<p:sld xmlns:a="http://schemas.openxmlformats.org/drawingml/2006/main" xmlns:p="http://schemas.openxmlformats.org/presentationml/2006/main" xmlns:r="http://schemas.openxmlformats.org/officeDocument/2006/relationships" xmlns:ns2="http://www.w3.org/2000/xmlns/" ns2:p14="http://schemas.microsoft.com/office/powerpoint/2010/main" ns2:mc="http://schemas.openxmlformats.org/markup-compatibility/2006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Rectangle 2"/><p:cNvSpPr/><p:nvPr/></p:nvSpPr><p:spPr><a:xfrm><a:off x="0" y="0"/><a:ext cx="109728" cy="685800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" name="sectionLabel"/><p:cNvSpPr txBox="1"/><p:nvPr/></p:nvSpPr><p:spPr><a:xfrm><a:off x="640080" y="320040"/><a:ext cx="5486400" cy="320040"/></a:xfrm><a:prstGeom prst="rect"><a:avLst/></a:prstGeom><a:noFill/></p:spPr><p:txBody><a:bodyPr wrap="square"><a:spAutoFit/></a:bodyPr><a:lstStyle/><a:p><a:pPr algn="l"/><a:r><a:rPr sz="1100" b="1"><a:solidFill><a:srgbClr val="E8B923"/></a:solidFill><a:latin typeface="Segoe UI"/></a:rPr><a:t>ACCOUNTABILITY</a:t></a:r></a:p></p:txBody></p:sp><p:sp><p:nvSpPr><p:cNvPr id="5" name="slideTitle"/><p:cNvSpPr txBox="1"/><p:nvPr/></p:nvSpPr><p:spPr><a:xfrm><a:off x="640080" y="594360"/><a:ext cx="10515600" cy="640080"/></a:xfrm><a:prstGeom prst="rect"><a:avLst/></a:prstGeom><a:noFill/></p:spPr><p:txBody><a:bodyPr wrap="square"><a:spAutoFit/></a:bodyPr><a:lstStyle/><a:p><a:pPr algn="l"/><a:r><a:rPr sz="3200" b="1"><a:solidFill><a:srgbClr val="0B1F3A"/></a:solidFill><a:latin typeface="Segoe UI Semibold"/></a:rPr><a:t>Management Commitment</a:t></a:r></a:p></p:txBody></p:sp><p:sp><p:nvSpPr><p:cNvPr id="6" name="commitCard0"/><p:cNvSpPr/><p:nvPr/></p:nvSpPr><p:spPr><a:xfrm><a:off x="548640" y="1645920"/><a:ext cx="5486400" cy="20116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7" name="commitStripe0"/><p:cNvSpPr/><p:nvPr/></p:nvSpPr><p:spPr><a:xfrm><a:off x="548640" y="1645920"/><a:ext cx="109728" cy="2011680"/></a:xfrm><a:prstGeom prst="rect"><a:avLst/></a:prstGeom><a:solidFill><a:srgbClr val="0B1F3A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8" name="commitNum0"/><p:cNvSpPr txBox="1"/><p:nvPr/></p:nvSpPr><p:spPr><a:xfrm><a:off x="914400" y="1965960"/><a:ext cx="914400" cy="457200"/></a:xfrm><a:prstGeom prst="rect"><a:avLst/></a:prstGeom><a:noFill/></p:spPr><p:txBody><a:bodyPr wrap="square"><a:spAutoFit/></a:bodyPr><a:lstStyle/><a:p><a:pPr algn="l"/><a:r><a:rPr sz="2400" b="1"><a:solidFill><a:srgbClr val="0B1F3A"/></a:solidFill><a:latin typeface="Segoe UI"/></a:rPr><a:t>01</a:t></a:r></a:p></p:txBody></p:sp><p:sp><p:nvSpPr><p:cNvPr id="9" name="commitTitle0"/><p:cNvSpPr txBox="1"/><p:nvPr/></p:nvSpPr><p:spPr><a:xfrm><a:off x="914400" y="2468880"/><a:ext cx="4754880" cy="365760"/></a:xfrm><a:prstGeom prst="rect"><a:avLst/></a:prstGeom><a:noFill/></p:spPr><p:txBody><a:bodyPr wrap="square"><a:spAutoFit/></a:bodyPr><a:lstStyle/><a:p><a:pPr algn="l"/><a:r><a:rPr sz="2000" b="1"><a:solidFill><a:srgbClr val="0B1F3A"/></a:solidFill><a:latin typeface="Segoe UI"/></a:rPr><a:t>SMS Champion</a:t></a:r></a:p></p:txBody></p:sp><p:sp><p:nvSpPr><p:cNvPr id="10" name="commitDesc0"/><p:cNvSpPr txBox="1"/><p:nvPr/></p:nvSpPr><p:spPr><a:xfrm><a:off x="914400" y="2926080"/><a:ext cx="4754880" cy="502920"/></a:xfrm><a:prstGeom prst="rect"><a:avLst/></a:prstGeom><a:noFill/></p:spPr><p:txBody><a:bodyPr wrap="square"><a:spAutoFit/></a:bodyPr><a:lstStyle/><a:p><a:pPr algn="l"/><a:r><a:rPr sz="1300" b="0"><a:solidFill><a:srgbClr val="5A6B7D"/></a:solidFill><a:latin typeface="Segoe UI"/></a:rPr><a:t>One person oversees SMS development, implementation &amp; operation</a:t></a:r></a:p></p:txBody></p:sp><p:sp><p:nvSpPr><p:cNvPr id="11" name="commitCard1"/><p:cNvSpPr/><p:nvPr/></p:nvSpPr><p:spPr><a:xfrm><a:off x="6309359" y="1645920"/><a:ext cx="5486400" cy="20116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2" name="commitStripe1"/><p:cNvSpPr/><p:nvPr/></p:nvSpPr><p:spPr><a:xfrm><a:off x="6309359" y="1645920"/><a:ext cx="109728" cy="2011680"/></a:xfrm><a:prstGeom prst="rect"><a:avLst/></a:prstGeom><a:solidFill><a:srgbClr val="1AB3A6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3" name="commitNum1"/><p:cNvSpPr txBox="1"/><p:nvPr/></p:nvSpPr><p:spPr><a:xfrm><a:off x="6675119" y="1965960"/><a:ext cx="914400" cy="457200"/></a:xfrm><a:prstGeom prst="rect"><a:avLst/></a:prstGeom><a:noFill/></p:spPr><p:txBody><a:bodyPr wrap="square"><a:spAutoFit/></a:bodyPr><a:lstStyle/><a:p><a:pPr algn="l"/><a:r><a:rPr sz="2400" b="1"><a:solidFill><a:srgbClr val="1AB3A6"/></a:solidFill><a:latin typeface="Segoe UI"/></a:rPr><a:t>02</a:t></a:r></a:p></p:txBody></p:sp><p:sp><p:nvSpPr><p:cNvPr id="14" name="commitTitle1"/><p:cNvSpPr txBox="1"/><p:nvPr/></p:nvSpPr><p:spPr><a:xfrm><a:off x="6675119" y="2468880"/><a:ext cx="4754880" cy="365760"/></a:xfrm><a:prstGeom prst="rect"><a:avLst/></a:prstGeom><a:noFill/></p:spPr><p:txBody><a:bodyPr wrap="square"><a:spAutoFit/></a:bodyPr><a:lstStyle/><a:p><a:pPr algn="l"/><a:r><a:rPr sz="2000" b="1"><a:solidFill><a:srgbClr val="0B1F3A"/></a:solidFill><a:latin typeface="Segoe UI"/></a:rPr><a:t>Not Sole Owner</a:t></a:r></a:p></p:txBody></p:sp><p:sp><p:nvSpPr><p:cNvPr id="15" name="commitDesc1"/><p:cNvSpPr txBox="1"/><p:nvPr/></p:nvSpPr><p:spPr><a:xfrm><a:off x="6675119" y="2926080"/><a:ext cx="4754880" cy="502920"/></a:xfrm><a:prstGeom prst="rect"><a:avLst/></a:prstGeom><a:noFill/></p:spPr><p:txBody><a:bodyPr wrap="square"><a:spAutoFit/></a:bodyPr><a:lstStyle/><a:p><a:pPr algn="l"/><a:r><a:rPr sz="1300" b="0"><a:solidFill><a:srgbClr val="5A6B7D"/></a:solidFill><a:latin typeface="Segoe UI"/></a:rPr><a:t>The champion does not bear principal responsibility for safety</a:t></a:r></a:p></p:txBody></p:sp><p:sp><p:nvSpPr><p:cNvPr id="16" name="commitCard2"/><p:cNvSpPr/><p:nvPr/></p:nvSpPr><p:spPr><a:xfrm><a:off x="548640" y="3931920"/><a:ext cx="5486400" cy="20116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7" name="commitStripe2"/><p:cNvSpPr/><p:nvPr/></p:nvSpPr><p:spPr><a:xfrm><a:off x="548640" y="3931920"/><a:ext cx="109728" cy="2011680"/></a:xfrm><a:prstGeom prst="rect"><a:avLst/></a:prstGeom><a:solidFill><a:srgbClr val="2E86DE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8" name="commitNum2"/><p:cNvSpPr txBox="1"/><p:nvPr/></p:nvSpPr><p:spPr><a:xfrm><a:off x="914400" y="4251960"/><a:ext cx="914400" cy="457200"/></a:xfrm><a:prstGeom prst="rect"><a:avLst/></a:prstGeom><a:noFill/></p:spPr><p:txBody><a:bodyPr wrap="square"><a:spAutoFit/></a:bodyPr><a:lstStyle/><a:p><a:pPr algn="l"/><a:r><a:rPr sz="2400" b="1"><a:solidFill><a:srgbClr val="2E86DE"/></a:solidFill><a:latin typeface="Segoe UI"/></a:rPr><a:t>03</a:t></a:r></a:p></p:txBody></p:sp><p:sp><p:nvSpPr><p:cNvPr id="19" name="commitTitle2"/><p:cNvSpPr txBox="1"/><p:nvPr/></p:nvSpPr><p:spPr><a:xfrm><a:off x="914400" y="4754880"/><a:ext cx="4754880" cy="365760"/></a:xfrm><a:prstGeom prst="rect"><a:avLst/></a:prstGeom><a:noFill/></p:spPr><p:txBody><a:bodyPr wrap="square"><a:spAutoFit/></a:bodyPr><a:lstStyle/><a:p><a:pPr algn="l"/><a:r><a:rPr sz="2000" b="1"><a:solidFill><a:srgbClr val="0B1F3A"/></a:solidFill><a:latin typeface="Segoe UI"/></a:rPr><a:t>Line Managers</a:t></a:r></a:p></p:txBody></p:sp><p:sp><p:nvSpPr><p:cNvPr id="20" name="commitDesc2"/><p:cNvSpPr txBox="1"/><p:nvPr/></p:nvSpPr><p:spPr><a:xfrm><a:off x="914400" y="5212080"/><a:ext cx="4754880" cy="502920"/></a:xfrm><a:prstGeom prst="rect"><a:avLst/></a:prstGeom><a:noFill/></p:spPr><p:txBody><a:bodyPr wrap="square"><a:spAutoFit/></a:bodyPr><a:lstStyle/><a:p><a:pPr algn="l"/><a:r><a:rPr sz="1300" b="0"><a:solidFill><a:srgbClr val="5A6B7D"/></a:solidFill><a:latin typeface="Segoe UI"/></a:rPr><a:t>Middle to front-line managers own the operations where risk lives</a:t></a:r></a:p></p:txBody></p:sp><p:sp><p:nvSpPr><p:cNvPr id="21" name="commitCard3"/><p:cNvSpPr/><p:nvPr/></p:nvSpPr><p:spPr><a:xfrm><a:off x="6309359" y="3931920"/><a:ext cx="5486400" cy="20116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2" name="commitStripe3"/><p:cNvSpPr/><p:nvPr/></p:nvSpPr><p:spPr><a:xfrm><a:off x="6309359" y="3931920"/><a:ext cx="109728" cy="2011680"/></a:xfrm><a:prstGeom prst="rect"><a:avLst/></a:prstGeom><a:solidFill><a:srgbClr val="E67E2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3" name="commitNum3"/><p:cNvSpPr txBox="1"/><p:nvPr/></p:nvSpPr><p:spPr><a:xfrm><a:off x="6675119" y="4251960"/><a:ext cx="914400" cy="457200"/></a:xfrm><a:prstGeom prst="rect"><a:avLst/></a:prstGeom><a:noFill/></p:spPr><p:txBody><a:bodyPr wrap="square"><a:spAutoFit/></a:bodyPr><a:lstStyle/><a:p><a:pPr algn="l"/><a:r><a:rPr sz="2400" b="1"><a:solidFill><a:srgbClr val="E67E22"/></a:solidFill><a:latin typeface="Segoe UI"/></a:rPr><a:t>04</a:t></a:r></a:p></p:txBody></p:sp><p:sp><p:nvSpPr><p:cNvPr id="24" name="commitTitle3"/><p:cNvSpPr txBox="1"/><p:nvPr/></p:nvSpPr><p:spPr><a:xfrm><a:off x="6675119" y="4754880"/><a:ext cx="4754880" cy="365760"/></a:xfrm><a:prstGeom prst="rect"><a:avLst/></a:prstGeom><a:noFill/></p:spPr><p:txBody><a:bodyPr wrap="square"><a:spAutoFit/></a:bodyPr><a:lstStyle/><a:p><a:pPr algn="l"/><a:r><a:rPr sz="2000" b="1"><a:solidFill><a:srgbClr val="0B1F3A"/></a:solidFill><a:latin typeface="Segoe UI"/></a:rPr><a:t>SMS Owners</a:t></a:r></a:p></p:txBody></p:sp><p:sp><p:nvSpPr><p:cNvPr id="25" name="commitDesc3"/><p:cNvSpPr txBox="1"/><p:nvPr/></p:nvSpPr><p:spPr><a:xfrm><a:off x="6675119" y="5212080"/><a:ext cx="4754880" cy="502920"/></a:xfrm><a:prstGeom prst="rect"><a:avLst/></a:prstGeom><a:noFill/></p:spPr><p:txBody><a:bodyPr wrap="square"><a:spAutoFit/></a:bodyPr><a:lstStyle/><a:p><a:pPr algn="l"/><a:r><a:rPr sz="1300" b="0"><a:solidFill><a:srgbClr val="5A6B7D"/></a:solidFill><a:latin typeface="Segoe UI"/></a:rPr><a:t>Managers &amp; supervisors are the true owners of the SMS</a:t></a:r></a:p></p:txBody></p:sp></p:spTree></p:cSld><p:clrMapOvr><a:masterClrMapping/></p:clrMapOvr><ns0:AlternateContent xmlns:ns0="http://schemas.openxmlformats.org/markup-compatibility/2006"><ns0:Choice Requires="p14"><p:transition spd="med"><ns1:morph xmlns:ns1="http://schemas.microsoft.com/office/powerpoint/2010/main" option="byObject"/></p:transition></ns0:Choice><ns0:Fallback><p:transition spd="med"><p:fade/></p:transition></ns0:Fallback></ns0:AlternateContent></p:sld>
</file>

<file path=ppt/slides/slide7.xml><?xml version='1.0' encoding='UTF-8' standalone='yes'?>
<p:sld xmlns:a="http://schemas.openxmlformats.org/drawingml/2006/main" xmlns:p="http://schemas.openxmlformats.org/presentationml/2006/main" xmlns:r="http://schemas.openxmlformats.org/officeDocument/2006/relationships" xmlns:ns2="http://www.w3.org/2000/xmlns/" ns2:p14="http://schemas.microsoft.com/office/powerpoint/2010/main" ns2:mc="http://schemas.openxmlformats.org/markup-compatibility/2006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Rectangle 2"/><p:cNvSpPr/><p:nvPr/></p:nvSpPr><p:spPr><a:xfrm><a:off x="0" y="0"/><a:ext cx="109728" cy="685800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" name="sectionLabel"/><p:cNvSpPr txBox="1"/><p:nvPr/></p:nvSpPr><p:spPr><a:xfrm><a:off x="640080" y="320040"/><a:ext cx="5486400" cy="320040"/></a:xfrm><a:prstGeom prst="rect"><a:avLst/></a:prstGeom><a:noFill/></p:spPr><p:txBody><a:bodyPr wrap="square"><a:spAutoFit/></a:bodyPr><a:lstStyle/><a:p><a:pPr algn="l"/><a:r><a:rPr sz="1100" b="1"><a:solidFill><a:srgbClr val="E8B923"/></a:solidFill><a:latin typeface="Segoe UI"/></a:rPr><a:t>DEFENSE IN DEPTH</a:t></a:r></a:p></p:txBody></p:sp><p:sp><p:nvSpPr><p:cNvPr id="5" name="slideTitle"/><p:cNvSpPr txBox="1"/><p:nvPr/></p:nvSpPr><p:spPr><a:xfrm><a:off x="640080" y="594360"/><a:ext cx="10515600" cy="640080"/></a:xfrm><a:prstGeom prst="rect"><a:avLst/></a:prstGeom><a:noFill/></p:spPr><p:txBody><a:bodyPr wrap="square"><a:spAutoFit/></a:bodyPr><a:lstStyle/><a:p><a:pPr algn="l"/><a:r><a:rPr sz="3200" b="1"><a:solidFill><a:srgbClr val="0B1F3A"/></a:solidFill><a:latin typeface="Segoe UI Semibold"/></a:rPr><a:t>Barriers &amp; Controls</a:t></a:r></a:p></p:txBody></p:sp><p:sp><p:nvSpPr><p:cNvPr id="6" name="hazardBox"/><p:cNvSpPr/><p:nvPr/></p:nvSpPr><p:spPr><a:xfrm><a:off x="457200" y="2926080"/><a:ext cx="1645920" cy="914400"/></a:xfrm><a:prstGeom prst="round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7" name="hazardText"/><p:cNvSpPr txBox="1"/><p:nvPr/></p:nvSpPr><p:spPr><a:xfrm><a:off x="457200" y="3108960"/><a:ext cx="1645920" cy="548640"/></a:xfrm><a:prstGeom prst="rect"><a:avLst/></a:prstGeom><a:noFill/></p:spPr><p:txBody><a:bodyPr wrap="square"><a:spAutoFit/></a:bodyPr><a:lstStyle/><a:p><a:pPr algn="ctr"/><a:r><a:rPr sz="1200" b="1"><a:solidFill><a:srgbClr val="0B1F3A"/></a:solidFill><a:latin typeface="Segoe UI"/></a:rPr><a:t>HAZARD
/ RISK</a:t></a:r></a:p></p:txBody></p:sp><p:sp><p:nvSpPr><p:cNvPr id="8" name="riskArrow"/><p:cNvSpPr/><p:nvPr/></p:nvSpPr><p:spPr><a:xfrm><a:off x="2194560" y="3154680"/><a:ext cx="640080" cy="411480"/></a:xfrm><a:prstGeom prst="rightArrow"><a:avLst/></a:prstGeom><a:solidFill><a:srgbClr val="E74C3C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9" name="barrier0"/><p:cNvSpPr/><p:nvPr/></p:nvSpPr><p:spPr><a:xfrm><a:off x="3017520" y="1828800"/><a:ext cx="1005840" cy="3200400"/></a:xfrm><a:prstGeom prst="roundRect"><a:avLst/></a:prstGeom><a:solidFill><a:srgbClr val="E67E2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0" name="hole0_0"/><p:cNvSpPr/><p:nvPr/></p:nvSpPr><p:spPr><a:xfrm><a:off x="3291840" y="2286000"/><a:ext cx="457200" cy="457200"/></a:xfrm><a:prstGeom prst="ellipse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1" name="hole0_1"/><p:cNvSpPr/><p:nvPr/></p:nvSpPr><p:spPr><a:xfrm><a:off x="3291840" y="3200400"/><a:ext cx="457200" cy="457200"/></a:xfrm><a:prstGeom prst="ellipse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2" name="hole0_2"/><p:cNvSpPr/><p:nvPr/></p:nvSpPr><p:spPr><a:xfrm><a:off x="3291840" y="4023360"/><a:ext cx="457200" cy="457200"/></a:xfrm><a:prstGeom prst="ellipse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3" name="barrierLabel0"/><p:cNvSpPr txBox="1"/><p:nvPr/></p:nvSpPr><p:spPr><a:xfrm><a:off x="2926080" y="5120640"/><a:ext cx="1188720" cy="365760"/></a:xfrm><a:prstGeom prst="rect"><a:avLst/></a:prstGeom><a:noFill/></p:spPr><p:txBody><a:bodyPr wrap="square"><a:spAutoFit/></a:bodyPr><a:lstStyle/><a:p><a:pPr algn="ctr"/><a:r><a:rPr sz="1100" b="1"><a:solidFill><a:srgbClr val="0B1F3A"/></a:solidFill><a:latin typeface="Segoe UI"/></a:rPr><a:t>Policy</a:t></a:r></a:p></p:txBody></p:sp><p:sp><p:nvSpPr><p:cNvPr id="14" name="barrier1"/><p:cNvSpPr/><p:nvPr/></p:nvSpPr><p:spPr><a:xfrm><a:off x="4251960" y="1828800"/><a:ext cx="1005840" cy="3200400"/></a:xfrm><a:prstGeom prst="roundRect"><a:avLst/></a:prstGeom><a:solidFill><a:srgbClr val="2E86DE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5" name="hole1_0"/><p:cNvSpPr/><p:nvPr/></p:nvSpPr><p:spPr><a:xfrm><a:off x="4526280" y="2286000"/><a:ext cx="457200" cy="457200"/></a:xfrm><a:prstGeom prst="ellipse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6" name="hole1_1"/><p:cNvSpPr/><p:nvPr/></p:nvSpPr><p:spPr><a:xfrm><a:off x="4526280" y="3200400"/><a:ext cx="457200" cy="457200"/></a:xfrm><a:prstGeom prst="ellipse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7" name="hole1_2"/><p:cNvSpPr/><p:nvPr/></p:nvSpPr><p:spPr><a:xfrm><a:off x="4526280" y="4023360"/><a:ext cx="457200" cy="457200"/></a:xfrm><a:prstGeom prst="ellipse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8" name="barrierLabel1"/><p:cNvSpPr txBox="1"/><p:nvPr/></p:nvSpPr><p:spPr><a:xfrm><a:off x="4160520" y="5120640"/><a:ext cx="1188720" cy="365760"/></a:xfrm><a:prstGeom prst="rect"><a:avLst/></a:prstGeom><a:noFill/></p:spPr><p:txBody><a:bodyPr wrap="square"><a:spAutoFit/></a:bodyPr><a:lstStyle/><a:p><a:pPr algn="ctr"/><a:r><a:rPr sz="1100" b="1"><a:solidFill><a:srgbClr val="0B1F3A"/></a:solidFill><a:latin typeface="Segoe UI"/></a:rPr><a:t>Process</a:t></a:r></a:p></p:txBody></p:sp><p:sp><p:nvSpPr><p:cNvPr id="19" name="barrier2"/><p:cNvSpPr/><p:nvPr/></p:nvSpPr><p:spPr><a:xfrm><a:off x="5486400" y="1828800"/><a:ext cx="1005840" cy="3200400"/></a:xfrm><a:prstGeom prst="roundRect"><a:avLst/></a:prstGeom><a:solidFill><a:srgbClr val="27AE60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0" name="hole2_0"/><p:cNvSpPr/><p:nvPr/></p:nvSpPr><p:spPr><a:xfrm><a:off x="5760720" y="2286000"/><a:ext cx="457200" cy="457200"/></a:xfrm><a:prstGeom prst="ellipse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1" name="hole2_1"/><p:cNvSpPr/><p:nvPr/></p:nvSpPr><p:spPr><a:xfrm><a:off x="5760720" y="3200400"/><a:ext cx="457200" cy="457200"/></a:xfrm><a:prstGeom prst="ellipse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2" name="hole2_2"/><p:cNvSpPr/><p:nvPr/></p:nvSpPr><p:spPr><a:xfrm><a:off x="5760720" y="4023360"/><a:ext cx="457200" cy="457200"/></a:xfrm><a:prstGeom prst="ellipse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3" name="barrierLabel2"/><p:cNvSpPr txBox="1"/><p:nvPr/></p:nvSpPr><p:spPr><a:xfrm><a:off x="5394960" y="5120640"/><a:ext cx="1188720" cy="365760"/></a:xfrm><a:prstGeom prst="rect"><a:avLst/></a:prstGeom><a:noFill/></p:spPr><p:txBody><a:bodyPr wrap="square"><a:spAutoFit/></a:bodyPr><a:lstStyle/><a:p><a:pPr algn="ctr"/><a:r><a:rPr sz="1100" b="1"><a:solidFill><a:srgbClr val="0B1F3A"/></a:solidFill><a:latin typeface="Segoe UI"/></a:rPr><a:t>Training</a:t></a:r></a:p></p:txBody></p:sp><p:sp><p:nvSpPr><p:cNvPr id="24" name="barrier3"/><p:cNvSpPr/><p:nvPr/></p:nvSpPr><p:spPr><a:xfrm><a:off x="6720840" y="1828800"/><a:ext cx="1005840" cy="3200400"/></a:xfrm><a:prstGeom prst="roundRect"><a:avLst/></a:prstGeom><a:solidFill><a:srgbClr val="95A5A6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5" name="hole3_0"/><p:cNvSpPr/><p:nvPr/></p:nvSpPr><p:spPr><a:xfrm><a:off x="6995160" y="2286000"/><a:ext cx="457200" cy="457200"/></a:xfrm><a:prstGeom prst="ellipse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6" name="hole3_1"/><p:cNvSpPr/><p:nvPr/></p:nvSpPr><p:spPr><a:xfrm><a:off x="6995160" y="3200400"/><a:ext cx="457200" cy="457200"/></a:xfrm><a:prstGeom prst="ellipse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7" name="hole3_2"/><p:cNvSpPr/><p:nvPr/></p:nvSpPr><p:spPr><a:xfrm><a:off x="6995160" y="4023360"/><a:ext cx="457200" cy="457200"/></a:xfrm><a:prstGeom prst="ellipse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8" name="barrierLabel3"/><p:cNvSpPr txBox="1"/><p:nvPr/></p:nvSpPr><p:spPr><a:xfrm><a:off x="6629400" y="5120640"/><a:ext cx="1188720" cy="365760"/></a:xfrm><a:prstGeom prst="rect"><a:avLst/></a:prstGeom><a:noFill/></p:spPr><p:txBody><a:bodyPr wrap="square"><a:spAutoFit/></a:bodyPr><a:lstStyle/><a:p><a:pPr algn="ctr"/><a:r><a:rPr sz="1100" b="1"><a:solidFill><a:srgbClr val="0B1F3A"/></a:solidFill><a:latin typeface="Segoe UI"/></a:rPr><a:t>Supervision</a:t></a:r></a:p></p:txBody></p:sp><p:sp><p:nvSpPr><p:cNvPr id="29" name="outcomeBox"/><p:cNvSpPr/><p:nvPr/></p:nvSpPr><p:spPr><a:xfrm><a:off x="8229600" y="2834640"/><a:ext cx="3200400" cy="1097280"/></a:xfrm><a:prstGeom prst="roundRect"><a:avLst/></a:prstGeom><a:solidFill><a:srgbClr val="FDE8E6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0" name="outcomeText"/><p:cNvSpPr txBox="1"/><p:nvPr/></p:nvSpPr><p:spPr><a:xfrm><a:off x="8229600" y="3063240"/><a:ext cx="3200400" cy="640080"/></a:xfrm><a:prstGeom prst="rect"><a:avLst/></a:prstGeom><a:noFill/></p:spPr><p:txBody><a:bodyPr wrap="square"><a:spAutoFit/></a:bodyPr><a:lstStyle/><a:p><a:pPr algn="ctr"/><a:r><a:rPr sz="1400" b="1"><a:solidFill><a:srgbClr val="E74C3C"/></a:solidFill><a:latin typeface="Segoe UI"/></a:rPr><a:t>UNDESIRABLE
OUTCOME  ✕</a:t></a:r></a:p></p:txBody></p:sp><p:sp><p:nvSpPr><p:cNvPr id="31" name="supervisorBar"/><p:cNvSpPr/><p:nvPr/></p:nvSpPr><p:spPr><a:xfrm><a:off x="3017520" y="5669280"/><a:ext cx="4937760" cy="731520"/></a:xfrm><a:prstGeom prst="roundRect"><a:avLst/></a:prstGeom><a:solidFill><a:srgbClr val="0B1F3A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2" name="supervisorText"/><p:cNvSpPr txBox="1"/><p:nvPr/></p:nvSpPr><p:spPr><a:xfrm><a:off x="3017520" y="5806440"/><a:ext cx="4937760" cy="457200"/></a:xfrm><a:prstGeom prst="rect"><a:avLst/></a:prstGeom><a:noFill/></p:spPr><p:txBody><a:bodyPr wrap="square"><a:spAutoFit/></a:bodyPr><a:lstStyle/><a:p><a:pPr algn="ctr"/><a:r><a:rPr sz="1400" b="1"><a:solidFill><a:srgbClr val="FFFFFF"/></a:solidFill><a:latin typeface="Segoe UI"/></a:rPr><a:t>SUPERVISORS maintain every barrier layer</a:t></a:r></a:p></p:txBody></p:sp><p:sp><p:nvSpPr><p:cNvPr id="33" name="swissNote"/><p:cNvSpPr txBox="1"/><p:nvPr/></p:nvSpPr><p:spPr><a:xfrm><a:off x="8229600" y="4206240"/><a:ext cx="3200400" cy="1097280"/></a:xfrm><a:prstGeom prst="rect"><a:avLst/></a:prstGeom><a:noFill/></p:spPr><p:txBody><a:bodyPr wrap="square"><a:spAutoFit/></a:bodyPr><a:lstStyle/><a:p><a:pPr algn="ctr"/><a:r><a:rPr sz="1200" b="0"><a:solidFill><a:srgbClr val="5A6B7D"/></a:solidFill><a:latin typeface="Segoe UI"/></a:rPr><a:t>Aligned holes = pathway to failure.
Strong supervision closes the gaps.</a:t></a:r></a:p></p:txBody></p:sp></p:spTree></p:cSld><p:clrMapOvr><a:masterClrMapping/></p:clrMapOvr><ns0:AlternateContent xmlns:ns0="http://schemas.openxmlformats.org/markup-compatibility/2006"><ns0:Choice Requires="p14"><p:transition spd="med"><ns1:morph xmlns:ns1="http://schemas.microsoft.com/office/powerpoint/2010/main" option="byObject"/></p:transition></ns0:Choice><ns0:Fallback><p:transition spd="med"><p:fade/></p:transition></ns0:Fallback></ns0:AlternateContent></p:sld>
</file>

<file path=ppt/slides/slide8.xml><?xml version='1.0' encoding='UTF-8' standalone='yes'?>
<p:sld xmlns:a="http://schemas.openxmlformats.org/drawingml/2006/main" xmlns:p="http://schemas.openxmlformats.org/presentationml/2006/main" xmlns:r="http://schemas.openxmlformats.org/officeDocument/2006/relationships" xmlns:ns2="http://www.w3.org/2000/xmlns/" ns2:p14="http://schemas.microsoft.com/office/powerpoint/2010/main" ns2:mc="http://schemas.openxmlformats.org/markup-compatibility/2006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Rectangle 2"/><p:cNvSpPr/><p:nvPr/></p:nvSpPr><p:spPr><a:xfrm><a:off x="0" y="0"/><a:ext cx="109728" cy="685800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" name="sectionLabel"/><p:cNvSpPr txBox="1"/><p:nvPr/></p:nvSpPr><p:spPr><a:xfrm><a:off x="640080" y="320040"/><a:ext cx="5486400" cy="320040"/></a:xfrm><a:prstGeom prst="rect"><a:avLst/></a:prstGeom><a:noFill/></p:spPr><p:txBody><a:bodyPr wrap="square"><a:spAutoFit/></a:bodyPr><a:lstStyle/><a:p><a:pPr algn="l"/><a:r><a:rPr sz="1100" b="1"><a:solidFill><a:srgbClr val="E8B923"/></a:solidFill><a:latin typeface="Segoe UI"/></a:rPr><a:t>STRUCTURE</a:t></a:r></a:p></p:txBody></p:sp><p:sp><p:nvSpPr><p:cNvPr id="5" name="slideTitle"/><p:cNvSpPr txBox="1"/><p:nvPr/></p:nvSpPr><p:spPr><a:xfrm><a:off x="640080" y="594360"/><a:ext cx="10515600" cy="640080"/></a:xfrm><a:prstGeom prst="rect"><a:avLst/></a:prstGeom><a:noFill/></p:spPr><p:txBody><a:bodyPr wrap="square"><a:spAutoFit/></a:bodyPr><a:lstStyle/><a:p><a:pPr algn="l"/><a:r><a:rPr sz="3200" b="1"><a:solidFill><a:srgbClr val="0B1F3A"/></a:solidFill><a:latin typeface="Segoe UI Semibold"/></a:rPr><a:t>Key Safety Personnel</a:t></a:r></a:p></p:txBody></p:sp><p:sp><p:nvSpPr><p:cNvPr id="6" name="topMgmt"/><p:cNvSpPr/><p:nvPr/></p:nvSpPr><p:spPr><a:xfrm><a:off x="548640" y="1463040"/><a:ext cx="11064240" cy="1005840"/></a:xfrm><a:prstGeom prst="roundRect"><a:avLst/></a:prstGeom><a:solidFill><a:srgbClr val="0B1F3A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7" name="topMgmtText"/><p:cNvSpPr txBox="1"/><p:nvPr/></p:nvSpPr><p:spPr><a:xfrm><a:off x="822960" y="1600200"/><a:ext cx="10515600" cy="731520"/></a:xfrm><a:prstGeom prst="rect"><a:avLst/></a:prstGeom><a:noFill/></p:spPr><p:txBody><a:bodyPr wrap="square"><a:spAutoFit/></a:bodyPr><a:lstStyle/><a:p><a:pPr algn="l"/><a:r><a:rPr sz="1600" b="1"><a:solidFill><a:srgbClr val="E8B923"/></a:solidFill><a:latin typeface="Segoe UI"/></a:rPr><a:t>TOP MANAGEMENT</a:t></a:r></a:p><a:p><a:pPr algn="l"><a:spcBef><a:spcPts val="400"/></a:spcBef><a:spcAft><a:spcPts val="0"/></a:spcAft></a:pPr><a:r><a:rPr sz="1300" b="0"><a:solidFill><a:srgbClr val="FFFFFF"/></a:solidFill><a:latin typeface="Segoe UI"/></a:rPr><a:t>Ultimate SMS responsibility  ·  Provides essential resources</a:t></a:r></a:p></p:txBody></p:sp><p:sp><p:nvSpPr><p:cNvPr id="8" name="smCard"/><p:cNvSpPr/><p:nvPr/></p:nvSpPr><p:spPr><a:xfrm><a:off x="548640" y="2743200"/><a:ext cx="3657600" cy="347472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9" name="Rectangle 8"/><p:cNvSpPr/><p:nvPr/></p:nvSpPr><p:spPr><a:xfrm><a:off x="548640" y="2743200"/><a:ext cx="3657600" cy="91440"/></a:xfrm><a:prstGeom prst="rect"><a:avLst/></a:prstGeom><a:solidFill><a:srgbClr val="1AB3A6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0" name="smTitle"/><p:cNvSpPr txBox="1"/><p:nvPr/></p:nvSpPr><p:spPr><a:xfrm><a:off x="822960" y="3017520"/><a:ext cx="3200400" cy="457200"/></a:xfrm><a:prstGeom prst="rect"><a:avLst/></a:prstGeom><a:noFill/></p:spPr><p:txBody><a:bodyPr wrap="square"><a:spAutoFit/></a:bodyPr><a:lstStyle/><a:p><a:pPr algn="l"/><a:r><a:rPr sz="1800" b="1"><a:solidFill><a:srgbClr val="0B1F3A"/></a:solidFill><a:latin typeface="Segoe UI"/></a:rPr><a:t>Safety Manager</a:t></a:r></a:p></p:txBody></p:sp><p:sp><p:nvSpPr><p:cNvPr id="11" name="smDuty0"/><p:cNvSpPr txBox="1"/><p:nvPr/></p:nvSpPr><p:spPr><a:xfrm><a:off x="822960" y="3657600"/><a:ext cx="3200400" cy="457200"/></a:xfrm><a:prstGeom prst="rect"><a:avLst/></a:prstGeom><a:noFill/></p:spPr><p:txBody><a:bodyPr wrap="square"><a:spAutoFit/></a:bodyPr><a:lstStyle/><a:p><a:pPr algn="l"/><a:r><a:rPr sz="1200" b="0"><a:solidFill><a:srgbClr val="5A6B7D"/></a:solidFill><a:latin typeface="Segoe UI"/></a:rPr><a:t>→  Establish &amp; maintain SMS processes</a:t></a:r></a:p></p:txBody></p:sp><p:sp><p:nvSpPr><p:cNvPr id="12" name="smDuty1"/><p:cNvSpPr txBox="1"/><p:nvPr/></p:nvSpPr><p:spPr><a:xfrm><a:off x="822960" y="4160520"/><a:ext cx="3200400" cy="457200"/></a:xfrm><a:prstGeom prst="rect"><a:avLst/></a:prstGeom><a:noFill/></p:spPr><p:txBody><a:bodyPr wrap="square"><a:spAutoFit/></a:bodyPr><a:lstStyle/><a:p><a:pPr algn="l"/><a:r><a:rPr sz="1200" b="0"><a:solidFill><a:srgbClr val="5A6B7D"/></a:solidFill><a:latin typeface="Segoe UI"/></a:rPr><a:t>→  Report performance to leadership</a:t></a:r></a:p></p:txBody></p:sp><p:sp><p:nvSpPr><p:cNvPr id="13" name="smDuty2"/><p:cNvSpPr txBox="1"/><p:nvPr/></p:nvSpPr><p:spPr><a:xfrm><a:off x="822960" y="4663440"/><a:ext cx="3200400" cy="457200"/></a:xfrm><a:prstGeom prst="rect"><a:avLst/></a:prstGeom><a:noFill/></p:spPr><p:txBody><a:bodyPr wrap="square"><a:spAutoFit/></a:bodyPr><a:lstStyle/><a:p><a:pPr algn="l"/><a:r><a:rPr sz="1200" b="0"><a:solidFill><a:srgbClr val="5A6B7D"/></a:solidFill><a:latin typeface="Segoe UI"/></a:rPr><a:t>→  Promote safety awareness</a:t></a:r></a:p></p:txBody></p:sp><p:sp><p:nvSpPr><p:cNvPr id="14" name="smDuty3"/><p:cNvSpPr txBox="1"/><p:nvPr/></p:nvSpPr><p:spPr><a:xfrm><a:off x="822960" y="5166360"/><a:ext cx="3200400" cy="457200"/></a:xfrm><a:prstGeom prst="rect"><a:avLst/></a:prstGeom><a:noFill/></p:spPr><p:txBody><a:bodyPr wrap="square"><a:spAutoFit/></a:bodyPr><a:lstStyle/><a:p><a:pPr algn="l"/><a:r><a:rPr sz="1200" b="0"><a:solidFill><a:srgbClr val="5A6B7D"/></a:solidFill><a:latin typeface="Segoe UI"/></a:rPr><a:t>→  Define &amp; communicate authorities</a:t></a:r></a:p></p:txBody></p:sp><p:sp><p:nvSpPr><p:cNvPr id="15" name="metricCard0"/><p:cNvSpPr/><p:nvPr/></p:nvSpPr><p:spPr><a:xfrm><a:off x="4572000" y="2743200"/><a:ext cx="2286000" cy="347472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6" name="metricCirc0"/><p:cNvSpPr/><p:nvPr/></p:nvSpPr><p:spPr><a:xfrm><a:off x="5166360" y="3200400"/><a:ext cx="1097280" cy="1097280"/></a:xfrm><a:prstGeom prst="ellipse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7" name="metricVal0"/><p:cNvSpPr txBox="1"/><p:nvPr/></p:nvSpPr><p:spPr><a:xfrm><a:off x="5166360" y="3474720"/><a:ext cx="1097280" cy="548640"/></a:xfrm><a:prstGeom prst="rect"><a:avLst/></a:prstGeom><a:noFill/></p:spPr><p:txBody><a:bodyPr wrap="square"><a:spAutoFit/></a:bodyPr><a:lstStyle/><a:p><a:pPr algn="ctr"/><a:r><a:rPr sz="1800" b="1"><a:solidFill><a:srgbClr val="FFFFFF"/></a:solidFill><a:latin typeface="Segoe UI"/></a:rPr><a:t>100%</a:t></a:r></a:p></p:txBody></p:sp><p:sp><p:nvSpPr><p:cNvPr id="18" name="metricLabel0"/><p:cNvSpPr txBox="1"/><p:nvPr/></p:nvSpPr><p:spPr><a:xfrm><a:off x="4754880" y="4663440"/><a:ext cx="1920240" cy="914400"/></a:xfrm><a:prstGeom prst="rect"><a:avLst/></a:prstGeom><a:noFill/></p:spPr><p:txBody><a:bodyPr wrap="square"><a:spAutoFit/></a:bodyPr><a:lstStyle/><a:p><a:pPr algn="ctr"/><a:r><a:rPr sz="1400" b="1"><a:solidFill><a:srgbClr val="0B1F3A"/></a:solidFill><a:latin typeface="Segoe UI"/></a:rPr><a:t>Resource
Commitment</a:t></a:r></a:p></p:txBody></p:sp><p:sp><p:nvSpPr><p:cNvPr id="19" name="metricCard1"/><p:cNvSpPr/><p:nvPr/></p:nvSpPr><p:spPr><a:xfrm><a:off x="7040880" y="2743200"/><a:ext cx="2286000" cy="347472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0" name="metricCirc1"/><p:cNvSpPr/><p:nvPr/></p:nvSpPr><p:spPr><a:xfrm><a:off x="7635240" y="3200400"/><a:ext cx="1097280" cy="1097280"/></a:xfrm><a:prstGeom prst="ellipse"><a:avLst/></a:prstGeom><a:solidFill><a:srgbClr val="1AB3A6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1" name="metricVal1"/><p:cNvSpPr txBox="1"/><p:nvPr/></p:nvSpPr><p:spPr><a:xfrm><a:off x="7635240" y="3474720"/><a:ext cx="1097280" cy="548640"/></a:xfrm><a:prstGeom prst="rect"><a:avLst/></a:prstGeom><a:noFill/></p:spPr><p:txBody><a:bodyPr wrap="square"><a:spAutoFit/></a:bodyPr><a:lstStyle/><a:p><a:pPr algn="ctr"/><a:r><a:rPr sz="1800" b="1"><a:solidFill><a:srgbClr val="FFFFFF"/></a:solidFill><a:latin typeface="Segoe UI"/></a:rPr><a:t>1</a:t></a:r></a:p></p:txBody></p:sp><p:sp><p:nvSpPr><p:cNvPr id="22" name="metricLabel1"/><p:cNvSpPr txBox="1"/><p:nvPr/></p:nvSpPr><p:spPr><a:xfrm><a:off x="7223760" y="4663440"/><a:ext cx="1920240" cy="914400"/></a:xfrm><a:prstGeom prst="rect"><a:avLst/></a:prstGeom><a:noFill/></p:spPr><p:txBody><a:bodyPr wrap="square"><a:spAutoFit/></a:bodyPr><a:lstStyle/><a:p><a:pPr algn="ctr"/><a:r><a:rPr sz="1400" b="1"><a:solidFill><a:srgbClr val="0B1F3A"/></a:solidFill><a:latin typeface="Segoe UI"/></a:rPr><a:t>Appointed
Safety Lead</a:t></a:r></a:p></p:txBody></p:sp><p:sp><p:nvSpPr><p:cNvPr id="23" name="metricCard2"/><p:cNvSpPr/><p:nvPr/></p:nvSpPr><p:spPr><a:xfrm><a:off x="9509760" y="2743200"/><a:ext cx="2286000" cy="347472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4" name="metricCirc2"/><p:cNvSpPr/><p:nvPr/></p:nvSpPr><p:spPr><a:xfrm><a:off x="10104120" y="3200400"/><a:ext cx="1097280" cy="1097280"/></a:xfrm><a:prstGeom prst="ellipse"><a:avLst/></a:prstGeom><a:solidFill><a:srgbClr val="2E86DE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5" name="metricVal2"/><p:cNvSpPr txBox="1"/><p:nvPr/></p:nvSpPr><p:spPr><a:xfrm><a:off x="10104120" y="3474720"/><a:ext cx="1097280" cy="548640"/></a:xfrm><a:prstGeom prst="rect"><a:avLst/></a:prstGeom><a:noFill/></p:spPr><p:txBody><a:bodyPr wrap="square"><a:spAutoFit/></a:bodyPr><a:lstStyle/><a:p><a:pPr algn="ctr"/><a:r><a:rPr sz="1800" b="1"><a:solidFill><a:srgbClr val="FFFFFF"/></a:solidFill><a:latin typeface="Segoe UI"/></a:rPr><a:t>All</a:t></a:r></a:p></p:txBody></p:sp><p:sp><p:nvSpPr><p:cNvPr id="26" name="metricLabel2"/><p:cNvSpPr txBox="1"/><p:nvPr/></p:nvSpPr><p:spPr><a:xfrm><a:off x="9692640" y="4663440"/><a:ext cx="1920240" cy="914400"/></a:xfrm><a:prstGeom prst="rect"><a:avLst/></a:prstGeom><a:noFill/></p:spPr><p:txBody><a:bodyPr wrap="square"><a:spAutoFit/></a:bodyPr><a:lstStyle/><a:p><a:pPr algn="ctr"/><a:r><a:rPr sz="1400" b="1"><a:solidFill><a:srgbClr val="0B1F3A"/></a:solidFill><a:latin typeface="Segoe UI"/></a:rPr><a:t>Roles
Documented</a:t></a:r></a:p></p:txBody></p:sp></p:spTree></p:cSld><p:clrMapOvr><a:masterClrMapping/></p:clrMapOvr><ns0:AlternateContent xmlns:ns0="http://schemas.openxmlformats.org/markup-compatibility/2006"><ns0:Choice Requires="p14"><p:transition spd="med"><ns1:morph xmlns:ns1="http://schemas.microsoft.com/office/powerpoint/2010/main" option="byObject"/></p:transition></ns0:Choice><ns0:Fallback><p:transition spd="med"><p:fade/></p:transition></ns0:Fallback></ns0:AlternateContent></p:sld>
</file>

<file path=ppt/slides/slide9.xml><?xml version='1.0' encoding='UTF-8' standalone='yes'?>
<p:sld xmlns:a="http://schemas.openxmlformats.org/drawingml/2006/main" xmlns:p="http://schemas.openxmlformats.org/presentationml/2006/main" xmlns:r="http://schemas.openxmlformats.org/officeDocument/2006/relationships" xmlns:ns2="http://www.w3.org/2000/xmlns/" ns2:p14="http://schemas.microsoft.com/office/powerpoint/2010/main" ns2:mc="http://schemas.openxmlformats.org/markup-compatibility/2006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Rectangle 2"/><p:cNvSpPr/><p:nvPr/></p:nvSpPr><p:spPr><a:xfrm><a:off x="0" y="0"/><a:ext cx="109728" cy="685800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" name="sectionLabel"/><p:cNvSpPr txBox="1"/><p:nvPr/></p:nvSpPr><p:spPr><a:xfrm><a:off x="640080" y="320040"/><a:ext cx="5486400" cy="320040"/></a:xfrm><a:prstGeom prst="rect"><a:avLst/></a:prstGeom><a:noFill/></p:spPr><p:txBody><a:bodyPr wrap="square"><a:spAutoFit/></a:bodyPr><a:lstStyle/><a:p><a:pPr algn="l"/><a:r><a:rPr sz="1100" b="1"><a:solidFill><a:srgbClr val="E8B923"/></a:solidFill><a:latin typeface="Segoe UI"/></a:rPr><a:t>READINESS</a:t></a:r></a:p></p:txBody></p:sp><p:sp><p:nvSpPr><p:cNvPr id="5" name="slideTitle"/><p:cNvSpPr txBox="1"/><p:nvPr/></p:nvSpPr><p:spPr><a:xfrm><a:off x="640080" y="594360"/><a:ext cx="10515600" cy="640080"/></a:xfrm><a:prstGeom prst="rect"><a:avLst/></a:prstGeom><a:noFill/></p:spPr><p:txBody><a:bodyPr wrap="square"><a:spAutoFit/></a:bodyPr><a:lstStyle/><a:p><a:pPr algn="l"/><a:r><a:rPr sz="3200" b="1"><a:solidFill><a:srgbClr val="0B1F3A"/></a:solidFill><a:latin typeface="Segoe UI Semibold"/></a:rPr><a:t>Emergency Response Plan</a:t></a:r></a:p></p:txBody></p:sp><p:sp><p:nvSpPr><p:cNvPr id="6" name="erpDef"/><p:cNvSpPr/><p:nvPr/></p:nvSpPr><p:spPr><a:xfrm><a:off x="548640" y="1463040"/><a:ext cx="11064240" cy="1097280"/></a:xfrm><a:prstGeom prst="roundRect"><a:avLst/></a:prstGeom><a:solidFill><a:srgbClr val="0B1F3A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7" name="erpDefText"/><p:cNvSpPr txBox="1"/><p:nvPr/></p:nvSpPr><p:spPr><a:xfrm><a:off x="822960" y="1691640"/><a:ext cx="10515600" cy="731520"/></a:xfrm><a:prstGeom prst="rect"><a:avLst/></a:prstGeom><a:noFill/></p:spPr><p:txBody><a:bodyPr wrap="square"><a:spAutoFit/></a:bodyPr><a:lstStyle/><a:p><a:pPr algn="ctr"/><a:r><a:rPr sz="1600" b="0"><a:solidFill><a:srgbClr val="FFFFFF"/></a:solidFill><a:latin typeface="Segoe UI"/></a:rPr><a:t>A written outline of actions during &amp; after an emergency — who does what, when.</a:t></a:r></a:p></p:txBody></p:sp><p:sp><p:nvSpPr><p:cNvPr id="8" name="erpPhase0"/><p:cNvSpPr/><p:nvPr/></p:nvSpPr><p:spPr><a:xfrm><a:off x="548640" y="2926080"/><a:ext cx="3566160" cy="219456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9" name="erpBar0"/><p:cNvSpPr/><p:nvPr/></p:nvSpPr><p:spPr><a:xfrm><a:off x="548640" y="2926080"/><a:ext cx="3566160" cy="109728"/></a:xfrm><a:prstGeom prst="rect"><a:avLst/></a:prstGeom><a:solidFill><a:srgbClr val="1AB3A6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0" name="erpPhaseLabel0"/><p:cNvSpPr txBox="1"/><p:nvPr/></p:nvSpPr><p:spPr><a:xfrm><a:off x="822960" y="3200400"/><a:ext cx="3017520" cy="320040"/></a:xfrm><a:prstGeom prst="rect"><a:avLst/></a:prstGeom><a:noFill/></p:spPr><p:txBody><a:bodyPr wrap="square"><a:spAutoFit/></a:bodyPr><a:lstStyle/><a:p><a:pPr algn="l"/><a:r><a:rPr sz="1200" b="1"><a:solidFill><a:srgbClr val="1AB3A6"/></a:solidFill><a:latin typeface="Segoe UI"/></a:rPr><a:t>BEFORE</a:t></a:r></a:p></p:txBody></p:sp><p:sp><p:nvSpPr><p:cNvPr id="11" name="erpTitle0"/><p:cNvSpPr txBox="1"/><p:nvPr/></p:nvSpPr><p:spPr><a:xfrm><a:off x="822960" y="3611880"/><a:ext cx="3017520" cy="411480"/></a:xfrm><a:prstGeom prst="rect"><a:avLst/></a:prstGeom><a:noFill/></p:spPr><p:txBody><a:bodyPr wrap="square"><a:spAutoFit/></a:bodyPr><a:lstStyle/><a:p><a:pPr algn="l"/><a:r><a:rPr sz="2200" b="1"><a:solidFill><a:srgbClr val="0B1F3A"/></a:solidFill><a:latin typeface="Segoe UI"/></a:rPr><a:t>Prepare</a:t></a:r></a:p></p:txBody></p:sp><p:sp><p:nvSpPr><p:cNvPr id="12" name="erpDesc0"/><p:cNvSpPr txBox="1"/><p:nvPr/></p:nvSpPr><p:spPr><a:xfrm><a:off x="822960" y="4206240"/><a:ext cx="3017520" cy="548640"/></a:xfrm><a:prstGeom prst="rect"><a:avLst/></a:prstGeom><a:noFill/></p:spPr><p:txBody><a:bodyPr wrap="square"><a:spAutoFit/></a:bodyPr><a:lstStyle/><a:p><a:pPr algn="l"/><a:r><a:rPr sz="1300" b="0"><a:solidFill><a:srgbClr val="5A6B7D"/></a:solidFill><a:latin typeface="Segoe UI"/></a:rPr><a:t>Train · Drill · Stage resources</a:t></a:r></a:p></p:txBody></p:sp><p:sp><p:nvSpPr><p:cNvPr id="13" name="erpPhase1"/><p:cNvSpPr/><p:nvPr/></p:nvSpPr><p:spPr><a:xfrm><a:off x="4389120" y="2926080"/><a:ext cx="3566160" cy="219456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4" name="erpBar1"/><p:cNvSpPr/><p:nvPr/></p:nvSpPr><p:spPr><a:xfrm><a:off x="4389120" y="2926080"/><a:ext cx="3566160" cy="109728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5" name="erpPhaseLabel1"/><p:cNvSpPr txBox="1"/><p:nvPr/></p:nvSpPr><p:spPr><a:xfrm><a:off x="4663440" y="3200400"/><a:ext cx="3017520" cy="320040"/></a:xfrm><a:prstGeom prst="rect"><a:avLst/></a:prstGeom><a:noFill/></p:spPr><p:txBody><a:bodyPr wrap="square"><a:spAutoFit/></a:bodyPr><a:lstStyle/><a:p><a:pPr algn="l"/><a:r><a:rPr sz="1200" b="1"><a:solidFill><a:srgbClr val="E8B923"/></a:solidFill><a:latin typeface="Segoe UI"/></a:rPr><a:t>DURING</a:t></a:r></a:p></p:txBody></p:sp><p:sp><p:nvSpPr><p:cNvPr id="16" name="erpTitle1"/><p:cNvSpPr txBox="1"/><p:nvPr/></p:nvSpPr><p:spPr><a:xfrm><a:off x="4663440" y="3611880"/><a:ext cx="3017520" cy="411480"/></a:xfrm><a:prstGeom prst="rect"><a:avLst/></a:prstGeom><a:noFill/></p:spPr><p:txBody><a:bodyPr wrap="square"><a:spAutoFit/></a:bodyPr><a:lstStyle/><a:p><a:pPr algn="l"/><a:r><a:rPr sz="2200" b="1"><a:solidFill><a:srgbClr val="0B1F3A"/></a:solidFill><a:latin typeface="Segoe UI"/></a:rPr><a:t>Respond</a:t></a:r></a:p></p:txBody></p:sp><p:sp><p:nvSpPr><p:cNvPr id="17" name="erpDesc1"/><p:cNvSpPr txBox="1"/><p:nvPr/></p:nvSpPr><p:spPr><a:xfrm><a:off x="4663440" y="4206240"/><a:ext cx="3017520" cy="548640"/></a:xfrm><a:prstGeom prst="rect"><a:avLst/></a:prstGeom><a:noFill/></p:spPr><p:txBody><a:bodyPr wrap="square"><a:spAutoFit/></a:bodyPr><a:lstStyle/><a:p><a:pPr algn="l"/><a:r><a:rPr sz="1300" b="0"><a:solidFill><a:srgbClr val="5A6B7D"/></a:solidFill><a:latin typeface="Segoe UI"/></a:rPr><a:t>Clear roles · Rapid action</a:t></a:r></a:p></p:txBody></p:sp><p:sp><p:nvSpPr><p:cNvPr id="18" name="erpPhase2"/><p:cNvSpPr/><p:nvPr/></p:nvSpPr><p:spPr><a:xfrm><a:off x="8229600" y="2926080"/><a:ext cx="3566160" cy="219456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9" name="erpBar2"/><p:cNvSpPr/><p:nvPr/></p:nvSpPr><p:spPr><a:xfrm><a:off x="8229600" y="2926080"/><a:ext cx="3566160" cy="109728"/></a:xfrm><a:prstGeom prst="rect"><a:avLst/></a:prstGeom><a:solidFill><a:srgbClr val="E67E2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0" name="erpPhaseLabel2"/><p:cNvSpPr txBox="1"/><p:nvPr/></p:nvSpPr><p:spPr><a:xfrm><a:off x="8503920" y="3200400"/><a:ext cx="3017520" cy="320040"/></a:xfrm><a:prstGeom prst="rect"><a:avLst/></a:prstGeom><a:noFill/></p:spPr><p:txBody><a:bodyPr wrap="square"><a:spAutoFit/></a:bodyPr><a:lstStyle/><a:p><a:pPr algn="l"/><a:r><a:rPr sz="1200" b="1"><a:solidFill><a:srgbClr val="E67E22"/></a:solidFill><a:latin typeface="Segoe UI"/></a:rPr><a:t>AFTER</a:t></a:r></a:p></p:txBody></p:sp><p:sp><p:nvSpPr><p:cNvPr id="21" name="erpTitle2"/><p:cNvSpPr txBox="1"/><p:nvPr/></p:nvSpPr><p:spPr><a:xfrm><a:off x="8503920" y="3611880"/><a:ext cx="3017520" cy="411480"/></a:xfrm><a:prstGeom prst="rect"><a:avLst/></a:prstGeom><a:noFill/></p:spPr><p:txBody><a:bodyPr wrap="square"><a:spAutoFit/></a:bodyPr><a:lstStyle/><a:p><a:pPr algn="l"/><a:r><a:rPr sz="2200" b="1"><a:solidFill><a:srgbClr val="0B1F3A"/></a:solidFill><a:latin typeface="Segoe UI"/></a:rPr><a:t>Recover</a:t></a:r></a:p></p:txBody></p:sp><p:sp><p:nvSpPr><p:cNvPr id="22" name="erpDesc2"/><p:cNvSpPr txBox="1"/><p:nvPr/></p:nvSpPr><p:spPr><a:xfrm><a:off x="8503920" y="4206240"/><a:ext cx="3017520" cy="548640"/></a:xfrm><a:prstGeom prst="rect"><a:avLst/></a:prstGeom><a:noFill/></p:spPr><p:txBody><a:bodyPr wrap="square"><a:spAutoFit/></a:bodyPr><a:lstStyle/><a:p><a:pPr algn="l"/><a:r><a:rPr sz="1300" b="0"><a:solidFill><a:srgbClr val="5A6B7D"/></a:solidFill><a:latin typeface="Segoe UI"/></a:rPr><a:t>Care · Secure · Learn</a:t></a:r></a:p></p:txBody></p:sp><p:sp><p:nvSpPr><p:cNvPr id="23" name="erpFooter"/><p:cNvSpPr txBox="1"/><p:nvPr/></p:nvSpPr><p:spPr><a:xfrm><a:off x="548640" y="5486400"/><a:ext cx="11064240" cy="822960"/></a:xfrm><a:prstGeom prst="rect"><a:avLst/></a:prstGeom><a:noFill/></p:spPr><p:txBody><a:bodyPr wrap="square"><a:spAutoFit/></a:bodyPr><a:lstStyle/><a:p><a:pPr algn="l"/><a:r><a:rPr sz="1200" b="1"><a:solidFill><a:srgbClr val="E8B923"/></a:solidFill><a:latin typeface="Segoe UI"/></a:rPr><a:t>GOAL</a:t></a:r></a:p><a:p><a:pPr algn="l"><a:spcBef><a:spcPts val="400"/></a:spcBef><a:spcAft><a:spcPts val="0"/></a:spcAft></a:pPr><a:r><a:rPr sz="1400" b="0"><a:solidFill><a:srgbClr val="0B1F3A"/></a:solidFill><a:latin typeface="Segoe UI"/></a:rPr><a:t>Better preparation → fewer injuries · less damage to people, equipment &amp; environment</a:t></a:r></a:p></p:txBody></p:sp></p:spTree></p:cSld><p:clrMapOvr><a:masterClrMapping/></p:clrMapOvr><ns0:AlternateContent xmlns:ns0="http://schemas.openxmlformats.org/markup-compatibility/2006"><ns0:Choice Requires="p14"><p:transition spd="med"><ns1:morph xmlns:ns1="http://schemas.microsoft.com/office/powerpoint/2010/main" option="byObject"/></p:transition></ns0:Choice><ns0:Fallback><p:transition spd="med"><p:fade/></p:transition></ns0:Fallback></ns0:AlternateContent></p:sld>
</file>

<file path=ppt/slides/slide10.xml><?xml version='1.0' encoding='UTF-8' standalone='yes'?>
<p:sld xmlns:a="http://schemas.openxmlformats.org/drawingml/2006/main" xmlns:p="http://schemas.openxmlformats.org/presentationml/2006/main" xmlns:r="http://schemas.openxmlformats.org/officeDocument/2006/relationships" xmlns:ns2="http://www.w3.org/2000/xmlns/" ns2:p14="http://schemas.microsoft.com/office/powerpoint/2010/main" ns2:mc="http://schemas.openxmlformats.org/markup-compatibility/2006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Rectangle 2"/><p:cNvSpPr/><p:nvPr/></p:nvSpPr><p:spPr><a:xfrm><a:off x="0" y="0"/><a:ext cx="109728" cy="685800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" name="sectionLabel"/><p:cNvSpPr txBox="1"/><p:nvPr/></p:nvSpPr><p:spPr><a:xfrm><a:off x="640080" y="320040"/><a:ext cx="5486400" cy="320040"/></a:xfrm><a:prstGeom prst="rect"><a:avLst/></a:prstGeom><a:noFill/></p:spPr><p:txBody><a:bodyPr wrap="square"><a:spAutoFit/></a:bodyPr><a:lstStyle/><a:p><a:pPr algn="l"/><a:r><a:rPr sz="1100" b="1"><a:solidFill><a:srgbClr val="E8B923"/></a:solidFill><a:latin typeface="Segoe UI"/></a:rPr><a:t>GOVERNANCE</a:t></a:r></a:p></p:txBody></p:sp><p:sp><p:nvSpPr><p:cNvPr id="5" name="slideTitle"/><p:cNvSpPr txBox="1"/><p:nvPr/></p:nvSpPr><p:spPr><a:xfrm><a:off x="640080" y="594360"/><a:ext cx="10515600" cy="640080"/></a:xfrm><a:prstGeom prst="rect"><a:avLst/></a:prstGeom><a:noFill/></p:spPr><p:txBody><a:bodyPr wrap="square"><a:spAutoFit/></a:bodyPr><a:lstStyle/><a:p><a:pPr algn="l"/><a:r><a:rPr sz="3200" b="1"><a:solidFill><a:srgbClr val="0B1F3A"/></a:solidFill><a:latin typeface="Segoe UI Semibold"/></a:rPr><a:t>SMS Documentation</a:t></a:r></a:p></p:txBody></p:sp><p:sp><p:nvSpPr><p:cNvPr id="6" name="docSub"/><p:cNvSpPr txBox="1"/><p:nvPr/></p:nvSpPr><p:spPr><a:xfrm><a:off x="640080" y="1325880"/><a:ext cx="10058400" cy="365760"/></a:xfrm><a:prstGeom prst="rect"><a:avLst/></a:prstGeom><a:noFill/></p:spPr><p:txBody><a:bodyPr wrap="square"><a:spAutoFit/></a:bodyPr><a:lstStyle/><a:p><a:pPr algn="l"/><a:r><a:rPr sz="1400" b="0"><a:solidFill><a:srgbClr val="5A6B7D"/></a:solidFill><a:latin typeface="Segoe UI"/></a:rPr><a:t>Policies, objectives &amp; procedures — paper or electronic — clearly defined.</a:t></a:r></a:p></p:txBody></p:sp><p:sp><p:nvSpPr><p:cNvPr id="7" name="docCard0"/><p:cNvSpPr/><p:nvPr/></p:nvSpPr><p:spPr><a:xfrm><a:off x="457200" y="2011680"/><a:ext cx="2148840" cy="320040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8" name="docCirc0"/><p:cNvSpPr/><p:nvPr/></p:nvSpPr><p:spPr><a:xfrm><a:off x="1005840" y="2377440"/><a:ext cx="1051560" cy="1051560"/></a:xfrm><a:prstGeom prst="ellipse"><a:avLst/></a:prstGeom><a:solidFill><a:srgbClr val="0B1F3A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9" name="docNum0"/><p:cNvSpPr txBox="1"/><p:nvPr/></p:nvSpPr><p:spPr><a:xfrm><a:off x="1005840" y="2651760"/><a:ext cx="1051560" cy="502920"/></a:xfrm><a:prstGeom prst="rect"><a:avLst/></a:prstGeom><a:noFill/></p:spPr><p:txBody><a:bodyPr wrap="square"><a:spAutoFit/></a:bodyPr><a:lstStyle/><a:p><a:pPr algn="ctr"/><a:r><a:rPr sz="1800" b="1"><a:solidFill><a:srgbClr val="FFFFFF"/></a:solidFill><a:latin typeface="Segoe UI"/></a:rPr><a:t>01</a:t></a:r></a:p></p:txBody></p:sp><p:sp><p:nvSpPr><p:cNvPr id="10" name="docTitle0"/><p:cNvSpPr txBox="1"/><p:nvPr/></p:nvSpPr><p:spPr><a:xfrm><a:off x="594360" y="3749039"/><a:ext cx="1874519" cy="411480"/></a:xfrm><a:prstGeom prst="rect"><a:avLst/></a:prstGeom><a:noFill/></p:spPr><p:txBody><a:bodyPr wrap="square"><a:spAutoFit/></a:bodyPr><a:lstStyle/><a:p><a:pPr algn="ctr"/><a:r><a:rPr sz="1600" b="1"><a:solidFill><a:srgbClr val="0B1F3A"/></a:solidFill><a:latin typeface="Segoe UI"/></a:rPr><a:t>Orderly</a:t></a:r></a:p></p:txBody></p:sp><p:sp><p:nvSpPr><p:cNvPr id="11" name="docDesc0"/><p:cNvSpPr txBox="1"/><p:nvPr/></p:nvSpPr><p:spPr><a:xfrm><a:off x="594360" y="4206240"/><a:ext cx="1874519" cy="731520"/></a:xfrm><a:prstGeom prst="rect"><a:avLst/></a:prstGeom><a:noFill/></p:spPr><p:txBody><a:bodyPr wrap="square"><a:spAutoFit/></a:bodyPr><a:lstStyle/><a:p><a:pPr algn="ctr"/><a:r><a:rPr sz="1200" b="0"><a:solidFill><a:srgbClr val="5A6B7D"/></a:solidFill><a:latin typeface="Segoe UI"/></a:rPr><a:t>Maintained in a structured system</a:t></a:r></a:p></p:txBody></p:sp><p:sp><p:nvSpPr><p:cNvPr id="12" name="docCard1"/><p:cNvSpPr/><p:nvPr/></p:nvSpPr><p:spPr><a:xfrm><a:off x="2743200" y="2011680"/><a:ext cx="2148840" cy="320040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3" name="docCirc1"/><p:cNvSpPr/><p:nvPr/></p:nvSpPr><p:spPr><a:xfrm><a:off x="3291840" y="2377440"/><a:ext cx="1051560" cy="1051560"/></a:xfrm><a:prstGeom prst="ellipse"><a:avLst/></a:prstGeom><a:solidFill><a:srgbClr val="1AB3A6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4" name="docNum1"/><p:cNvSpPr txBox="1"/><p:nvPr/></p:nvSpPr><p:spPr><a:xfrm><a:off x="3291840" y="2651760"/><a:ext cx="1051560" cy="502920"/></a:xfrm><a:prstGeom prst="rect"><a:avLst/></a:prstGeom><a:noFill/></p:spPr><p:txBody><a:bodyPr wrap="square"><a:spAutoFit/></a:bodyPr><a:lstStyle/><a:p><a:pPr algn="ctr"/><a:r><a:rPr sz="1800" b="1"><a:solidFill><a:srgbClr val="FFFFFF"/></a:solidFill><a:latin typeface="Segoe UI"/></a:rPr><a:t>02</a:t></a:r></a:p></p:txBody></p:sp><p:sp><p:nvSpPr><p:cNvPr id="15" name="docTitle1"/><p:cNvSpPr txBox="1"/><p:nvPr/></p:nvSpPr><p:spPr><a:xfrm><a:off x="2880360" y="3749039"/><a:ext cx="1874519" cy="411480"/></a:xfrm><a:prstGeom prst="rect"><a:avLst/></a:prstGeom><a:noFill/></p:spPr><p:txBody><a:bodyPr wrap="square"><a:spAutoFit/></a:bodyPr><a:lstStyle/><a:p><a:pPr algn="ctr"/><a:r><a:rPr sz="1600" b="1"><a:solidFill><a:srgbClr val="0B1F3A"/></a:solidFill><a:latin typeface="Segoe UI"/></a:rPr><a:t>Identifiable</a:t></a:r></a:p></p:txBody></p:sp><p:sp><p:nvSpPr><p:cNvPr id="16" name="docDesc1"/><p:cNvSpPr txBox="1"/><p:nvPr/></p:nvSpPr><p:spPr><a:xfrm><a:off x="2880360" y="4206240"/><a:ext cx="1874519" cy="731520"/></a:xfrm><a:prstGeom prst="rect"><a:avLst/></a:prstGeom><a:noFill/></p:spPr><p:txBody><a:bodyPr wrap="square"><a:spAutoFit/></a:bodyPr><a:lstStyle/><a:p><a:pPr algn="ctr"/><a:r><a:rPr sz="1200" b="0"><a:solidFill><a:srgbClr val="5A6B7D"/></a:solidFill><a:latin typeface="Segoe UI"/></a:rPr><a:t>Easy to find and recognize</a:t></a:r></a:p></p:txBody></p:sp><p:sp><p:nvSpPr><p:cNvPr id="17" name="docCard2"/><p:cNvSpPr/><p:nvPr/></p:nvSpPr><p:spPr><a:xfrm><a:off x="5029200" y="2011680"/><a:ext cx="2148840" cy="320040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8" name="docCirc2"/><p:cNvSpPr/><p:nvPr/></p:nvSpPr><p:spPr><a:xfrm><a:off x="5577840" y="2377440"/><a:ext cx="1051560" cy="1051560"/></a:xfrm><a:prstGeom prst="ellipse"><a:avLst/></a:prstGeom><a:solidFill><a:srgbClr val="0B1F3A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9" name="docNum2"/><p:cNvSpPr txBox="1"/><p:nvPr/></p:nvSpPr><p:spPr><a:xfrm><a:off x="5577840" y="2651760"/><a:ext cx="1051560" cy="502920"/></a:xfrm><a:prstGeom prst="rect"><a:avLst/></a:prstGeom><a:noFill/></p:spPr><p:txBody><a:bodyPr wrap="square"><a:spAutoFit/></a:bodyPr><a:lstStyle/><a:p><a:pPr algn="ctr"/><a:r><a:rPr sz="1800" b="1"><a:solidFill><a:srgbClr val="FFFFFF"/></a:solidFill><a:latin typeface="Segoe UI"/></a:rPr><a:t>03</a:t></a:r></a:p></p:txBody></p:sp><p:sp><p:nvSpPr><p:cNvPr id="20" name="docTitle2"/><p:cNvSpPr txBox="1"/><p:nvPr/></p:nvSpPr><p:spPr><a:xfrm><a:off x="5166360" y="3749039"/><a:ext cx="1874519" cy="411480"/></a:xfrm><a:prstGeom prst="rect"><a:avLst/></a:prstGeom><a:noFill/></p:spPr><p:txBody><a:bodyPr wrap="square"><a:spAutoFit/></a:bodyPr><a:lstStyle/><a:p><a:pPr algn="ctr"/><a:r><a:rPr sz="1600" b="1"><a:solidFill><a:srgbClr val="0B1F3A"/></a:solidFill><a:latin typeface="Segoe UI"/></a:rPr><a:t>Retrievable</a:t></a:r></a:p></p:txBody></p:sp><p:sp><p:nvSpPr><p:cNvPr id="21" name="docDesc2"/><p:cNvSpPr txBox="1"/><p:nvPr/></p:nvSpPr><p:spPr><a:xfrm><a:off x="5166360" y="4206240"/><a:ext cx="1874519" cy="731520"/></a:xfrm><a:prstGeom prst="rect"><a:avLst/></a:prstGeom><a:noFill/></p:spPr><p:txBody><a:bodyPr wrap="square"><a:spAutoFit/></a:bodyPr><a:lstStyle/><a:p><a:pPr algn="ctr"/><a:r><a:rPr sz="1200" b="0"><a:solidFill><a:srgbClr val="5A6B7D"/></a:solidFill><a:latin typeface="Segoe UI"/></a:rPr><a:t>Available when needed</a:t></a:r></a:p></p:txBody></p:sp><p:sp><p:nvSpPr><p:cNvPr id="22" name="docCard3"/><p:cNvSpPr/><p:nvPr/></p:nvSpPr><p:spPr><a:xfrm><a:off x="7315200" y="2011680"/><a:ext cx="2148840" cy="320040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3" name="docCirc3"/><p:cNvSpPr/><p:nvPr/></p:nvSpPr><p:spPr><a:xfrm><a:off x="7863840" y="2377440"/><a:ext cx="1051560" cy="1051560"/></a:xfrm><a:prstGeom prst="ellipse"><a:avLst/></a:prstGeom><a:solidFill><a:srgbClr val="1AB3A6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4" name="docNum3"/><p:cNvSpPr txBox="1"/><p:nvPr/></p:nvSpPr><p:spPr><a:xfrm><a:off x="7863840" y="2651760"/><a:ext cx="1051560" cy="502920"/></a:xfrm><a:prstGeom prst="rect"><a:avLst/></a:prstGeom><a:noFill/></p:spPr><p:txBody><a:bodyPr wrap="square"><a:spAutoFit/></a:bodyPr><a:lstStyle/><a:p><a:pPr algn="ctr"/><a:r><a:rPr sz="1800" b="1"><a:solidFill><a:srgbClr val="FFFFFF"/></a:solidFill><a:latin typeface="Segoe UI"/></a:rPr><a:t>04</a:t></a:r></a:p></p:txBody></p:sp><p:sp><p:nvSpPr><p:cNvPr id="25" name="docTitle3"/><p:cNvSpPr txBox="1"/><p:nvPr/></p:nvSpPr><p:spPr><a:xfrm><a:off x="7452360" y="3749039"/><a:ext cx="1874519" cy="411480"/></a:xfrm><a:prstGeom prst="rect"><a:avLst/></a:prstGeom><a:noFill/></p:spPr><p:txBody><a:bodyPr wrap="square"><a:spAutoFit/></a:bodyPr><a:lstStyle/><a:p><a:pPr algn="ctr"/><a:r><a:rPr sz="1600" b="1"><a:solidFill><a:srgbClr val="0B1F3A"/></a:solidFill><a:latin typeface="Segoe UI"/></a:rPr><a:t>Legible</a:t></a:r></a:p></p:txBody></p:sp><p:sp><p:nvSpPr><p:cNvPr id="26" name="docDesc3"/><p:cNvSpPr txBox="1"/><p:nvPr/></p:nvSpPr><p:spPr><a:xfrm><a:off x="7452360" y="4206240"/><a:ext cx="1874519" cy="731520"/></a:xfrm><a:prstGeom prst="rect"><a:avLst/></a:prstGeom><a:noFill/></p:spPr><p:txBody><a:bodyPr wrap="square"><a:spAutoFit/></a:bodyPr><a:lstStyle/><a:p><a:pPr algn="ctr"/><a:r><a:rPr sz="1200" b="0"><a:solidFill><a:srgbClr val="5A6B7D"/></a:solidFill><a:latin typeface="Segoe UI"/></a:rPr><a:t>Clear and usable</a:t></a:r></a:p></p:txBody></p:sp><p:sp><p:nvSpPr><p:cNvPr id="27" name="docCard4"/><p:cNvSpPr/><p:nvPr/></p:nvSpPr><p:spPr><a:xfrm><a:off x="9601200" y="2011680"/><a:ext cx="2148840" cy="320040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8" name="docCirc4"/><p:cNvSpPr/><p:nvPr/></p:nvSpPr><p:spPr><a:xfrm><a:off x="10149840" y="2377440"/><a:ext cx="1051560" cy="1051560"/></a:xfrm><a:prstGeom prst="ellipse"><a:avLst/></a:prstGeom><a:solidFill><a:srgbClr val="0B1F3A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9" name="docNum4"/><p:cNvSpPr txBox="1"/><p:nvPr/></p:nvSpPr><p:spPr><a:xfrm><a:off x="10149840" y="2651760"/><a:ext cx="1051560" cy="502920"/></a:xfrm><a:prstGeom prst="rect"><a:avLst/></a:prstGeom><a:noFill/></p:spPr><p:txBody><a:bodyPr wrap="square"><a:spAutoFit/></a:bodyPr><a:lstStyle/><a:p><a:pPr algn="ctr"/><a:r><a:rPr sz="1800" b="1"><a:solidFill><a:srgbClr val="FFFFFF"/></a:solidFill><a:latin typeface="Segoe UI"/></a:rPr><a:t>05</a:t></a:r></a:p></p:txBody></p:sp><p:sp><p:nvSpPr><p:cNvPr id="30" name="docTitle4"/><p:cNvSpPr txBox="1"/><p:nvPr/></p:nvSpPr><p:spPr><a:xfrm><a:off x="9738360" y="3749039"/><a:ext cx="1874519" cy="411480"/></a:xfrm><a:prstGeom prst="rect"><a:avLst/></a:prstGeom><a:noFill/></p:spPr><p:txBody><a:bodyPr wrap="square"><a:spAutoFit/></a:bodyPr><a:lstStyle/><a:p><a:pPr algn="ctr"/><a:r><a:rPr sz="1600" b="1"><a:solidFill><a:srgbClr val="0B1F3A"/></a:solidFill><a:latin typeface="Segoe UI"/></a:rPr><a:t>Dated</a:t></a:r></a:p></p:txBody></p:sp><p:sp><p:nvSpPr><p:cNvPr id="31" name="docDesc4"/><p:cNvSpPr txBox="1"/><p:nvPr/></p:nvSpPr><p:spPr><a:xfrm><a:off x="9738360" y="4206240"/><a:ext cx="1874519" cy="731520"/></a:xfrm><a:prstGeom prst="rect"><a:avLst/></a:prstGeom><a:noFill/></p:spPr><p:txBody><a:bodyPr wrap="square"><a:spAutoFit/></a:bodyPr><a:lstStyle/><a:p><a:pPr algn="ctr"/><a:r><a:rPr sz="1200" b="0"><a:solidFill><a:srgbClr val="5A6B7D"/></a:solidFill><a:latin typeface="Segoe UI"/></a:rPr><a:t>Revision date always visible</a:t></a:r></a:p></p:txBody></p:sp><p:sp><p:nvSpPr><p:cNvPr id="32" name="docFoot"/><p:cNvSpPr txBox="1"/><p:nvPr/></p:nvSpPr><p:spPr><a:xfrm><a:off x="640080" y="5669280"/><a:ext cx="10972800" cy="457200"/></a:xfrm><a:prstGeom prst="rect"><a:avLst/></a:prstGeom><a:noFill/></p:spPr><p:txBody><a:bodyPr wrap="square"><a:spAutoFit/></a:bodyPr><a:lstStyle/><a:p><a:pPr algn="ctr"/><a:r><a:rPr sz="1300" b="0"><a:solidFill><a:srgbClr val="5A6B7D"/></a:solidFill><a:latin typeface="Segoe UI"/></a:rPr><a:t>Retention period is defined by the organization — and enforced.</a:t></a:r></a:p></p:txBody></p:sp></p:spTree></p:cSld><p:clrMapOvr><a:masterClrMapping/></p:clrMapOvr><ns0:AlternateContent xmlns:ns0="http://schemas.openxmlformats.org/markup-compatibility/2006"><ns0:Choice Requires="p14"><p:transition spd="med"><ns1:morph xmlns:ns1="http://schemas.microsoft.com/office/powerpoint/2010/main" option="byObject"/></p:transition></ns0:Choice><ns0:Fallback><p:transition spd="med"><p:fade/></p:transition></ns0:Fallback></ns0:AlternateContent></p:sld>
</file>

<file path=ppt/slides/slide11.xml><?xml version='1.0' encoding='UTF-8' standalone='yes'?>
<p:sld xmlns:a="http://schemas.openxmlformats.org/drawingml/2006/main" xmlns:p="http://schemas.openxmlformats.org/presentationml/2006/main" xmlns:r="http://schemas.openxmlformats.org/officeDocument/2006/relationships" xmlns:ns2="http://www.w3.org/2000/xmlns/" ns2:p14="http://schemas.microsoft.com/office/powerpoint/2010/main" ns2:mc="http://schemas.openxmlformats.org/markup-compatibility/2006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Rectangle 2"/><p:cNvSpPr/><p:nvPr/></p:nvSpPr><p:spPr><a:xfrm><a:off x="0" y="0"/><a:ext cx="109728" cy="685800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" name="sectionLabel"/><p:cNvSpPr txBox="1"/><p:nvPr/></p:nvSpPr><p:spPr><a:xfrm><a:off x="640080" y="320040"/><a:ext cx="5486400" cy="320040"/></a:xfrm><a:prstGeom prst="rect"><a:avLst/></a:prstGeom><a:noFill/></p:spPr><p:txBody><a:bodyPr wrap="square"><a:spAutoFit/></a:bodyPr><a:lstStyle/><a:p><a:pPr algn="l"/><a:r><a:rPr sz="1100" b="1"><a:solidFill><a:srgbClr val="E8B923"/></a:solidFill><a:latin typeface="Segoe UI"/></a:rPr><a:t>COMPONENT 2</a:t></a:r></a:p></p:txBody></p:sp><p:sp><p:nvSpPr><p:cNvPr id="5" name="slideTitle"/><p:cNvSpPr txBox="1"/><p:nvPr/></p:nvSpPr><p:spPr><a:xfrm><a:off x="640080" y="594360"/><a:ext cx="10515600" cy="640080"/></a:xfrm><a:prstGeom prst="rect"><a:avLst/></a:prstGeom><a:noFill/></p:spPr><p:txBody><a:bodyPr wrap="square"><a:spAutoFit/></a:bodyPr><a:lstStyle/><a:p><a:pPr algn="l"/><a:r><a:rPr sz="3200" b="1"><a:solidFill><a:srgbClr val="0B1F3A"/></a:solidFill><a:latin typeface="Segoe UI Semibold"/></a:rPr><a:t>Safety Risk Management</a:t></a:r></a:p></p:txBody></p:sp><p:sp><p:nvSpPr><p:cNvPr id="6" name="riskCard0"/><p:cNvSpPr/><p:nvPr/></p:nvSpPr><p:spPr><a:xfrm><a:off x="548640" y="1645920"/><a:ext cx="3611880" cy="420624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7" name="riskHeader0"/><p:cNvSpPr/><p:nvPr/></p:nvSpPr><p:spPr><a:xfrm><a:off x="548640" y="1645920"/><a:ext cx="3611880" cy="1280160"/></a:xfrm><a:prstGeom prst="rect"><a:avLst/></a:prstGeom><a:solidFill><a:srgbClr val="E67E2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8" name="riskName0"/><p:cNvSpPr txBox="1"/><p:nvPr/></p:nvSpPr><p:spPr><a:xfrm><a:off x="777240" y="1874519"/><a:ext cx="3154680" cy="411480"/></a:xfrm><a:prstGeom prst="rect"><a:avLst/></a:prstGeom><a:noFill/></p:spPr><p:txBody><a:bodyPr wrap="square"><a:spAutoFit/></a:bodyPr><a:lstStyle/><a:p><a:pPr algn="ctr"/><a:r><a:rPr sz="1800" b="1"><a:solidFill><a:srgbClr val="FFFFFF"/></a:solidFill><a:latin typeface="Segoe UI"/></a:rPr><a:t>REACTIVE</a:t></a:r></a:p></p:txBody></p:sp><p:sp><p:nvSpPr><p:cNvPr id="9" name="riskTime0"/><p:cNvSpPr txBox="1"/><p:nvPr/></p:nvSpPr><p:spPr><a:xfrm><a:off x="777240" y="2331720"/><a:ext cx="3154680" cy="365760"/></a:xfrm><a:prstGeom prst="rect"><a:avLst/></a:prstGeom><a:noFill/></p:spPr><p:txBody><a:bodyPr wrap="square"><a:spAutoFit/></a:bodyPr><a:lstStyle/><a:p><a:pPr algn="ctr"/><a:r><a:rPr sz="1400" b="0"><a:solidFill><a:srgbClr val="FFFFFF"/></a:solidFill><a:latin typeface="Segoe UI"/></a:rPr><a:t>Past</a:t></a:r></a:p></p:txBody></p:sp><p:sp><p:nvSpPr><p:cNvPr id="10" name="riskDesc0"/><p:cNvSpPr txBox="1"/><p:nvPr/></p:nvSpPr><p:spPr><a:xfrm><a:off x="868680" y="3383280"/><a:ext cx="2971800" cy="1645920"/></a:xfrm><a:prstGeom prst="rect"><a:avLst/></a:prstGeom><a:noFill/></p:spPr><p:txBody><a:bodyPr wrap="square"><a:spAutoFit/></a:bodyPr><a:lstStyle/><a:p><a:pPr algn="ctr"/><a:r><a:rPr sz="1500" b="0"><a:solidFill><a:srgbClr val="0B1F3A"/></a:solidFill><a:latin typeface="Segoe UI"/></a:rPr><a:t>Responds to events that have already happened</a:t></a:r></a:p></p:txBody></p:sp><p:sp><p:nvSpPr><p:cNvPr id="11" name="riskDot0_0"/><p:cNvSpPr/><p:nvPr/></p:nvSpPr><p:spPr><a:xfrm><a:off x="1645920" y="5120640"/><a:ext cx="256032" cy="256032"/></a:xfrm><a:prstGeom prst="ellipse"><a:avLst/></a:prstGeom><a:solidFill><a:srgbClr val="E67E2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2" name="riskDot0_1"/><p:cNvSpPr/><p:nvPr/></p:nvSpPr><p:spPr><a:xfrm><a:off x="2148840" y="5120640"/><a:ext cx="256032" cy="256032"/></a:xfrm><a:prstGeom prst="ellipse"><a:avLst/></a:prstGeom><a:solidFill><a:srgbClr val="ECF0F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3" name="riskDot0_2"/><p:cNvSpPr/><p:nvPr/></p:nvSpPr><p:spPr><a:xfrm><a:off x="2651760" y="5120640"/><a:ext cx="256032" cy="256032"/></a:xfrm><a:prstGeom prst="ellipse"><a:avLst/></a:prstGeom><a:solidFill><a:srgbClr val="ECF0F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4" name="riskCard1"/><p:cNvSpPr/><p:nvPr/></p:nvSpPr><p:spPr><a:xfrm><a:off x="4389120" y="1645920"/><a:ext cx="3611880" cy="420624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5" name="riskHeader1"/><p:cNvSpPr/><p:nvPr/></p:nvSpPr><p:spPr><a:xfrm><a:off x="4389120" y="1645920"/><a:ext cx="3611880" cy="128016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6" name="riskName1"/><p:cNvSpPr txBox="1"/><p:nvPr/></p:nvSpPr><p:spPr><a:xfrm><a:off x="4617720" y="1874519"/><a:ext cx="3154680" cy="411480"/></a:xfrm><a:prstGeom prst="rect"><a:avLst/></a:prstGeom><a:noFill/></p:spPr><p:txBody><a:bodyPr wrap="square"><a:spAutoFit/></a:bodyPr><a:lstStyle/><a:p><a:pPr algn="ctr"/><a:r><a:rPr sz="1800" b="1"><a:solidFill><a:srgbClr val="FFFFFF"/></a:solidFill><a:latin typeface="Segoe UI"/></a:rPr><a:t>PROACTIVE</a:t></a:r></a:p></p:txBody></p:sp><p:sp><p:nvSpPr><p:cNvPr id="17" name="riskTime1"/><p:cNvSpPr txBox="1"/><p:nvPr/></p:nvSpPr><p:spPr><a:xfrm><a:off x="4617720" y="2331720"/><a:ext cx="3154680" cy="365760"/></a:xfrm><a:prstGeom prst="rect"><a:avLst/></a:prstGeom><a:noFill/></p:spPr><p:txBody><a:bodyPr wrap="square"><a:spAutoFit/></a:bodyPr><a:lstStyle/><a:p><a:pPr algn="ctr"/><a:r><a:rPr sz="1400" b="0"><a:solidFill><a:srgbClr val="FFFFFF"/></a:solidFill><a:latin typeface="Segoe UI"/></a:rPr><a:t>Present</a:t></a:r></a:p></p:txBody></p:sp><p:sp><p:nvSpPr><p:cNvPr id="18" name="riskDesc1"/><p:cNvSpPr txBox="1"/><p:nvPr/></p:nvSpPr><p:spPr><a:xfrm><a:off x="4709160" y="3383280"/><a:ext cx="2971800" cy="1645920"/></a:xfrm><a:prstGeom prst="rect"><a:avLst/></a:prstGeom><a:noFill/></p:spPr><p:txBody><a:bodyPr wrap="square"><a:spAutoFit/></a:bodyPr><a:lstStyle/><a:p><a:pPr algn="ctr"/><a:r><a:rPr sz="1500" b="0"><a:solidFill><a:srgbClr val="0B1F3A"/></a:solidFill><a:latin typeface="Segoe UI"/></a:rPr><a:t>Seeks hazards through analysis of processes</a:t></a:r></a:p></p:txBody></p:sp><p:sp><p:nvSpPr><p:cNvPr id="19" name="riskDot1_0"/><p:cNvSpPr/><p:nvPr/></p:nvSpPr><p:spPr><a:xfrm><a:off x="5486400" y="5120640"/><a:ext cx="256032" cy="256032"/></a:xfrm><a:prstGeom prst="ellipse"><a:avLst/></a:prstGeom><a:solidFill><a:srgbClr val="ECF0F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0" name="riskDot1_1"/><p:cNvSpPr/><p:nvPr/></p:nvSpPr><p:spPr><a:xfrm><a:off x="5989320" y="5120640"/><a:ext cx="256032" cy="256032"/></a:xfrm><a:prstGeom prst="ellipse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1" name="riskDot1_2"/><p:cNvSpPr/><p:nvPr/></p:nvSpPr><p:spPr><a:xfrm><a:off x="6492240" y="5120640"/><a:ext cx="256032" cy="256032"/></a:xfrm><a:prstGeom prst="ellipse"><a:avLst/></a:prstGeom><a:solidFill><a:srgbClr val="ECF0F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2" name="riskCard2"/><p:cNvSpPr/><p:nvPr/></p:nvSpPr><p:spPr><a:xfrm><a:off x="8229600" y="1645920"/><a:ext cx="3611880" cy="420624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3" name="riskHeader2"/><p:cNvSpPr/><p:nvPr/></p:nvSpPr><p:spPr><a:xfrm><a:off x="8229600" y="1645920"/><a:ext cx="3611880" cy="1280160"/></a:xfrm><a:prstGeom prst="rect"><a:avLst/></a:prstGeom><a:solidFill><a:srgbClr val="1AB3A6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4" name="riskName2"/><p:cNvSpPr txBox="1"/><p:nvPr/></p:nvSpPr><p:spPr><a:xfrm><a:off x="8458200" y="1874519"/><a:ext cx="3154680" cy="411480"/></a:xfrm><a:prstGeom prst="rect"><a:avLst/></a:prstGeom><a:noFill/></p:spPr><p:txBody><a:bodyPr wrap="square"><a:spAutoFit/></a:bodyPr><a:lstStyle/><a:p><a:pPr algn="ctr"/><a:r><a:rPr sz="1800" b="1"><a:solidFill><a:srgbClr val="FFFFFF"/></a:solidFill><a:latin typeface="Segoe UI"/></a:rPr><a:t>PREDICTIVE</a:t></a:r></a:p></p:txBody></p:sp><p:sp><p:nvSpPr><p:cNvPr id="25" name="riskTime2"/><p:cNvSpPr txBox="1"/><p:nvPr/></p:nvSpPr><p:spPr><a:xfrm><a:off x="8458200" y="2331720"/><a:ext cx="3154680" cy="365760"/></a:xfrm><a:prstGeom prst="rect"><a:avLst/></a:prstGeom><a:noFill/></p:spPr><p:txBody><a:bodyPr wrap="square"><a:spAutoFit/></a:bodyPr><a:lstStyle/><a:p><a:pPr algn="ctr"/><a:r><a:rPr sz="1400" b="0"><a:solidFill><a:srgbClr val="FFFFFF"/></a:solidFill><a:latin typeface="Segoe UI"/></a:rPr><a:t>Future</a:t></a:r></a:p></p:txBody></p:sp><p:sp><p:nvSpPr><p:cNvPr id="26" name="riskDesc2"/><p:cNvSpPr txBox="1"/><p:nvPr/></p:nvSpPr><p:spPr><a:xfrm><a:off x="8549640" y="3383280"/><a:ext cx="2971800" cy="1645920"/></a:xfrm><a:prstGeom prst="rect"><a:avLst/></a:prstGeom><a:noFill/></p:spPr><p:txBody><a:bodyPr wrap="square"><a:spAutoFit/></a:bodyPr><a:lstStyle/><a:p><a:pPr algn="ctr"/><a:r><a:rPr sz="1500" b="0"><a:solidFill><a:srgbClr val="0B1F3A"/></a:solidFill><a:latin typeface="Segoe UI"/></a:rPr><a:t>Analyzes systems to spot potential problems</a:t></a:r></a:p></p:txBody></p:sp><p:sp><p:nvSpPr><p:cNvPr id="27" name="riskDot2_0"/><p:cNvSpPr/><p:nvPr/></p:nvSpPr><p:spPr><a:xfrm><a:off x="9326880" y="5120640"/><a:ext cx="256032" cy="256032"/></a:xfrm><a:prstGeom prst="ellipse"><a:avLst/></a:prstGeom><a:solidFill><a:srgbClr val="ECF0F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8" name="riskDot2_1"/><p:cNvSpPr/><p:nvPr/></p:nvSpPr><p:spPr><a:xfrm><a:off x="9829800" y="5120640"/><a:ext cx="256032" cy="256032"/></a:xfrm><a:prstGeom prst="ellipse"><a:avLst/></a:prstGeom><a:solidFill><a:srgbClr val="ECF0F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9" name="riskDot2_2"/><p:cNvSpPr/><p:nvPr/></p:nvSpPr><p:spPr><a:xfrm><a:off x="10332720" y="5120640"/><a:ext cx="256032" cy="256032"/></a:xfrm><a:prstGeom prst="ellipse"><a:avLst/></a:prstGeom><a:solidFill><a:srgbClr val="1AB3A6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/p:spTree></p:cSld><p:clrMapOvr><a:masterClrMapping/></p:clrMapOvr><ns0:AlternateContent xmlns:ns0="http://schemas.openxmlformats.org/markup-compatibility/2006"><ns0:Choice Requires="p14"><p:transition spd="med"><ns1:morph xmlns:ns1="http://schemas.microsoft.com/office/powerpoint/2010/main" option="byObject"/></p:transition></ns0:Choice><ns0:Fallback><p:transition spd="med"><p:fade/></p:transition></ns0:Fallback></ns0:AlternateContent></p:sld>
</file>

<file path=ppt/slides/slide12.xml><?xml version='1.0' encoding='UTF-8' standalone='yes'?>
<p:sld xmlns:a="http://schemas.openxmlformats.org/drawingml/2006/main" xmlns:p="http://schemas.openxmlformats.org/presentationml/2006/main" xmlns:r="http://schemas.openxmlformats.org/officeDocument/2006/relationships" xmlns:ns2="http://www.w3.org/2000/xmlns/" ns2:p14="http://schemas.microsoft.com/office/powerpoint/2010/main" ns2:mc="http://schemas.openxmlformats.org/markup-compatibility/2006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Rectangle 2"/><p:cNvSpPr/><p:nvPr/></p:nvSpPr><p:spPr><a:xfrm><a:off x="0" y="0"/><a:ext cx="109728" cy="685800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" name="sectionLabel"/><p:cNvSpPr txBox="1"/><p:nvPr/></p:nvSpPr><p:spPr><a:xfrm><a:off x="640080" y="320040"/><a:ext cx="5486400" cy="320040"/></a:xfrm><a:prstGeom prst="rect"><a:avLst/></a:prstGeom><a:noFill/></p:spPr><p:txBody><a:bodyPr wrap="square"><a:spAutoFit/></a:bodyPr><a:lstStyle/><a:p><a:pPr algn="l"/><a:r><a:rPr sz="1100" b="1"><a:solidFill><a:srgbClr val="E8B923"/></a:solidFill><a:latin typeface="Segoe UI"/></a:rPr><a:t>DETECTION</a:t></a:r></a:p></p:txBody></p:sp><p:sp><p:nvSpPr><p:cNvPr id="5" name="slideTitle"/><p:cNvSpPr txBox="1"/><p:nvPr/></p:nvSpPr><p:spPr><a:xfrm><a:off x="640080" y="594360"/><a:ext cx="10515600" cy="640080"/></a:xfrm><a:prstGeom prst="rect"><a:avLst/></a:prstGeom><a:noFill/></p:spPr><p:txBody><a:bodyPr wrap="square"><a:spAutoFit/></a:bodyPr><a:lstStyle/><a:p><a:pPr algn="l"/><a:r><a:rPr sz="3200" b="1"><a:solidFill><a:srgbClr val="0B1F3A"/></a:solidFill><a:latin typeface="Segoe UI Semibold"/></a:rPr><a:t>Hazard Identification &amp; Reporting</a:t></a:r></a:p></p:txBody></p:sp><p:sp><p:nvSpPr><p:cNvPr id="6" name="hazCard"/><p:cNvSpPr/><p:nvPr/></p:nvSpPr><p:spPr><a:xfrm><a:off x="548640" y="1554480"/><a:ext cx="5303520" cy="457200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7" name="Rectangle 6"/><p:cNvSpPr/><p:nvPr/></p:nvSpPr><p:spPr><a:xfrm><a:off x="548640" y="1554480"/><a:ext cx="5303520" cy="9144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8" name="hazTitle"/><p:cNvSpPr txBox="1"/><p:nvPr/></p:nvSpPr><p:spPr><a:xfrm><a:off x="822960" y="1828800"/><a:ext cx="4754880" cy="457200"/></a:xfrm><a:prstGeom prst="rect"><a:avLst/></a:prstGeom><a:noFill/></p:spPr><p:txBody><a:bodyPr wrap="square"><a:spAutoFit/></a:bodyPr><a:lstStyle/><a:p><a:pPr algn="l"/><a:r><a:rPr sz="1600" b="1"><a:solidFill><a:srgbClr val="0B1F3A"/></a:solidFill><a:latin typeface="Segoe UI"/></a:rPr><a:t>HAZARD IDENTIFICATION</a:t></a:r></a:p></p:txBody></p:sp><p:sp><p:nvSpPr><p:cNvPr id="9" name="hazPoint0"/><p:cNvSpPr txBox="1"/><p:nvPr/></p:nvSpPr><p:spPr><a:xfrm><a:off x="822960" y="2560320"/><a:ext cx="4754880" cy="548640"/></a:xfrm><a:prstGeom prst="rect"><a:avLst/></a:prstGeom><a:noFill/></p:spPr><p:txBody><a:bodyPr wrap="square"><a:spAutoFit/></a:bodyPr><a:lstStyle/><a:p><a:pPr algn="l"/><a:r><a:rPr sz="1400" b="0"><a:solidFill><a:srgbClr val="5A6B7D"/></a:solidFill><a:latin typeface="Segoe UI"/></a:rPr><a:t>▸  Proactively find existing &amp; potential hazards</a:t></a:r></a:p></p:txBody></p:sp><p:sp><p:nvSpPr><p:cNvPr id="10" name="hazPoint1"/><p:cNvSpPr txBox="1"/><p:nvPr/></p:nvSpPr><p:spPr><a:xfrm><a:off x="822960" y="3246120"/><a:ext cx="4754880" cy="548640"/></a:xfrm><a:prstGeom prst="rect"><a:avLst/></a:prstGeom><a:noFill/></p:spPr><p:txBody><a:bodyPr wrap="square"><a:spAutoFit/></a:bodyPr><a:lstStyle/><a:p><a:pPr algn="l"/><a:r><a:rPr sz="1400" b="0"><a:solidFill><a:srgbClr val="5A6B7D"/></a:solidFill><a:latin typeface="Segoe UI"/></a:rPr><a:t>▸  Cover organizational change risks</a:t></a:r></a:p></p:txBody></p:sp><p:sp><p:nvSpPr><p:cNvPr id="11" name="hazPoint2"/><p:cNvSpPr txBox="1"/><p:nvPr/></p:nvSpPr><p:spPr><a:xfrm><a:off x="822960" y="3931920"/><a:ext cx="4754880" cy="548640"/></a:xfrm><a:prstGeom prst="rect"><a:avLst/></a:prstGeom><a:noFill/></p:spPr><p:txBody><a:bodyPr wrap="square"><a:spAutoFit/></a:bodyPr><a:lstStyle/><a:p><a:pPr algn="l"/><a:r><a:rPr sz="1400" b="0"><a:solidFill><a:srgbClr val="5A6B7D"/></a:solidFill><a:latin typeface="Segoe UI"/></a:rPr><a:t>▸  New services · equipment · personnel</a:t></a:r></a:p></p:txBody></p:sp><p:sp><p:nvSpPr><p:cNvPr id="12" name="hazPoint3"/><p:cNvSpPr txBox="1"/><p:nvPr/></p:nvSpPr><p:spPr><a:xfrm><a:off x="822960" y="4617720"/><a:ext cx="4754880" cy="548640"/></a:xfrm><a:prstGeom prst="rect"><a:avLst/></a:prstGeom><a:noFill/></p:spPr><p:txBody><a:bodyPr wrap="square"><a:spAutoFit/></a:bodyPr><a:lstStyle/><a:p><a:pPr algn="l"/><a:r><a:rPr sz="1400" b="0"><a:solidFill><a:srgbClr val="5A6B7D"/></a:solidFill><a:latin typeface="Segoe UI"/></a:rPr><a:t>▸  Rapid growth periods need extra focus</a:t></a:r></a:p></p:txBody></p:sp><p:sp><p:nvSpPr><p:cNvPr id="13" name="repCard"/><p:cNvSpPr/><p:nvPr/></p:nvSpPr><p:spPr><a:xfrm><a:off x="6217920" y="1554480"/><a:ext cx="5394960" cy="4572000"/></a:xfrm><a:prstGeom prst="roundRect"><a:avLst/></a:prstGeom><a:solidFill><a:srgbClr val="0B1F3A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4" name="repTitle"/><p:cNvSpPr txBox="1"/><p:nvPr/></p:nvSpPr><p:spPr><a:xfrm><a:off x="6492240" y="1828800"/><a:ext cx="4846320" cy="457200"/></a:xfrm><a:prstGeom prst="rect"><a:avLst/></a:prstGeom><a:noFill/></p:spPr><p:txBody><a:bodyPr wrap="square"><a:spAutoFit/></a:bodyPr><a:lstStyle/><a:p><a:pPr algn="l"/><a:r><a:rPr sz="1600" b="1"><a:solidFill><a:srgbClr val="E8B923"/></a:solidFill><a:latin typeface="Segoe UI"/></a:rPr><a:t>REPORTING SYSTEMS</a:t></a:r></a:p></p:txBody></p:sp><p:sp><p:nvSpPr><p:cNvPr id="15" name="repQ"/><p:cNvSpPr txBox="1"/><p:nvPr/></p:nvSpPr><p:spPr><a:xfrm><a:off x="6492240" y="2331720"/><a:ext cx="4846320" cy="365760"/></a:xfrm><a:prstGeom prst="rect"><a:avLst/></a:prstGeom><a:noFill/></p:spPr><p:txBody><a:bodyPr wrap="square"><a:spAutoFit/></a:bodyPr><a:lstStyle/><a:p><a:pPr algn="l"/><a:r><a:rPr sz="1300" b="0"><a:solidFill><a:srgbClr val="A8B8C8"/></a:solidFill><a:latin typeface="Segoe UI"/></a:rPr><a:t>And how will you report…?</a:t></a:r></a:p></p:txBody></p:sp><p:sp><p:nvSpPr><p:cNvPr id="16" name="repPoint0"/><p:cNvSpPr txBox="1"/><p:nvPr/></p:nvSpPr><p:spPr><a:xfrm><a:off x="6492240" y="2926080"/><a:ext cx="4846320" cy="502920"/></a:xfrm><a:prstGeom prst="rect"><a:avLst/></a:prstGeom><a:noFill/></p:spPr><p:txBody><a:bodyPr wrap="square"><a:spAutoFit/></a:bodyPr><a:lstStyle/><a:p><a:pPr algn="l"/><a:r><a:rPr sz="1400" b="0"><a:solidFill><a:srgbClr val="FFFFFF"/></a:solidFill><a:latin typeface="Segoe UI"/></a:rPr><a:t>●  Keep it simple and accessible</a:t></a:r></a:p></p:txBody></p:sp><p:sp><p:nvSpPr><p:cNvPr id="17" name="repPoint1"/><p:cNvSpPr txBox="1"/><p:nvPr/></p:nvSpPr><p:spPr><a:xfrm><a:off x="6492240" y="3566160"/><a:ext cx="4846320" cy="502920"/></a:xfrm><a:prstGeom prst="rect"><a:avLst/></a:prstGeom><a:noFill/></p:spPr><p:txBody><a:bodyPr wrap="square"><a:spAutoFit/></a:bodyPr><a:lstStyle/><a:p><a:pPr algn="l"/><a:r><a:rPr sz="1400" b="0"><a:solidFill><a:srgbClr val="FFFFFF"/></a:solidFill><a:latin typeface="Segoe UI"/></a:rPr><a:t>●  Reactive &amp; proactive can overlap</a:t></a:r></a:p></p:txBody></p:sp><p:sp><p:nvSpPr><p:cNvPr id="18" name="repPoint2"/><p:cNvSpPr txBox="1"/><p:nvPr/></p:nvSpPr><p:spPr><a:xfrm><a:off x="6492240" y="4206240"/><a:ext cx="4846320" cy="502920"/></a:xfrm><a:prstGeom prst="rect"><a:avLst/></a:prstGeom><a:noFill/></p:spPr><p:txBody><a:bodyPr wrap="square"><a:spAutoFit/></a:bodyPr><a:lstStyle/><a:p><a:pPr algn="l"/><a:r><a:rPr sz="1400" b="0"><a:solidFill><a:srgbClr val="FFFFFF"/></a:solidFill><a:latin typeface="Segoe UI"/></a:rPr><a:t>●  Always give reporters feedback</a:t></a:r></a:p></p:txBody></p:sp><p:sp><p:nvSpPr><p:cNvPr id="19" name="repPoint3"/><p:cNvSpPr txBox="1"/><p:nvPr/></p:nvSpPr><p:spPr><a:xfrm><a:off x="6492240" y="4846320"/><a:ext cx="4846320" cy="502920"/></a:xfrm><a:prstGeom prst="rect"><a:avLst/></a:prstGeom><a:noFill/></p:spPr><p:txBody><a:bodyPr wrap="square"><a:spAutoFit/></a:bodyPr><a:lstStyle/><a:p><a:pPr algn="l"/><a:r><a:rPr sz="1400" b="0"><a:solidFill><a:srgbClr val="FFFFFF"/></a:solidFill><a:latin typeface="Segoe UI"/></a:rPr><a:t>●  Simple file &amp; track workflow</a:t></a:r></a:p></p:txBody></p:sp></p:spTree></p:cSld><p:clrMapOvr><a:masterClrMapping/></p:clrMapOvr><ns0:AlternateContent xmlns:ns0="http://schemas.openxmlformats.org/markup-compatibility/2006"><ns0:Choice Requires="p14"><p:transition spd="med"><ns1:morph xmlns:ns1="http://schemas.microsoft.com/office/powerpoint/2010/main" option="byObject"/></p:transition></ns0:Choice><ns0:Fallback><p:transition spd="med"><p:fade/></p:transition></ns0:Fallback></ns0:AlternateContent></p:sld>
</file>

<file path=ppt/slides/slide13.xml><?xml version='1.0' encoding='UTF-8' standalone='yes'?>
<p:sld xmlns:a="http://schemas.openxmlformats.org/drawingml/2006/main" xmlns:p="http://schemas.openxmlformats.org/presentationml/2006/main" xmlns:r="http://schemas.openxmlformats.org/officeDocument/2006/relationships" xmlns:ns2="http://www.w3.org/2000/xmlns/" ns2:p14="http://schemas.microsoft.com/office/powerpoint/2010/main" ns2:mc="http://schemas.openxmlformats.org/markup-compatibility/2006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Rectangle 2"/><p:cNvSpPr/><p:nvPr/></p:nvSpPr><p:spPr><a:xfrm><a:off x="0" y="0"/><a:ext cx="109728" cy="685800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" name="sectionLabel"/><p:cNvSpPr txBox="1"/><p:nvPr/></p:nvSpPr><p:spPr><a:xfrm><a:off x="640080" y="320040"/><a:ext cx="5486400" cy="320040"/></a:xfrm><a:prstGeom prst="rect"><a:avLst/></a:prstGeom><a:noFill/></p:spPr><p:txBody><a:bodyPr wrap="square"><a:spAutoFit/></a:bodyPr><a:lstStyle/><a:p><a:pPr algn="l"/><a:r><a:rPr sz="1100" b="1"><a:solidFill><a:srgbClr val="E8B923"/></a:solidFill><a:latin typeface="Segoe UI"/></a:rPr><a:t>DECISION TOOL</a:t></a:r></a:p></p:txBody></p:sp><p:sp><p:nvSpPr><p:cNvPr id="5" name="slideTitle"/><p:cNvSpPr txBox="1"/><p:nvPr/></p:nvSpPr><p:spPr><a:xfrm><a:off x="640080" y="594360"/><a:ext cx="10515600" cy="640080"/></a:xfrm><a:prstGeom prst="rect"><a:avLst/></a:prstGeom><a:noFill/></p:spPr><p:txBody><a:bodyPr wrap="square"><a:spAutoFit/></a:bodyPr><a:lstStyle/><a:p><a:pPr algn="l"/><a:r><a:rPr sz="3200" b="1"><a:solidFill><a:srgbClr val="0B1F3A"/></a:solidFill><a:latin typeface="Segoe UI Semibold"/></a:rPr><a:t>Safety Risk Matrix</a:t></a:r></a:p></p:txBody></p:sp><p:sp><p:nvSpPr><p:cNvPr id="6" name="matrixSub"/><p:cNvSpPr txBox="1"/><p:nvPr/></p:nvSpPr><p:spPr><a:xfrm><a:off x="640080" y="1280160"/><a:ext cx="10972800" cy="320040"/></a:xfrm><a:prstGeom prst="rect"><a:avLst/></a:prstGeom><a:noFill/></p:spPr><p:txBody><a:bodyPr wrap="square"><a:spAutoFit/></a:bodyPr><a:lstStyle/><a:p><a:pPr algn="l"/><a:r><a:rPr sz="1400" b="0"><a:solidFill><a:srgbClr val="5A6B7D"/></a:solidFill><a:latin typeface="Segoe UI"/></a:rPr><a:t>Likelihood × Severity  →  Risk Index</a:t></a:r></a:p></p:txBody></p:sp><p:sp><p:nvSpPr><p:cNvPr id="7" name="sevHead0"/><p:cNvSpPr txBox="1"/><p:nvPr/></p:nvSpPr><p:spPr><a:xfrm><a:off x="2926080" y="1600200"/><a:ext cx="1234440" cy="274320"/></a:xfrm><a:prstGeom prst="rect"><a:avLst/></a:prstGeom><a:noFill/></p:spPr><p:txBody><a:bodyPr wrap="square"><a:spAutoFit/></a:bodyPr><a:lstStyle/><a:p><a:pPr algn="ctr"/><a:r><a:rPr sz="1100" b="1"><a:solidFill><a:srgbClr val="0B1F3A"/></a:solidFill><a:latin typeface="Segoe UI"/></a:rPr><a:t>A</a:t></a:r></a:p></p:txBody></p:sp><p:sp><p:nvSpPr><p:cNvPr id="8" name="sevHead1"/><p:cNvSpPr txBox="1"/><p:nvPr/></p:nvSpPr><p:spPr><a:xfrm><a:off x="4160520" y="1600200"/><a:ext cx="1234440" cy="274320"/></a:xfrm><a:prstGeom prst="rect"><a:avLst/></a:prstGeom><a:noFill/></p:spPr><p:txBody><a:bodyPr wrap="square"><a:spAutoFit/></a:bodyPr><a:lstStyle/><a:p><a:pPr algn="ctr"/><a:r><a:rPr sz="1100" b="1"><a:solidFill><a:srgbClr val="0B1F3A"/></a:solidFill><a:latin typeface="Segoe UI"/></a:rPr><a:t>B</a:t></a:r></a:p></p:txBody></p:sp><p:sp><p:nvSpPr><p:cNvPr id="9" name="sevHead2"/><p:cNvSpPr txBox="1"/><p:nvPr/></p:nvSpPr><p:spPr><a:xfrm><a:off x="5394960" y="1600200"/><a:ext cx="1234440" cy="274320"/></a:xfrm><a:prstGeom prst="rect"><a:avLst/></a:prstGeom><a:noFill/></p:spPr><p:txBody><a:bodyPr wrap="square"><a:spAutoFit/></a:bodyPr><a:lstStyle/><a:p><a:pPr algn="ctr"/><a:r><a:rPr sz="1100" b="1"><a:solidFill><a:srgbClr val="0B1F3A"/></a:solidFill><a:latin typeface="Segoe UI"/></a:rPr><a:t>C</a:t></a:r></a:p></p:txBody></p:sp><p:sp><p:nvSpPr><p:cNvPr id="10" name="sevHead3"/><p:cNvSpPr txBox="1"/><p:nvPr/></p:nvSpPr><p:spPr><a:xfrm><a:off x="6629400" y="1600200"/><a:ext cx="1234440" cy="274320"/></a:xfrm><a:prstGeom prst="rect"><a:avLst/></a:prstGeom><a:noFill/></p:spPr><p:txBody><a:bodyPr wrap="square"><a:spAutoFit/></a:bodyPr><a:lstStyle/><a:p><a:pPr algn="ctr"/><a:r><a:rPr sz="1100" b="1"><a:solidFill><a:srgbClr val="0B1F3A"/></a:solidFill><a:latin typeface="Segoe UI"/></a:rPr><a:t>D</a:t></a:r></a:p></p:txBody></p:sp><p:sp><p:nvSpPr><p:cNvPr id="11" name="sevHead4"/><p:cNvSpPr txBox="1"/><p:nvPr/></p:nvSpPr><p:spPr><a:xfrm><a:off x="7863840" y="1600200"/><a:ext cx="1234440" cy="274320"/></a:xfrm><a:prstGeom prst="rect"><a:avLst/></a:prstGeom><a:noFill/></p:spPr><p:txBody><a:bodyPr wrap="square"><a:spAutoFit/></a:bodyPr><a:lstStyle/><a:p><a:pPr algn="ctr"/><a:r><a:rPr sz="1100" b="1"><a:solidFill><a:srgbClr val="0B1F3A"/></a:solidFill><a:latin typeface="Segoe UI"/></a:rPr><a:t>E</a:t></a:r></a:p></p:txBody></p:sp><p:sp><p:nvSpPr><p:cNvPr id="12" name="probHead0"/><p:cNvSpPr txBox="1"/><p:nvPr/></p:nvSpPr><p:spPr><a:xfrm><a:off x="457200" y="1965960"/><a:ext cx="2286000" cy="411480"/></a:xfrm><a:prstGeom prst="rect"><a:avLst/></a:prstGeom><a:noFill/></p:spPr><p:txBody><a:bodyPr wrap="square"><a:spAutoFit/></a:bodyPr><a:lstStyle/><a:p><a:pPr algn="l"/><a:r><a:rPr sz="1100" b="1"><a:solidFill><a:srgbClr val="0B1F3A"/></a:solidFill><a:latin typeface="Segoe UI"/></a:rPr><a:t>5  Frequent</a:t></a:r></a:p></p:txBody></p:sp><p:sp><p:nvSpPr><p:cNvPr id="13" name="cell_5A"/><p:cNvSpPr/><p:nvPr/></p:nvSpPr><p:spPr><a:xfrm><a:off x="2962656" y="1865376"/><a:ext cx="1161288" cy="585216"/></a:xfrm><a:prstGeom prst="roundRect"><a:avLst/></a:prstGeom><a:solidFill><a:srgbClr val="E74C3C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4" name="cellText_5A"/><p:cNvSpPr txBox="1"/><p:nvPr/></p:nvSpPr><p:spPr><a:xfrm><a:off x="2926080" y="1993392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5A</a:t></a:r></a:p></p:txBody></p:sp><p:sp><p:nvSpPr><p:cNvPr id="15" name="cell_5B"/><p:cNvSpPr/><p:nvPr/></p:nvSpPr><p:spPr><a:xfrm><a:off x="4197096" y="1865376"/><a:ext cx="1161288" cy="585216"/></a:xfrm><a:prstGeom prst="roundRect"><a:avLst/></a:prstGeom><a:solidFill><a:srgbClr val="E74C3C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6" name="cellText_5B"/><p:cNvSpPr txBox="1"/><p:nvPr/></p:nvSpPr><p:spPr><a:xfrm><a:off x="4160520" y="1993392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5B</a:t></a:r></a:p></p:txBody></p:sp><p:sp><p:nvSpPr><p:cNvPr id="17" name="cell_5C"/><p:cNvSpPr/><p:nvPr/></p:nvSpPr><p:spPr><a:xfrm><a:off x="5431536" y="1865376"/><a:ext cx="1161288" cy="585216"/></a:xfrm><a:prstGeom prst="roundRect"><a:avLst/></a:prstGeom><a:solidFill><a:srgbClr val="E74C3C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8" name="cellText_5C"/><p:cNvSpPr txBox="1"/><p:nvPr/></p:nvSpPr><p:spPr><a:xfrm><a:off x="5394960" y="1993392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5C</a:t></a:r></a:p></p:txBody></p:sp><p:sp><p:nvSpPr><p:cNvPr id="19" name="cell_5D"/><p:cNvSpPr/><p:nvPr/></p:nvSpPr><p:spPr><a:xfrm><a:off x="6665976" y="1865376"/><a:ext cx="1161288" cy="585216"/></a:xfrm><a:prstGeom prst="roundRect"><a:avLst/></a:prstGeom><a:solidFill><a:srgbClr val="F39C1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0" name="cellText_5D"/><p:cNvSpPr txBox="1"/><p:nvPr/></p:nvSpPr><p:spPr><a:xfrm><a:off x="6629400" y="1993392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5D</a:t></a:r></a:p></p:txBody></p:sp><p:sp><p:nvSpPr><p:cNvPr id="21" name="cell_5E"/><p:cNvSpPr/><p:nvPr/></p:nvSpPr><p:spPr><a:xfrm><a:off x="7900416" y="1865376"/><a:ext cx="1161288" cy="585216"/></a:xfrm><a:prstGeom prst="roundRect"><a:avLst/></a:prstGeom><a:solidFill><a:srgbClr val="F39C1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2" name="cellText_5E"/><p:cNvSpPr txBox="1"/><p:nvPr/></p:nvSpPr><p:spPr><a:xfrm><a:off x="7863840" y="1993392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5E</a:t></a:r></a:p></p:txBody></p:sp><p:sp><p:nvSpPr><p:cNvPr id="23" name="probHead1"/><p:cNvSpPr txBox="1"/><p:nvPr/></p:nvSpPr><p:spPr><a:xfrm><a:off x="457200" y="2624328"/><a:ext cx="2286000" cy="411480"/></a:xfrm><a:prstGeom prst="rect"><a:avLst/></a:prstGeom><a:noFill/></p:spPr><p:txBody><a:bodyPr wrap="square"><a:spAutoFit/></a:bodyPr><a:lstStyle/><a:p><a:pPr algn="l"/><a:r><a:rPr sz="1100" b="1"><a:solidFill><a:srgbClr val="0B1F3A"/></a:solidFill><a:latin typeface="Segoe UI"/></a:rPr><a:t>4  Occasional</a:t></a:r></a:p></p:txBody></p:sp><p:sp><p:nvSpPr><p:cNvPr id="24" name="cell_4A"/><p:cNvSpPr/><p:nvPr/></p:nvSpPr><p:spPr><a:xfrm><a:off x="2962656" y="2523744"/><a:ext cx="1161288" cy="585216"/></a:xfrm><a:prstGeom prst="roundRect"><a:avLst/></a:prstGeom><a:solidFill><a:srgbClr val="E74C3C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5" name="cellText_4A"/><p:cNvSpPr txBox="1"/><p:nvPr/></p:nvSpPr><p:spPr><a:xfrm><a:off x="2926080" y="2651760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4A</a:t></a:r></a:p></p:txBody></p:sp><p:sp><p:nvSpPr><p:cNvPr id="26" name="cell_4B"/><p:cNvSpPr/><p:nvPr/></p:nvSpPr><p:spPr><a:xfrm><a:off x="4197096" y="2523744"/><a:ext cx="1161288" cy="585216"/></a:xfrm><a:prstGeom prst="roundRect"><a:avLst/></a:prstGeom><a:solidFill><a:srgbClr val="E74C3C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7" name="cellText_4B"/><p:cNvSpPr txBox="1"/><p:nvPr/></p:nvSpPr><p:spPr><a:xfrm><a:off x="4160520" y="2651760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4B</a:t></a:r></a:p></p:txBody></p:sp><p:sp><p:nvSpPr><p:cNvPr id="28" name="cell_4C"/><p:cNvSpPr/><p:nvPr/></p:nvSpPr><p:spPr><a:xfrm><a:off x="5431536" y="2523744"/><a:ext cx="1161288" cy="585216"/></a:xfrm><a:prstGeom prst="roundRect"><a:avLst/></a:prstGeom><a:solidFill><a:srgbClr val="F39C1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9" name="cellText_4C"/><p:cNvSpPr txBox="1"/><p:nvPr/></p:nvSpPr><p:spPr><a:xfrm><a:off x="5394960" y="2651760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4C</a:t></a:r></a:p></p:txBody></p:sp><p:sp><p:nvSpPr><p:cNvPr id="30" name="cell_4D"/><p:cNvSpPr/><p:nvPr/></p:nvSpPr><p:spPr><a:xfrm><a:off x="6665976" y="2523744"/><a:ext cx="1161288" cy="585216"/></a:xfrm><a:prstGeom prst="roundRect"><a:avLst/></a:prstGeom><a:solidFill><a:srgbClr val="F39C1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1" name="cellText_4D"/><p:cNvSpPr txBox="1"/><p:nvPr/></p:nvSpPr><p:spPr><a:xfrm><a:off x="6629400" y="2651760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4D</a:t></a:r></a:p></p:txBody></p:sp><p:sp><p:nvSpPr><p:cNvPr id="32" name="cell_4E"/><p:cNvSpPr/><p:nvPr/></p:nvSpPr><p:spPr><a:xfrm><a:off x="7900416" y="2523744"/><a:ext cx="1161288" cy="585216"/></a:xfrm><a:prstGeom prst="roundRect"><a:avLst/></a:prstGeom><a:solidFill><a:srgbClr val="F39C1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3" name="cellText_4E"/><p:cNvSpPr txBox="1"/><p:nvPr/></p:nvSpPr><p:spPr><a:xfrm><a:off x="7863840" y="2651760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4E</a:t></a:r></a:p></p:txBody></p:sp><p:sp><p:nvSpPr><p:cNvPr id="34" name="probHead2"/><p:cNvSpPr txBox="1"/><p:nvPr/></p:nvSpPr><p:spPr><a:xfrm><a:off x="457200" y="3282696"/><a:ext cx="2286000" cy="411480"/></a:xfrm><a:prstGeom prst="rect"><a:avLst/></a:prstGeom><a:noFill/></p:spPr><p:txBody><a:bodyPr wrap="square"><a:spAutoFit/></a:bodyPr><a:lstStyle/><a:p><a:pPr algn="l"/><a:r><a:rPr sz="1100" b="1"><a:solidFill><a:srgbClr val="0B1F3A"/></a:solidFill><a:latin typeface="Segoe UI"/></a:rPr><a:t>3  Remote</a:t></a:r></a:p></p:txBody></p:sp><p:sp><p:nvSpPr><p:cNvPr id="35" name="cell_3A"/><p:cNvSpPr/><p:nvPr/></p:nvSpPr><p:spPr><a:xfrm><a:off x="2962656" y="3182112"/><a:ext cx="1161288" cy="585216"/></a:xfrm><a:prstGeom prst="roundRect"><a:avLst/></a:prstGeom><a:solidFill><a:srgbClr val="E74C3C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6" name="cellText_3A"/><p:cNvSpPr txBox="1"/><p:nvPr/></p:nvSpPr><p:spPr><a:xfrm><a:off x="2926080" y="3310128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3A</a:t></a:r></a:p></p:txBody></p:sp><p:sp><p:nvSpPr><p:cNvPr id="37" name="cell_3B"/><p:cNvSpPr/><p:nvPr/></p:nvSpPr><p:spPr><a:xfrm><a:off x="4197096" y="3182112"/><a:ext cx="1161288" cy="585216"/></a:xfrm><a:prstGeom prst="roundRect"><a:avLst/></a:prstGeom><a:solidFill><a:srgbClr val="F39C1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8" name="cellText_3B"/><p:cNvSpPr txBox="1"/><p:nvPr/></p:nvSpPr><p:spPr><a:xfrm><a:off x="4160520" y="3310128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3B</a:t></a:r></a:p></p:txBody></p:sp><p:sp><p:nvSpPr><p:cNvPr id="39" name="cell_3C"/><p:cNvSpPr/><p:nvPr/></p:nvSpPr><p:spPr><a:xfrm><a:off x="5431536" y="3182112"/><a:ext cx="1161288" cy="585216"/></a:xfrm><a:prstGeom prst="roundRect"><a:avLst/></a:prstGeom><a:solidFill><a:srgbClr val="F39C1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0" name="cellText_3C"/><p:cNvSpPr txBox="1"/><p:nvPr/></p:nvSpPr><p:spPr><a:xfrm><a:off x="5394960" y="3310128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3C</a:t></a:r></a:p></p:txBody></p:sp><p:sp><p:nvSpPr><p:cNvPr id="41" name="cell_3D"/><p:cNvSpPr/><p:nvPr/></p:nvSpPr><p:spPr><a:xfrm><a:off x="6665976" y="3182112"/><a:ext cx="1161288" cy="585216"/></a:xfrm><a:prstGeom prst="roundRect"><a:avLst/></a:prstGeom><a:solidFill><a:srgbClr val="F39C1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2" name="cellText_3D"/><p:cNvSpPr txBox="1"/><p:nvPr/></p:nvSpPr><p:spPr><a:xfrm><a:off x="6629400" y="3310128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3D</a:t></a:r></a:p></p:txBody></p:sp><p:sp><p:nvSpPr><p:cNvPr id="43" name="cell_3E"/><p:cNvSpPr/><p:nvPr/></p:nvSpPr><p:spPr><a:xfrm><a:off x="7900416" y="3182112"/><a:ext cx="1161288" cy="585216"/></a:xfrm><a:prstGeom prst="roundRect"><a:avLst/></a:prstGeom><a:solidFill><a:srgbClr val="27AE60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4" name="cellText_3E"/><p:cNvSpPr txBox="1"/><p:nvPr/></p:nvSpPr><p:spPr><a:xfrm><a:off x="7863840" y="3310128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3E</a:t></a:r></a:p></p:txBody></p:sp><p:sp><p:nvSpPr><p:cNvPr id="45" name="probHead3"/><p:cNvSpPr txBox="1"/><p:nvPr/></p:nvSpPr><p:spPr><a:xfrm><a:off x="457200" y="3941064"/><a:ext cx="2286000" cy="411480"/></a:xfrm><a:prstGeom prst="rect"><a:avLst/></a:prstGeom><a:noFill/></p:spPr><p:txBody><a:bodyPr wrap="square"><a:spAutoFit/></a:bodyPr><a:lstStyle/><a:p><a:pPr algn="l"/><a:r><a:rPr sz="1100" b="1"><a:solidFill><a:srgbClr val="0B1F3A"/></a:solidFill><a:latin typeface="Segoe UI"/></a:rPr><a:t>2  Improbable</a:t></a:r></a:p></p:txBody></p:sp><p:sp><p:nvSpPr><p:cNvPr id="46" name="cell_2A"/><p:cNvSpPr/><p:nvPr/></p:nvSpPr><p:spPr><a:xfrm><a:off x="2962656" y="3840480"/><a:ext cx="1161288" cy="585216"/></a:xfrm><a:prstGeom prst="roundRect"><a:avLst/></a:prstGeom><a:solidFill><a:srgbClr val="F39C1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7" name="cellText_2A"/><p:cNvSpPr txBox="1"/><p:nvPr/></p:nvSpPr><p:spPr><a:xfrm><a:off x="2926080" y="3968496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2A</a:t></a:r></a:p></p:txBody></p:sp><p:sp><p:nvSpPr><p:cNvPr id="48" name="cell_2B"/><p:cNvSpPr/><p:nvPr/></p:nvSpPr><p:spPr><a:xfrm><a:off x="4197096" y="3840480"/><a:ext cx="1161288" cy="585216"/></a:xfrm><a:prstGeom prst="roundRect"><a:avLst/></a:prstGeom><a:solidFill><a:srgbClr val="F39C1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9" name="cellText_2B"/><p:cNvSpPr txBox="1"/><p:nvPr/></p:nvSpPr><p:spPr><a:xfrm><a:off x="4160520" y="3968496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2B</a:t></a:r></a:p></p:txBody></p:sp><p:sp><p:nvSpPr><p:cNvPr id="50" name="cell_2C"/><p:cNvSpPr/><p:nvPr/></p:nvSpPr><p:spPr><a:xfrm><a:off x="5431536" y="3840480"/><a:ext cx="1161288" cy="585216"/></a:xfrm><a:prstGeom prst="roundRect"><a:avLst/></a:prstGeom><a:solidFill><a:srgbClr val="F39C1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51" name="cellText_2C"/><p:cNvSpPr txBox="1"/><p:nvPr/></p:nvSpPr><p:spPr><a:xfrm><a:off x="5394960" y="3968496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2C</a:t></a:r></a:p></p:txBody></p:sp><p:sp><p:nvSpPr><p:cNvPr id="52" name="cell_2D"/><p:cNvSpPr/><p:nvPr/></p:nvSpPr><p:spPr><a:xfrm><a:off x="6665976" y="3840480"/><a:ext cx="1161288" cy="585216"/></a:xfrm><a:prstGeom prst="roundRect"><a:avLst/></a:prstGeom><a:solidFill><a:srgbClr val="27AE60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53" name="cellText_2D"/><p:cNvSpPr txBox="1"/><p:nvPr/></p:nvSpPr><p:spPr><a:xfrm><a:off x="6629400" y="3968496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2D</a:t></a:r></a:p></p:txBody></p:sp><p:sp><p:nvSpPr><p:cNvPr id="54" name="cell_2E"/><p:cNvSpPr/><p:nvPr/></p:nvSpPr><p:spPr><a:xfrm><a:off x="7900416" y="3840480"/><a:ext cx="1161288" cy="585216"/></a:xfrm><a:prstGeom prst="roundRect"><a:avLst/></a:prstGeom><a:solidFill><a:srgbClr val="27AE60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55" name="cellText_2E"/><p:cNvSpPr txBox="1"/><p:nvPr/></p:nvSpPr><p:spPr><a:xfrm><a:off x="7863840" y="3968496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2E</a:t></a:r></a:p></p:txBody></p:sp><p:sp><p:nvSpPr><p:cNvPr id="56" name="probHead4"/><p:cNvSpPr txBox="1"/><p:nvPr/></p:nvSpPr><p:spPr><a:xfrm><a:off x="457200" y="4599432"/><a:ext cx="2286000" cy="411480"/></a:xfrm><a:prstGeom prst="rect"><a:avLst/></a:prstGeom><a:noFill/></p:spPr><p:txBody><a:bodyPr wrap="square"><a:spAutoFit/></a:bodyPr><a:lstStyle/><a:p><a:pPr algn="l"/><a:r><a:rPr sz="1100" b="1"><a:solidFill><a:srgbClr val="0B1F3A"/></a:solidFill><a:latin typeface="Segoe UI"/></a:rPr><a:t>1  Ext. Improb.</a:t></a:r></a:p></p:txBody></p:sp><p:sp><p:nvSpPr><p:cNvPr id="57" name="cell_1A"/><p:cNvSpPr/><p:nvPr/></p:nvSpPr><p:spPr><a:xfrm><a:off x="2962656" y="4498848"/><a:ext cx="1161288" cy="585216"/></a:xfrm><a:prstGeom prst="roundRect"><a:avLst/></a:prstGeom><a:solidFill><a:srgbClr val="F39C1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58" name="cellText_1A"/><p:cNvSpPr txBox="1"/><p:nvPr/></p:nvSpPr><p:spPr><a:xfrm><a:off x="2926080" y="4626864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1A</a:t></a:r></a:p></p:txBody></p:sp><p:sp><p:nvSpPr><p:cNvPr id="59" name="cell_1B"/><p:cNvSpPr/><p:nvPr/></p:nvSpPr><p:spPr><a:xfrm><a:off x="4197096" y="4498848"/><a:ext cx="1161288" cy="585216"/></a:xfrm><a:prstGeom prst="roundRect"><a:avLst/></a:prstGeom><a:solidFill><a:srgbClr val="27AE60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60" name="cellText_1B"/><p:cNvSpPr txBox="1"/><p:nvPr/></p:nvSpPr><p:spPr><a:xfrm><a:off x="4160520" y="4626864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1B</a:t></a:r></a:p></p:txBody></p:sp><p:sp><p:nvSpPr><p:cNvPr id="61" name="cell_1C"/><p:cNvSpPr/><p:nvPr/></p:nvSpPr><p:spPr><a:xfrm><a:off x="5431536" y="4498848"/><a:ext cx="1161288" cy="585216"/></a:xfrm><a:prstGeom prst="roundRect"><a:avLst/></a:prstGeom><a:solidFill><a:srgbClr val="27AE60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62" name="cellText_1C"/><p:cNvSpPr txBox="1"/><p:nvPr/></p:nvSpPr><p:spPr><a:xfrm><a:off x="5394960" y="4626864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1C</a:t></a:r></a:p></p:txBody></p:sp><p:sp><p:nvSpPr><p:cNvPr id="63" name="cell_1D"/><p:cNvSpPr/><p:nvPr/></p:nvSpPr><p:spPr><a:xfrm><a:off x="6665976" y="4498848"/><a:ext cx="1161288" cy="585216"/></a:xfrm><a:prstGeom prst="roundRect"><a:avLst/></a:prstGeom><a:solidFill><a:srgbClr val="27AE60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64" name="cellText_1D"/><p:cNvSpPr txBox="1"/><p:nvPr/></p:nvSpPr><p:spPr><a:xfrm><a:off x="6629400" y="4626864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1D</a:t></a:r></a:p></p:txBody></p:sp><p:sp><p:nvSpPr><p:cNvPr id="65" name="cell_1E"/><p:cNvSpPr/><p:nvPr/></p:nvSpPr><p:spPr><a:xfrm><a:off x="7900416" y="4498848"/><a:ext cx="1161288" cy="585216"/></a:xfrm><a:prstGeom prst="roundRect"><a:avLst/></a:prstGeom><a:solidFill><a:srgbClr val="27AE60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66" name="cellText_1E"/><p:cNvSpPr txBox="1"/><p:nvPr/></p:nvSpPr><p:spPr><a:xfrm><a:off x="7863840" y="4626864"/><a:ext cx="123444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1E</a:t></a:r></a:p></p:txBody></p:sp><p:sp><p:nvSpPr><p:cNvPr id="67" name="legend0"/><p:cNvSpPr/><p:nvPr/></p:nvSpPr><p:spPr><a:xfrm><a:off x="9418320" y="2011680"/><a:ext cx="2286000" cy="822960"/></a:xfrm><a:prstGeom prst="roundRect"><a:avLst/></a:prstGeom><a:solidFill><a:srgbClr val="E74C3C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68" name="legendText0"/><p:cNvSpPr txBox="1"/><p:nvPr/></p:nvSpPr><p:spPr><a:xfrm><a:off x="9418320" y="2240280"/><a:ext cx="228600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INTOLERABLE</a:t></a:r></a:p></p:txBody></p:sp><p:sp><p:nvSpPr><p:cNvPr id="69" name="legend1"/><p:cNvSpPr/><p:nvPr/></p:nvSpPr><p:spPr><a:xfrm><a:off x="9418320" y="3017520"/><a:ext cx="2286000" cy="822960"/></a:xfrm><a:prstGeom prst="roundRect"><a:avLst/></a:prstGeom><a:solidFill><a:srgbClr val="F39C1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70" name="legendText1"/><p:cNvSpPr txBox="1"/><p:nvPr/></p:nvSpPr><p:spPr><a:xfrm><a:off x="9418320" y="3246120"/><a:ext cx="228600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TOLERABLE</a:t></a:r></a:p></p:txBody></p:sp><p:sp><p:nvSpPr><p:cNvPr id="71" name="legend2"/><p:cNvSpPr/><p:nvPr/></p:nvSpPr><p:spPr><a:xfrm><a:off x="9418320" y="4023360"/><a:ext cx="2286000" cy="822960"/></a:xfrm><a:prstGeom prst="roundRect"><a:avLst/></a:prstGeom><a:solidFill><a:srgbClr val="27AE60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72" name="legendText2"/><p:cNvSpPr txBox="1"/><p:nvPr/></p:nvSpPr><p:spPr><a:xfrm><a:off x="9418320" y="4251960"/><a:ext cx="2286000" cy="365760"/></a:xfrm><a:prstGeom prst="rect"><a:avLst/></a:prstGeom><a:noFill/></p:spPr><p:txBody><a:bodyPr wrap="square"><a:spAutoFit/></a:bodyPr><a:lstStyle/><a:p><a:pPr algn="ctr"/><a:r><a:rPr sz="1200" b="1"><a:solidFill><a:srgbClr val="FFFFFF"/></a:solidFill><a:latin typeface="Segoe UI"/></a:rPr><a:t>ACCEPTABLE</a:t></a:r></a:p></p:txBody></p:sp></p:spTree></p:cSld><p:clrMapOvr><a:masterClrMapping/></p:clrMapOvr><ns0:AlternateContent xmlns:ns0="http://schemas.openxmlformats.org/markup-compatibility/2006"><ns0:Choice Requires="p14"><p:transition spd="med"><ns1:morph xmlns:ns1="http://schemas.microsoft.com/office/powerpoint/2010/main" option="byObject"/></p:transition></ns0:Choice><ns0:Fallback><p:transition spd="med"><p:fade/></p:transition></ns0:Fallback></ns0:AlternateContent></p:sld>
</file>

<file path=ppt/slides/slide14.xml><?xml version='1.0' encoding='UTF-8' standalone='yes'?>
<p:sld xmlns:a="http://schemas.openxmlformats.org/drawingml/2006/main" xmlns:p="http://schemas.openxmlformats.org/presentationml/2006/main" xmlns:r="http://schemas.openxmlformats.org/officeDocument/2006/relationships" xmlns:ns2="http://www.w3.org/2000/xmlns/" ns2:p14="http://schemas.microsoft.com/office/powerpoint/2010/main" ns2:mc="http://schemas.openxmlformats.org/markup-compatibility/2006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Rectangle 2"/><p:cNvSpPr/><p:nvPr/></p:nvSpPr><p:spPr><a:xfrm><a:off x="0" y="0"/><a:ext cx="109728" cy="685800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" name="sectionLabel"/><p:cNvSpPr txBox="1"/><p:nvPr/></p:nvSpPr><p:spPr><a:xfrm><a:off x="640080" y="320040"/><a:ext cx="5486400" cy="320040"/></a:xfrm><a:prstGeom prst="rect"><a:avLst/></a:prstGeom><a:noFill/></p:spPr><p:txBody><a:bodyPr wrap="square"><a:spAutoFit/></a:bodyPr><a:lstStyle/><a:p><a:pPr algn="l"/><a:r><a:rPr sz="1100" b="1"><a:solidFill><a:srgbClr val="E8B923"/></a:solidFill><a:latin typeface="Segoe UI"/></a:rPr><a:t>ACTION FRAMEWORK</a:t></a:r></a:p></p:txBody></p:sp><p:sp><p:nvSpPr><p:cNvPr id="5" name="slideTitle"/><p:cNvSpPr txBox="1"/><p:nvPr/></p:nvSpPr><p:spPr><a:xfrm><a:off x="640080" y="594360"/><a:ext cx="10515600" cy="640080"/></a:xfrm><a:prstGeom prst="rect"><a:avLst/></a:prstGeom><a:noFill/></p:spPr><p:txBody><a:bodyPr wrap="square"><a:spAutoFit/></a:bodyPr><a:lstStyle/><a:p><a:pPr algn="l"/><a:r><a:rPr sz="3200" b="1"><a:solidFill><a:srgbClr val="0B1F3A"/></a:solidFill><a:latin typeface="Segoe UI Semibold"/></a:rPr><a:t>Risk Response Levels</a:t></a:r></a:p></p:txBody></p:sp><p:sp><p:nvSpPr><p:cNvPr id="6" name="actionCard0"/><p:cNvSpPr/><p:nvPr/></p:nvSpPr><p:spPr><a:xfrm><a:off x="640080" y="1645920"/><a:ext cx="10972800" cy="128016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7" name="actionBadge0"/><p:cNvSpPr/><p:nvPr/></p:nvSpPr><p:spPr><a:xfrm><a:off x="868680" y="1920240"/><a:ext cx="2926080" cy="731520"/></a:xfrm><a:prstGeom prst="roundRect"><a:avLst/></a:prstGeom><a:solidFill><a:srgbClr val="E74C3C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8" name="actionTitle0"/><p:cNvSpPr txBox="1"/><p:nvPr/></p:nvSpPr><p:spPr><a:xfrm><a:off x="868680" y="2084832"/><a:ext cx="2926080" cy="411480"/></a:xfrm><a:prstGeom prst="rect"><a:avLst/></a:prstGeom><a:noFill/></p:spPr><p:txBody><a:bodyPr wrap="square"><a:spAutoFit/></a:bodyPr><a:lstStyle/><a:p><a:pPr algn="ctr"/><a:r><a:rPr sz="1600" b="1"><a:solidFill><a:srgbClr val="FFFFFF"/></a:solidFill><a:latin typeface="Segoe UI"/></a:rPr><a:t>INTOLERABLE</a:t></a:r></a:p></p:txBody></p:sp><p:sp><p:nvSpPr><p:cNvPr id="9" name="actionDesc0"/><p:cNvSpPr txBox="1"/><p:nvPr/></p:nvSpPr><p:spPr><a:xfrm><a:off x="4114800" y="1965960"/><a:ext cx="7132320" cy="731520"/></a:xfrm><a:prstGeom prst="rect"><a:avLst/></a:prstGeom><a:noFill/></p:spPr><p:txBody><a:bodyPr wrap="square"><a:spAutoFit/></a:bodyPr><a:lstStyle/><a:p><a:pPr algn="l"/><a:r><a:rPr sz="1500" b="0"><a:solidFill><a:srgbClr val="0B1F3A"/></a:solidFill><a:latin typeface="Segoe UI"/></a:rPr><a:t>Immediate action or stop activity.
Priority mitigation to tolerable level.</a:t></a:r></a:p></p:txBody></p:sp><p:sp><p:nvSpPr><p:cNvPr id="10" name="actionCard1"/><p:cNvSpPr/><p:nvPr/></p:nvSpPr><p:spPr><a:xfrm><a:off x="640080" y="3108960"/><a:ext cx="10972800" cy="128016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1" name="actionBadge1"/><p:cNvSpPr/><p:nvPr/></p:nvSpPr><p:spPr><a:xfrm><a:off x="868680" y="3383280"/><a:ext cx="2926080" cy="731520"/></a:xfrm><a:prstGeom prst="roundRect"><a:avLst/></a:prstGeom><a:solidFill><a:srgbClr val="F39C1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2" name="actionTitle1"/><p:cNvSpPr txBox="1"/><p:nvPr/></p:nvSpPr><p:spPr><a:xfrm><a:off x="868680" y="3547872"/><a:ext cx="2926080" cy="411480"/></a:xfrm><a:prstGeom prst="rect"><a:avLst/></a:prstGeom><a:noFill/></p:spPr><p:txBody><a:bodyPr wrap="square"><a:spAutoFit/></a:bodyPr><a:lstStyle/><a:p><a:pPr algn="ctr"/><a:r><a:rPr sz="1600" b="1"><a:solidFill><a:srgbClr val="FFFFFF"/></a:solidFill><a:latin typeface="Segoe UI"/></a:rPr><a:t>TOLERABLE</a:t></a:r></a:p></p:txBody></p:sp><p:sp><p:nvSpPr><p:cNvPr id="13" name="actionDesc1"/><p:cNvSpPr txBox="1"/><p:nvPr/></p:nvSpPr><p:spPr><a:xfrm><a:off x="4114800" y="3429000"/><a:ext cx="7132320" cy="731520"/></a:xfrm><a:prstGeom prst="rect"><a:avLst/></a:prstGeom><a:noFill/></p:spPr><p:txBody><a:bodyPr wrap="square"><a:spAutoFit/></a:bodyPr><a:lstStyle/><a:p><a:pPr algn="l"/><a:r><a:rPr sz="1500" b="0"><a:solidFill><a:srgbClr val="0B1F3A"/></a:solidFill><a:latin typeface="Segoe UI"/></a:rPr><a:t>Acceptable with mitigation.
May need management decision.</a:t></a:r></a:p></p:txBody></p:sp><p:sp><p:nvSpPr><p:cNvPr id="14" name="actionCard2"/><p:cNvSpPr/><p:nvPr/></p:nvSpPr><p:spPr><a:xfrm><a:off x="640080" y="4572000"/><a:ext cx="10972800" cy="128016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5" name="actionBadge2"/><p:cNvSpPr/><p:nvPr/></p:nvSpPr><p:spPr><a:xfrm><a:off x="868680" y="4846320"/><a:ext cx="2926080" cy="731520"/></a:xfrm><a:prstGeom prst="roundRect"><a:avLst/></a:prstGeom><a:solidFill><a:srgbClr val="27AE60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6" name="actionTitle2"/><p:cNvSpPr txBox="1"/><p:nvPr/></p:nvSpPr><p:spPr><a:xfrm><a:off x="868680" y="5010912"/><a:ext cx="2926080" cy="411480"/></a:xfrm><a:prstGeom prst="rect"><a:avLst/></a:prstGeom><a:noFill/></p:spPr><p:txBody><a:bodyPr wrap="square"><a:spAutoFit/></a:bodyPr><a:lstStyle/><a:p><a:pPr algn="ctr"/><a:r><a:rPr sz="1600" b="1"><a:solidFill><a:srgbClr val="FFFFFF"/></a:solidFill><a:latin typeface="Segoe UI"/></a:rPr><a:t>ACCEPTABLE</a:t></a:r></a:p></p:txBody></p:sp><p:sp><p:nvSpPr><p:cNvPr id="17" name="actionDesc2"/><p:cNvSpPr txBox="1"/><p:nvPr/></p:nvSpPr><p:spPr><a:xfrm><a:off x="4114800" y="4892040"/><a:ext cx="7132320" cy="731520"/></a:xfrm><a:prstGeom prst="rect"><a:avLst/></a:prstGeom><a:noFill/></p:spPr><p:txBody><a:bodyPr wrap="square"><a:spAutoFit/></a:bodyPr><a:lstStyle/><a:p><a:pPr algn="l"/><a:r><a:rPr sz="1500" b="0"><a:solidFill><a:srgbClr val="0B1F3A"/></a:solidFill><a:latin typeface="Segoe UI"/></a:rPr><a:t>Accept as-is.
No further mitigation required.</a:t></a:r></a:p></p:txBody></p:sp><p:sp><p:nvSpPr><p:cNvPr id="18" name="actionNote"/><p:cNvSpPr txBox="1"/><p:nvPr/></p:nvSpPr><p:spPr><a:xfrm><a:off x="640080" y="6035040"/><a:ext cx="10972800" cy="365760"/></a:xfrm><a:prstGeom prst="rect"><a:avLst/></a:prstGeom><a:noFill/></p:spPr><p:txBody><a:bodyPr wrap="square"><a:spAutoFit/></a:bodyPr><a:lstStyle/><a:p><a:pPr algn="ctr"/><a:r><a:rPr sz="1200" b="0"><a:solidFill><a:srgbClr val="5A6B7D"/></a:solidFill><a:latin typeface="Segoe UI"/></a:rPr><a:t>Data quality for hazard ID &amp; probability must inform every tolerability decision.</a:t></a:r></a:p></p:txBody></p:sp></p:spTree></p:cSld><p:clrMapOvr><a:masterClrMapping/></p:clrMapOvr><ns0:AlternateContent xmlns:ns0="http://schemas.openxmlformats.org/markup-compatibility/2006"><ns0:Choice Requires="p14"><p:transition spd="med"><ns1:morph xmlns:ns1="http://schemas.microsoft.com/office/powerpoint/2010/main" option="byObject"/></p:transition></ns0:Choice><ns0:Fallback><p:transition spd="med"><p:fade/></p:transition></ns0:Fallback></ns0:AlternateContent></p:sld>
</file>

<file path=ppt/slides/slide15.xml><?xml version='1.0' encoding='UTF-8' standalone='yes'?>
<p:sld xmlns:a="http://schemas.openxmlformats.org/drawingml/2006/main" xmlns:p="http://schemas.openxmlformats.org/presentationml/2006/main" xmlns:r="http://schemas.openxmlformats.org/officeDocument/2006/relationships" xmlns:ns2="http://www.w3.org/2000/xmlns/" ns2:p14="http://schemas.microsoft.com/office/powerpoint/2010/main" ns2:mc="http://schemas.openxmlformats.org/markup-compatibility/2006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Rectangle 2"/><p:cNvSpPr/><p:nvPr/></p:nvSpPr><p:spPr><a:xfrm><a:off x="0" y="0"/><a:ext cx="109728" cy="685800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" name="sectionLabel"/><p:cNvSpPr txBox="1"/><p:nvPr/></p:nvSpPr><p:spPr><a:xfrm><a:off x="640080" y="320040"/><a:ext cx="5486400" cy="320040"/></a:xfrm><a:prstGeom prst="rect"><a:avLst/></a:prstGeom><a:noFill/></p:spPr><p:txBody><a:bodyPr wrap="square"><a:spAutoFit/></a:bodyPr><a:lstStyle/><a:p><a:pPr algn="l"/><a:r><a:rPr sz="1100" b="1"><a:solidFill><a:srgbClr val="E8B923"/></a:solidFill><a:latin typeface="Segoe UI"/></a:rPr><a:t>COMPONENT 3</a:t></a:r></a:p></p:txBody></p:sp><p:sp><p:nvSpPr><p:cNvPr id="5" name="slideTitle"/><p:cNvSpPr txBox="1"/><p:nvPr/></p:nvSpPr><p:spPr><a:xfrm><a:off x="640080" y="594360"/><a:ext cx="10515600" cy="640080"/></a:xfrm><a:prstGeom prst="rect"><a:avLst/></a:prstGeom><a:noFill/></p:spPr><p:txBody><a:bodyPr wrap="square"><a:spAutoFit/></a:bodyPr><a:lstStyle/><a:p><a:pPr algn="l"/><a:r><a:rPr sz="3200" b="1"><a:solidFill><a:srgbClr val="0B1F3A"/></a:solidFill><a:latin typeface="Segoe UI Semibold"/></a:rPr><a:t>Safety Assurance</a:t></a:r></a:p></p:txBody></p:sp><p:sp><p:nvSpPr><p:cNvPr id="6" name="assSub"/><p:cNvSpPr txBox="1"/><p:nvPr/></p:nvSpPr><p:spPr><a:xfrm><a:off x="640080" y="1280160"/><a:ext cx="10972800" cy="320040"/></a:xfrm><a:prstGeom prst="rect"><a:avLst/></a:prstGeom><a:noFill/></p:spPr><p:txBody><a:bodyPr wrap="square"><a:spAutoFit/></a:bodyPr><a:lstStyle/><a:p><a:pPr algn="l"/><a:r><a:rPr sz="1400" b="0"><a:solidFill><a:srgbClr val="5A6B7D"/></a:solidFill><a:latin typeface="Segoe UI"/></a:rPr><a:t>Safety performance measures link directly to operational performance.</a:t></a:r></a:p></p:txBody></p:sp><p:sp><p:nvSpPr><p:cNvPr id="7" name="assCard0"/><p:cNvSpPr/><p:nvPr/></p:nvSpPr><p:spPr><a:xfrm><a:off x="548640" y="1828800"/><a:ext cx="5486400" cy="196596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8" name="assBar0"/><p:cNvSpPr/><p:nvPr/></p:nvSpPr><p:spPr><a:xfrm><a:off x="548640" y="1828800"/><a:ext cx="5486400" cy="91440"/></a:xfrm><a:prstGeom prst="rect"><a:avLst/></a:prstGeom><a:solidFill><a:srgbClr val="0B1F3A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9" name="assHead0"/><p:cNvSpPr txBox="1"/><p:nvPr/></p:nvSpPr><p:spPr><a:xfrm><a:off x="868680" y="2148840"/><a:ext cx="4846320" cy="365760"/></a:xfrm><a:prstGeom prst="rect"><a:avLst/></a:prstGeom><a:noFill/></p:spPr><p:txBody><a:bodyPr wrap="square"><a:spAutoFit/></a:bodyPr><a:lstStyle/><a:p><a:pPr algn="l"/><a:r><a:rPr sz="1300" b="1"><a:solidFill><a:srgbClr val="0B1F3A"/></a:solidFill><a:latin typeface="Segoe UI"/></a:rPr><a:t>Organization Objective</a:t></a:r></a:p></p:txBody></p:sp><p:sp><p:nvSpPr><p:cNvPr id="10" name="assBody0"/><p:cNvSpPr txBox="1"/><p:nvPr/></p:nvSpPr><p:spPr><a:xfrm><a:off x="868680" y="2651760"/><a:ext cx="4846320" cy="822960"/></a:xfrm><a:prstGeom prst="rect"><a:avLst/></a:prstGeom><a:noFill/></p:spPr><p:txBody><a:bodyPr wrap="square"><a:spAutoFit/></a:bodyPr><a:lstStyle/><a:p><a:pPr algn="l"/><a:r><a:rPr sz="1800" b="1"><a:solidFill><a:srgbClr val="0B1F3A"/></a:solidFill><a:latin typeface="Segoe UI"/></a:rPr><a:t>Reduce Costs</a:t></a:r></a:p></p:txBody></p:sp><p:sp><p:nvSpPr><p:cNvPr id="11" name="assCard1"/><p:cNvSpPr/><p:nvPr/></p:nvSpPr><p:spPr><a:xfrm><a:off x="6309359" y="1828800"/><a:ext cx="5486400" cy="196596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2" name="assBar1"/><p:cNvSpPr/><p:nvPr/></p:nvSpPr><p:spPr><a:xfrm><a:off x="6309359" y="1828800"/><a:ext cx="5486400" cy="91440"/></a:xfrm><a:prstGeom prst="rect"><a:avLst/></a:prstGeom><a:solidFill><a:srgbClr val="1AB3A6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3" name="assHead1"/><p:cNvSpPr txBox="1"/><p:nvPr/></p:nvSpPr><p:spPr><a:xfrm><a:off x="6629399" y="2148840"/><a:ext cx="4846320" cy="365760"/></a:xfrm><a:prstGeom prst="rect"><a:avLst/></a:prstGeom><a:noFill/></p:spPr><p:txBody><a:bodyPr wrap="square"><a:spAutoFit/></a:bodyPr><a:lstStyle/><a:p><a:pPr algn="l"/><a:r><a:rPr sz="1300" b="1"><a:solidFill><a:srgbClr val="1AB3A6"/></a:solidFill><a:latin typeface="Segoe UI"/></a:rPr><a:t>Org Performance Measure</a:t></a:r></a:p></p:txBody></p:sp><p:sp><p:nvSpPr><p:cNvPr id="14" name="assBody1"/><p:cNvSpPr txBox="1"/><p:nvPr/></p:nvSpPr><p:spPr><a:xfrm><a:off x="6629399" y="2651760"/><a:ext cx="4846320" cy="822960"/></a:xfrm><a:prstGeom prst="rect"><a:avLst/></a:prstGeom><a:noFill/></p:spPr><p:txBody><a:bodyPr wrap="square"><a:spAutoFit/></a:bodyPr><a:lstStyle/><a:p><a:pPr algn="l"/><a:r><a:rPr sz="1800" b="1"><a:solidFill><a:srgbClr val="0B1F3A"/></a:solidFill><a:latin typeface="Segoe UI"/></a:rPr><a:t>Reduction in Insurance Rates</a:t></a:r></a:p></p:txBody></p:sp><p:sp><p:nvSpPr><p:cNvPr id="15" name="assCard2"/><p:cNvSpPr/><p:nvPr/></p:nvSpPr><p:spPr><a:xfrm><a:off x="548640" y="4023360"/><a:ext cx="5486400" cy="196596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6" name="assBar2"/><p:cNvSpPr/><p:nvPr/></p:nvSpPr><p:spPr><a:xfrm><a:off x="548640" y="4023360"/><a:ext cx="5486400" cy="9144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7" name="assHead2"/><p:cNvSpPr txBox="1"/><p:nvPr/></p:nvSpPr><p:spPr><a:xfrm><a:off x="868680" y="4343400"/><a:ext cx="4846320" cy="365760"/></a:xfrm><a:prstGeom prst="rect"><a:avLst/></a:prstGeom><a:noFill/></p:spPr><p:txBody><a:bodyPr wrap="square"><a:spAutoFit/></a:bodyPr><a:lstStyle/><a:p><a:pPr algn="l"/><a:r><a:rPr sz="1300" b="1"><a:solidFill><a:srgbClr val="E8B923"/></a:solidFill><a:latin typeface="Segoe UI"/></a:rPr><a:t>Safety Objective</a:t></a:r></a:p></p:txBody></p:sp><p:sp><p:nvSpPr><p:cNvPr id="18" name="assBody2"/><p:cNvSpPr txBox="1"/><p:nvPr/></p:nvSpPr><p:spPr><a:xfrm><a:off x="868680" y="4846320"/><a:ext cx="4846320" cy="822960"/></a:xfrm><a:prstGeom prst="rect"><a:avLst/></a:prstGeom><a:noFill/></p:spPr><p:txBody><a:bodyPr wrap="square"><a:spAutoFit/></a:bodyPr><a:lstStyle/><a:p><a:pPr algn="l"/><a:r><a:rPr sz="1800" b="1"><a:solidFill><a:srgbClr val="0B1F3A"/></a:solidFill><a:latin typeface="Segoe UI"/></a:rPr><a:t>Decrease Hangar Incidents
&amp; Severity</a:t></a:r></a:p></p:txBody></p:sp><p:sp><p:nvSpPr><p:cNvPr id="19" name="assCard3"/><p:cNvSpPr/><p:nvPr/></p:nvSpPr><p:spPr><a:xfrm><a:off x="6309359" y="4023360"/><a:ext cx="5486400" cy="196596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0" name="assBar3"/><p:cNvSpPr/><p:nvPr/></p:nvSpPr><p:spPr><a:xfrm><a:off x="6309359" y="4023360"/><a:ext cx="5486400" cy="91440"/></a:xfrm><a:prstGeom prst="rect"><a:avLst/></a:prstGeom><a:solidFill><a:srgbClr val="2E86DE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1" name="assHead3"/><p:cNvSpPr txBox="1"/><p:nvPr/></p:nvSpPr><p:spPr><a:xfrm><a:off x="6629399" y="4343400"/><a:ext cx="4846320" cy="365760"/></a:xfrm><a:prstGeom prst="rect"><a:avLst/></a:prstGeom><a:noFill/></p:spPr><p:txBody><a:bodyPr wrap="square"><a:spAutoFit/></a:bodyPr><a:lstStyle/><a:p><a:pPr algn="l"/><a:r><a:rPr sz="1300" b="1"><a:solidFill><a:srgbClr val="2E86DE"/></a:solidFill><a:latin typeface="Segoe UI"/></a:rPr><a:t>Safety Performance Measure</a:t></a:r></a:p></p:txBody></p:sp><p:sp><p:nvSpPr><p:cNvPr id="22" name="assBody3"/><p:cNvSpPr txBox="1"/><p:nvPr/></p:nvSpPr><p:spPr><a:xfrm><a:off x="6629399" y="4846320"/><a:ext cx="4846320" cy="822960"/></a:xfrm><a:prstGeom prst="rect"><a:avLst/></a:prstGeom><a:noFill/></p:spPr><p:txBody><a:bodyPr wrap="square"><a:spAutoFit/></a:bodyPr><a:lstStyle/><a:p><a:pPr algn="l"/><a:r><a:rPr sz="1800" b="1"><a:solidFill><a:srgbClr val="0B1F3A"/></a:solidFill><a:latin typeface="Segoe UI"/></a:rPr><a:t>Fewer damage events · Near-misses
Lessons learned · CAP closure</a:t></a:r></a:p></p:txBody></p:sp></p:spTree></p:cSld><p:clrMapOvr><a:masterClrMapping/></p:clrMapOvr><ns0:AlternateContent xmlns:ns0="http://schemas.openxmlformats.org/markup-compatibility/2006"><ns0:Choice Requires="p14"><p:transition spd="med"><ns1:morph xmlns:ns1="http://schemas.microsoft.com/office/powerpoint/2010/main" option="byObject"/></p:transition></ns0:Choice><ns0:Fallback><p:transition spd="med"><p:fade/></p:transition></ns0:Fallback></ns0:AlternateContent></p:sld>
</file>

<file path=ppt/slides/slide16.xml><?xml version='1.0' encoding='UTF-8' standalone='yes'?>
<p:sld xmlns:a="http://schemas.openxmlformats.org/drawingml/2006/main" xmlns:p="http://schemas.openxmlformats.org/presentationml/2006/main" xmlns:r="http://schemas.openxmlformats.org/officeDocument/2006/relationships" xmlns:ns2="http://www.w3.org/2000/xmlns/" ns2:p14="http://schemas.microsoft.com/office/powerpoint/2010/main" ns2:mc="http://schemas.openxmlformats.org/markup-compatibility/2006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Rectangle 2"/><p:cNvSpPr/><p:nvPr/></p:nvSpPr><p:spPr><a:xfrm><a:off x="0" y="0"/><a:ext cx="109728" cy="685800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" name="sectionLabel"/><p:cNvSpPr txBox="1"/><p:nvPr/></p:nvSpPr><p:spPr><a:xfrm><a:off x="640080" y="320040"/><a:ext cx="5486400" cy="320040"/></a:xfrm><a:prstGeom prst="rect"><a:avLst/></a:prstGeom><a:noFill/></p:spPr><p:txBody><a:bodyPr wrap="square"><a:spAutoFit/></a:bodyPr><a:lstStyle/><a:p><a:pPr algn="l"/><a:r><a:rPr sz="1100" b="1"><a:solidFill><a:srgbClr val="E8B923"/></a:solidFill><a:latin typeface="Segoe UI"/></a:rPr><a:t>MEASUREMENT</a:t></a:r></a:p></p:txBody></p:sp><p:sp><p:nvSpPr><p:cNvPr id="5" name="slideTitle"/><p:cNvSpPr txBox="1"/><p:nvPr/></p:nvSpPr><p:spPr><a:xfrm><a:off x="640080" y="594360"/><a:ext cx="10515600" cy="640080"/></a:xfrm><a:prstGeom prst="rect"><a:avLst/></a:prstGeom><a:noFill/></p:spPr><p:txBody><a:bodyPr wrap="square"><a:spAutoFit/></a:bodyPr><a:lstStyle/><a:p><a:pPr algn="l"/><a:r><a:rPr sz="3200" b="1"><a:solidFill><a:srgbClr val="0B1F3A"/></a:solidFill><a:latin typeface="Segoe UI Semibold"/></a:rPr><a:t>Safety Performance Indicators</a:t></a:r></a:p></p:txBody></p:sp><p:graphicFrame><p:nvGraphicFramePr><p:cNvPr id="6" name="Chart 5"/><p:cNvGraphicFramePr><a:graphicFrameLocks noGrp="1"/></p:cNvGraphicFramePr><p:nvPr/></p:nvGraphicFramePr><p:xfrm><a:off x="731520" y="1554480"/><a:ext cx="7498079" cy="4572000"/></p:xfrm><a:graphic><a:graphicData uri="http://schemas.openxmlformats.org/drawingml/2006/chart"><c:chart xmlns:c="http://schemas.openxmlformats.org/drawingml/2006/chart" r:id="rId2"/></a:graphicData></a:graphic></p:graphicFrame><p:sp><p:nvSpPr><p:cNvPr id="7" name="spiCard0"/><p:cNvSpPr/><p:nvPr/></p:nvSpPr><p:spPr><a:xfrm><a:off x="8595360" y="1645920"/><a:ext cx="3017520" cy="96012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8" name="spiVal0"/><p:cNvSpPr txBox="1"/><p:nvPr/></p:nvSpPr><p:spPr><a:xfrm><a:off x="8778240" y="1783080"/><a:ext cx="2651760" cy="365760"/></a:xfrm><a:prstGeom prst="rect"><a:avLst/></a:prstGeom><a:noFill/></p:spPr><p:txBody><a:bodyPr wrap="square"><a:spAutoFit/></a:bodyPr><a:lstStyle/><a:p><a:pPr algn="l"/><a:r><a:rPr sz="2000" b="1"><a:solidFill><a:srgbClr val="27AE60"/></a:solidFill><a:latin typeface="Segoe UI"/></a:rPr><a:t>↓ 39%</a:t></a:r></a:p></p:txBody></p:sp><p:sp><p:nvSpPr><p:cNvPr id="9" name="spiLabel0"/><p:cNvSpPr txBox="1"/><p:nvPr/></p:nvSpPr><p:spPr><a:xfrm><a:off x="8778240" y="2148840"/><a:ext cx="2651760" cy="320040"/></a:xfrm><a:prstGeom prst="rect"><a:avLst/></a:prstGeom><a:noFill/></p:spPr><p:txBody><a:bodyPr wrap="square"><a:spAutoFit/></a:bodyPr><a:lstStyle/><a:p><a:pPr algn="l"/><a:r><a:rPr sz="1200" b="0"><a:solidFill><a:srgbClr val="5A6B7D"/></a:solidFill><a:latin typeface="Segoe UI"/></a:rPr><a:t>Damage events</a:t></a:r></a:p></p:txBody></p:sp><p:sp><p:nvSpPr><p:cNvPr id="10" name="spiCard1"/><p:cNvSpPr/><p:nvPr/></p:nvSpPr><p:spPr><a:xfrm><a:off x="8595360" y="2743200"/><a:ext cx="3017520" cy="96012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1" name="spiVal1"/><p:cNvSpPr txBox="1"/><p:nvPr/></p:nvSpPr><p:spPr><a:xfrm><a:off x="8778240" y="2880360"/><a:ext cx="2651760" cy="365760"/></a:xfrm><a:prstGeom prst="rect"><a:avLst/></a:prstGeom><a:noFill/></p:spPr><p:txBody><a:bodyPr wrap="square"><a:spAutoFit/></a:bodyPr><a:lstStyle/><a:p><a:pPr algn="l"/><a:r><a:rPr sz="2000" b="1"><a:solidFill><a:srgbClr val="27AE60"/></a:solidFill><a:latin typeface="Segoe UI"/></a:rPr><a:t>↓ 33%</a:t></a:r></a:p></p:txBody></p:sp><p:sp><p:nvSpPr><p:cNvPr id="12" name="spiLabel1"/><p:cNvSpPr txBox="1"/><p:nvPr/></p:nvSpPr><p:spPr><a:xfrm><a:off x="8778240" y="3246120"/><a:ext cx="2651760" cy="320040"/></a:xfrm><a:prstGeom prst="rect"><a:avLst/></a:prstGeom><a:noFill/></p:spPr><p:txBody><a:bodyPr wrap="square"><a:spAutoFit/></a:bodyPr><a:lstStyle/><a:p><a:pPr algn="l"/><a:r><a:rPr sz="1200" b="0"><a:solidFill><a:srgbClr val="5A6B7D"/></a:solidFill><a:latin typeface="Segoe UI"/></a:rPr><a:t>Near-misses</a:t></a:r></a:p></p:txBody></p:sp><p:sp><p:nvSpPr><p:cNvPr id="13" name="spiCard2"/><p:cNvSpPr/><p:nvPr/></p:nvSpPr><p:spPr><a:xfrm><a:off x="8595360" y="3840480"/><a:ext cx="3017520" cy="96012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4" name="spiVal2"/><p:cNvSpPr txBox="1"/><p:nvPr/></p:nvSpPr><p:spPr><a:xfrm><a:off x="8778240" y="3977640"/><a:ext cx="2651760" cy="365760"/></a:xfrm><a:prstGeom prst="rect"><a:avLst/></a:prstGeom><a:noFill/></p:spPr><p:txBody><a:bodyPr wrap="square"><a:spAutoFit/></a:bodyPr><a:lstStyle/><a:p><a:pPr algn="l"/><a:r><a:rPr sz="2000" b="1"><a:solidFill><a:srgbClr val="1AB3A6"/></a:solidFill><a:latin typeface="Segoe UI"/></a:rPr><a:t>↑ 100%</a:t></a:r></a:p></p:txBody></p:sp><p:sp><p:nvSpPr><p:cNvPr id="15" name="spiLabel2"/><p:cNvSpPr txBox="1"/><p:nvPr/></p:nvSpPr><p:spPr><a:xfrm><a:off x="8778240" y="4343400"/><a:ext cx="2651760" cy="320040"/></a:xfrm><a:prstGeom prst="rect"><a:avLst/></a:prstGeom><a:noFill/></p:spPr><p:txBody><a:bodyPr wrap="square"><a:spAutoFit/></a:bodyPr><a:lstStyle/><a:p><a:pPr algn="l"/><a:r><a:rPr sz="1200" b="0"><a:solidFill><a:srgbClr val="5A6B7D"/></a:solidFill><a:latin typeface="Segoe UI"/></a:rPr><a:t>Lessons captured</a:t></a:r></a:p></p:txBody></p:sp><p:sp><p:nvSpPr><p:cNvPr id="16" name="spiCard3"/><p:cNvSpPr/><p:nvPr/></p:nvSpPr><p:spPr><a:xfrm><a:off x="8595360" y="4937759"/><a:ext cx="3017520" cy="96012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7" name="spiVal3"/><p:cNvSpPr txBox="1"/><p:nvPr/></p:nvSpPr><p:spPr><a:xfrm><a:off x="8778240" y="5074919"/><a:ext cx="2651760" cy="365760"/></a:xfrm><a:prstGeom prst="rect"><a:avLst/></a:prstGeom><a:noFill/></p:spPr><p:txBody><a:bodyPr wrap="square"><a:spAutoFit/></a:bodyPr><a:lstStyle/><a:p><a:pPr algn="l"/><a:r><a:rPr sz="2000" b="1"><a:solidFill><a:srgbClr val="1AB3A6"/></a:solidFill><a:latin typeface="Segoe UI"/></a:rPr><a:t>↑ 75%</a:t></a:r></a:p></p:txBody></p:sp><p:sp><p:nvSpPr><p:cNvPr id="18" name="spiLabel3"/><p:cNvSpPr txBox="1"/><p:nvPr/></p:nvSpPr><p:spPr><a:xfrm><a:off x="8778240" y="5440679"/><a:ext cx="2651760" cy="320040"/></a:xfrm><a:prstGeom prst="rect"><a:avLst/></a:prstGeom><a:noFill/></p:spPr><p:txBody><a:bodyPr wrap="square"><a:spAutoFit/></a:bodyPr><a:lstStyle/><a:p><a:pPr algn="l"/><a:r><a:rPr sz="1200" b="0"><a:solidFill><a:srgbClr val="5A6B7D"/></a:solidFill><a:latin typeface="Segoe UI"/></a:rPr><a:t>CAPs closed</a:t></a:r></a:p></p:txBody></p:sp></p:spTree></p:cSld><p:clrMapOvr><a:masterClrMapping/></p:clrMapOvr><ns0:AlternateContent xmlns:ns0="http://schemas.openxmlformats.org/markup-compatibility/2006"><ns0:Choice Requires="p14"><p:transition spd="med"><ns1:morph xmlns:ns1="http://schemas.microsoft.com/office/powerpoint/2010/main" option="byObject"/></p:transition></ns0:Choice><ns0:Fallback><p:transition spd="med"><p:fade/></p:transition></ns0:Fallback></ns0:AlternateContent></p:sld>
</file>

<file path=ppt/slides/slide17.xml><?xml version='1.0' encoding='UTF-8' standalone='yes'?>
<p:sld xmlns:a="http://schemas.openxmlformats.org/drawingml/2006/main" xmlns:p="http://schemas.openxmlformats.org/presentationml/2006/main" xmlns:r="http://schemas.openxmlformats.org/officeDocument/2006/relationships" xmlns:ns2="http://www.w3.org/2000/xmlns/" ns2:p14="http://schemas.microsoft.com/office/powerpoint/2010/main" ns2:mc="http://schemas.openxmlformats.org/markup-compatibility/2006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Rectangle 2"/><p:cNvSpPr/><p:nvPr/></p:nvSpPr><p:spPr><a:xfrm><a:off x="0" y="0"/><a:ext cx="109728" cy="685800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" name="sectionLabel"/><p:cNvSpPr txBox="1"/><p:nvPr/></p:nvSpPr><p:spPr><a:xfrm><a:off x="640080" y="320040"/><a:ext cx="5486400" cy="320040"/></a:xfrm><a:prstGeom prst="rect"><a:avLst/></a:prstGeom><a:noFill/></p:spPr><p:txBody><a:bodyPr wrap="square"><a:spAutoFit/></a:bodyPr><a:lstStyle/><a:p><a:pPr algn="l"/><a:r><a:rPr sz="1100" b="1"><a:solidFill><a:srgbClr val="E8B923"/></a:solidFill><a:latin typeface="Segoe UI"/></a:rPr><a:t>CHANGE CONTROL</a:t></a:r></a:p></p:txBody></p:sp><p:sp><p:nvSpPr><p:cNvPr id="5" name="slideTitle"/><p:cNvSpPr txBox="1"/><p:nvPr/></p:nvSpPr><p:spPr><a:xfrm><a:off x="640080" y="594360"/><a:ext cx="10515600" cy="640080"/></a:xfrm><a:prstGeom prst="rect"><a:avLst/></a:prstGeom><a:noFill/></p:spPr><p:txBody><a:bodyPr wrap="square"><a:spAutoFit/></a:bodyPr><a:lstStyle/><a:p><a:pPr algn="l"/><a:r><a:rPr sz="3200" b="1"><a:solidFill><a:srgbClr val="0B1F3A"/></a:solidFill><a:latin typeface="Segoe UI Semibold"/></a:rPr><a:t>Management of Change</a:t></a:r></a:p></p:txBody></p:sp><p:sp><p:nvSpPr><p:cNvPr id="6" name="mocPhase0"/><p:cNvSpPr/><p:nvPr/></p:nvSpPr><p:spPr><a:xfrm><a:off x="640080" y="1554480"/><a:ext cx="2697480" cy="20116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7" name="mocCirc0"/><p:cNvSpPr/><p:nvPr/></p:nvSpPr><p:spPr><a:xfrm><a:off x="1508760" y="1783080"/><a:ext cx="960120" cy="960120"/></a:xfrm><a:prstGeom prst="ellipse"><a:avLst/></a:prstGeom><a:solidFill><a:srgbClr val="0B1F3A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8" name="mocNum0"/><p:cNvSpPr txBox="1"/><p:nvPr/></p:nvSpPr><p:spPr><a:xfrm><a:off x="1508760" y="2011680"/><a:ext cx="960120" cy="502920"/></a:xfrm><a:prstGeom prst="rect"><a:avLst/></a:prstGeom><a:noFill/></p:spPr><p:txBody><a:bodyPr wrap="square"><a:spAutoFit/></a:bodyPr><a:lstStyle/><a:p><a:pPr algn="ctr"/><a:r><a:rPr sz="2200" b="1"><a:solidFill><a:srgbClr val="FFFFFF"/></a:solidFill><a:latin typeface="Segoe UI"/></a:rPr><a:t>1</a:t></a:r></a:p></p:txBody></p:sp><p:sp><p:nvSpPr><p:cNvPr id="9" name="mocName0"/><p:cNvSpPr txBox="1"/><p:nvPr/></p:nvSpPr><p:spPr><a:xfrm><a:off x="777240" y="2926080"/><a:ext cx="2423160" cy="411480"/></a:xfrm><a:prstGeom prst="rect"><a:avLst/></a:prstGeom><a:noFill/></p:spPr><p:txBody><a:bodyPr wrap="square"><a:spAutoFit/></a:bodyPr><a:lstStyle/><a:p><a:pPr algn="ctr"/><a:r><a:rPr sz="1500" b="1"><a:solidFill><a:srgbClr val="0B1F3A"/></a:solidFill><a:latin typeface="Segoe UI"/></a:rPr><a:t>Screening</a:t></a:r></a:p></p:txBody></p:sp><p:sp><p:nvSpPr><p:cNvPr id="10" name="mocArrow0"/><p:cNvSpPr/><p:nvPr/></p:nvSpPr><p:spPr><a:xfrm><a:off x="3108960" y="2286000"/><a:ext cx="320040" cy="228600"/></a:xfrm><a:prstGeom prst="rightArrow"><a:avLst/></a:prstGeom><a:solidFill><a:srgbClr val="ECF0F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1" name="mocPhase1"/><p:cNvSpPr/><p:nvPr/></p:nvSpPr><p:spPr><a:xfrm><a:off x="3520439" y="1554480"/><a:ext cx="2697480" cy="20116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2" name="mocCirc1"/><p:cNvSpPr/><p:nvPr/></p:nvSpPr><p:spPr><a:xfrm><a:off x="4389119" y="1783080"/><a:ext cx="960120" cy="960120"/></a:xfrm><a:prstGeom prst="ellipse"><a:avLst/></a:prstGeom><a:solidFill><a:srgbClr val="1AB3A6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3" name="mocNum1"/><p:cNvSpPr txBox="1"/><p:nvPr/></p:nvSpPr><p:spPr><a:xfrm><a:off x="4389119" y="2011680"/><a:ext cx="960120" cy="502920"/></a:xfrm><a:prstGeom prst="rect"><a:avLst/></a:prstGeom><a:noFill/></p:spPr><p:txBody><a:bodyPr wrap="square"><a:spAutoFit/></a:bodyPr><a:lstStyle/><a:p><a:pPr algn="ctr"/><a:r><a:rPr sz="2200" b="1"><a:solidFill><a:srgbClr val="FFFFFF"/></a:solidFill><a:latin typeface="Segoe UI"/></a:rPr><a:t>2</a:t></a:r></a:p></p:txBody></p:sp><p:sp><p:nvSpPr><p:cNvPr id="14" name="mocName1"/><p:cNvSpPr txBox="1"/><p:nvPr/></p:nvSpPr><p:spPr><a:xfrm><a:off x="3657599" y="2926080"/><a:ext cx="2423160" cy="411480"/></a:xfrm><a:prstGeom prst="rect"><a:avLst/></a:prstGeom><a:noFill/></p:spPr><p:txBody><a:bodyPr wrap="square"><a:spAutoFit/></a:bodyPr><a:lstStyle/><a:p><a:pPr algn="ctr"/><a:r><a:rPr sz="1500" b="1"><a:solidFill><a:srgbClr val="0B1F3A"/></a:solidFill><a:latin typeface="Segoe UI"/></a:rPr><a:t>Review</a:t></a:r></a:p></p:txBody></p:sp><p:sp><p:nvSpPr><p:cNvPr id="15" name="mocArrow1"/><p:cNvSpPr/><p:nvPr/></p:nvSpPr><p:spPr><a:xfrm><a:off x="5989319" y="2286000"/><a:ext cx="320040" cy="228600"/></a:xfrm><a:prstGeom prst="rightArrow"><a:avLst/></a:prstGeom><a:solidFill><a:srgbClr val="ECF0F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6" name="mocPhase2"/><p:cNvSpPr/><p:nvPr/></p:nvSpPr><p:spPr><a:xfrm><a:off x="6400800" y="1554480"/><a:ext cx="2697480" cy="20116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7" name="mocCirc2"/><p:cNvSpPr/><p:nvPr/></p:nvSpPr><p:spPr><a:xfrm><a:off x="7269480" y="1783080"/><a:ext cx="960120" cy="960120"/></a:xfrm><a:prstGeom prst="ellipse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8" name="mocNum2"/><p:cNvSpPr txBox="1"/><p:nvPr/></p:nvSpPr><p:spPr><a:xfrm><a:off x="7269480" y="2011680"/><a:ext cx="960120" cy="502920"/></a:xfrm><a:prstGeom prst="rect"><a:avLst/></a:prstGeom><a:noFill/></p:spPr><p:txBody><a:bodyPr wrap="square"><a:spAutoFit/></a:bodyPr><a:lstStyle/><a:p><a:pPr algn="ctr"/><a:r><a:rPr sz="2200" b="1"><a:solidFill><a:srgbClr val="FFFFFF"/></a:solidFill><a:latin typeface="Segoe UI"/></a:rPr><a:t>3</a:t></a:r></a:p></p:txBody></p:sp><p:sp><p:nvSpPr><p:cNvPr id="19" name="mocName2"/><p:cNvSpPr txBox="1"/><p:nvPr/></p:nvSpPr><p:spPr><a:xfrm><a:off x="6537960" y="2926080"/><a:ext cx="2423160" cy="411480"/></a:xfrm><a:prstGeom prst="rect"><a:avLst/></a:prstGeom><a:noFill/></p:spPr><p:txBody><a:bodyPr wrap="square"><a:spAutoFit/></a:bodyPr><a:lstStyle/><a:p><a:pPr algn="ctr"/><a:r><a:rPr sz="1500" b="1"><a:solidFill><a:srgbClr val="0B1F3A"/></a:solidFill><a:latin typeface="Segoe UI"/></a:rPr><a:t>Approval</a:t></a:r></a:p></p:txBody></p:sp><p:sp><p:nvSpPr><p:cNvPr id="20" name="mocArrow2"/><p:cNvSpPr/><p:nvPr/></p:nvSpPr><p:spPr><a:xfrm><a:off x="8869680" y="2286000"/><a:ext cx="320040" cy="228600"/></a:xfrm><a:prstGeom prst="rightArrow"><a:avLst/></a:prstGeom><a:solidFill><a:srgbClr val="ECF0F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1" name="mocPhase3"/><p:cNvSpPr/><p:nvPr/></p:nvSpPr><p:spPr><a:xfrm><a:off x="9281159" y="1554480"/><a:ext cx="2697480" cy="20116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2" name="mocCirc3"/><p:cNvSpPr/><p:nvPr/></p:nvSpPr><p:spPr><a:xfrm><a:off x="10149839" y="1783080"/><a:ext cx="960120" cy="960120"/></a:xfrm><a:prstGeom prst="ellipse"><a:avLst/></a:prstGeom><a:solidFill><a:srgbClr val="E67E2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3" name="mocNum3"/><p:cNvSpPr txBox="1"/><p:nvPr/></p:nvSpPr><p:spPr><a:xfrm><a:off x="10149839" y="2011680"/><a:ext cx="960120" cy="502920"/></a:xfrm><a:prstGeom prst="rect"><a:avLst/></a:prstGeom><a:noFill/></p:spPr><p:txBody><a:bodyPr wrap="square"><a:spAutoFit/></a:bodyPr><a:lstStyle/><a:p><a:pPr algn="ctr"/><a:r><a:rPr sz="2200" b="1"><a:solidFill><a:srgbClr val="FFFFFF"/></a:solidFill><a:latin typeface="Segoe UI"/></a:rPr><a:t>4</a:t></a:r></a:p></p:txBody></p:sp><p:sp><p:nvSpPr><p:cNvPr id="24" name="mocName3"/><p:cNvSpPr txBox="1"/><p:nvPr/></p:nvSpPr><p:spPr><a:xfrm><a:off x="9418319" y="2926080"/><a:ext cx="2423160" cy="411480"/></a:xfrm><a:prstGeom prst="rect"><a:avLst/></a:prstGeom><a:noFill/></p:spPr><p:txBody><a:bodyPr wrap="square"><a:spAutoFit/></a:bodyPr><a:lstStyle/><a:p><a:pPr algn="ctr"/><a:r><a:rPr sz="1500" b="1"><a:solidFill><a:srgbClr val="0B1F3A"/></a:solidFill><a:latin typeface="Segoe UI"/></a:rPr><a:t>Implementation</a:t></a:r></a:p></p:txBody></p:sp><p:sp><p:nvSpPr><p:cNvPr id="25" name="mocProc0"/><p:cNvSpPr/><p:nvPr/></p:nvSpPr><p:spPr><a:xfrm><a:off x="640080" y="3931920"/><a:ext cx="3611880" cy="6400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6" name="mocProcText0"/><p:cNvSpPr txBox="1"/><p:nvPr/></p:nvSpPr><p:spPr><a:xfrm><a:off x="822960" y="4096512"/><a:ext cx="3246120" cy="365760"/></a:xfrm><a:prstGeom prst="rect"><a:avLst/></a:prstGeom><a:noFill/></p:spPr><p:txBody><a:bodyPr wrap="square"><a:spAutoFit/></a:bodyPr><a:lstStyle/><a:p><a:pPr algn="l"/><a:r><a:rPr sz="1300" b="1"><a:solidFill><a:srgbClr val="0B1F3A"/></a:solidFill><a:latin typeface="Segoe UI"/></a:rPr><a:t>01   Risk assessment</a:t></a:r></a:p></p:txBody></p:sp><p:sp><p:nvSpPr><p:cNvPr id="27" name="mocProc1"/><p:cNvSpPr/><p:nvPr/></p:nvSpPr><p:spPr><a:xfrm><a:off x="4434840" y="3931920"/><a:ext cx="3611880" cy="6400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8" name="mocProcText1"/><p:cNvSpPr txBox="1"/><p:nvPr/></p:nvSpPr><p:spPr><a:xfrm><a:off x="4617720" y="4096512"/><a:ext cx="3246120" cy="365760"/></a:xfrm><a:prstGeom prst="rect"><a:avLst/></a:prstGeom><a:noFill/></p:spPr><p:txBody><a:bodyPr wrap="square"><a:spAutoFit/></a:bodyPr><a:lstStyle/><a:p><a:pPr algn="l"/><a:r><a:rPr sz="1300" b="1"><a:solidFill><a:srgbClr val="0B1F3A"/></a:solidFill><a:latin typeface="Segoe UI"/></a:rPr><a:t>02   Goal identification</a:t></a:r></a:p></p:txBody></p:sp><p:sp><p:nvSpPr><p:cNvPr id="29" name="mocProc2"/><p:cNvSpPr/><p:nvPr/></p:nvSpPr><p:spPr><a:xfrm><a:off x="8229600" y="3931920"/><a:ext cx="3611880" cy="6400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0" name="mocProcText2"/><p:cNvSpPr txBox="1"/><p:nvPr/></p:nvSpPr><p:spPr><a:xfrm><a:off x="8412480" y="4096512"/><a:ext cx="3246120" cy="365760"/></a:xfrm><a:prstGeom prst="rect"><a:avLst/></a:prstGeom><a:noFill/></p:spPr><p:txBody><a:bodyPr wrap="square"><a:spAutoFit/></a:bodyPr><a:lstStyle/><a:p><a:pPr algn="l"/><a:r><a:rPr sz="1300" b="1"><a:solidFill><a:srgbClr val="0B1F3A"/></a:solidFill><a:latin typeface="Segoe UI"/></a:rPr><a:t>03   Operational procedures</a:t></a:r></a:p></p:txBody></p:sp><p:sp><p:nvSpPr><p:cNvPr id="31" name="mocProc3"/><p:cNvSpPr/><p:nvPr/></p:nvSpPr><p:spPr><a:xfrm><a:off x="640080" y="4709159"/><a:ext cx="3611880" cy="6400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2" name="mocProcText3"/><p:cNvSpPr txBox="1"/><p:nvPr/></p:nvSpPr><p:spPr><a:xfrm><a:off x="822960" y="4873751"/><a:ext cx="3246120" cy="365760"/></a:xfrm><a:prstGeom prst="rect"><a:avLst/></a:prstGeom><a:noFill/></p:spPr><p:txBody><a:bodyPr wrap="square"><a:spAutoFit/></a:bodyPr><a:lstStyle/><a:p><a:pPr algn="l"/><a:r><a:rPr sz="1300" b="1"><a:solidFill><a:srgbClr val="0B1F3A"/></a:solidFill><a:latin typeface="Segoe UI"/></a:rPr><a:t>04   Impact analysis</a:t></a:r></a:p></p:txBody></p:sp><p:sp><p:nvSpPr><p:cNvPr id="33" name="mocProc4"/><p:cNvSpPr/><p:nvPr/></p:nvSpPr><p:spPr><a:xfrm><a:off x="4434840" y="4709159"/><a:ext cx="3611880" cy="6400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4" name="mocProcText4"/><p:cNvSpPr txBox="1"/><p:nvPr/></p:nvSpPr><p:spPr><a:xfrm><a:off x="4617720" y="4873751"/><a:ext cx="3246120" cy="365760"/></a:xfrm><a:prstGeom prst="rect"><a:avLst/></a:prstGeom><a:noFill/></p:spPr><p:txBody><a:bodyPr wrap="square"><a:spAutoFit/></a:bodyPr><a:lstStyle/><a:p><a:pPr algn="l"/><a:r><a:rPr sz="1300" b="1"><a:solidFill><a:srgbClr val="0B1F3A"/></a:solidFill><a:latin typeface="Segoe UI"/></a:rPr><a:t>05   Documentation update</a:t></a:r></a:p></p:txBody></p:sp><p:sp><p:nvSpPr><p:cNvPr id="35" name="mocProc5"/><p:cNvSpPr/><p:nvPr/></p:nvSpPr><p:spPr><a:xfrm><a:off x="8229600" y="4709159"/><a:ext cx="3611880" cy="6400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6" name="mocProcText5"/><p:cNvSpPr txBox="1"/><p:nvPr/></p:nvSpPr><p:spPr><a:xfrm><a:off x="8412480" y="4873751"/><a:ext cx="3246120" cy="365760"/></a:xfrm><a:prstGeom prst="rect"><a:avLst/></a:prstGeom><a:noFill/></p:spPr><p:txBody><a:bodyPr wrap="square"><a:spAutoFit/></a:bodyPr><a:lstStyle/><a:p><a:pPr algn="l"/><a:r><a:rPr sz="1300" b="1"><a:solidFill><a:srgbClr val="0B1F3A"/></a:solidFill><a:latin typeface="Segoe UI"/></a:rPr><a:t>06   Communication</a:t></a:r></a:p></p:txBody></p:sp><p:sp><p:nvSpPr><p:cNvPr id="37" name="mocProc6"/><p:cNvSpPr/><p:nvPr/></p:nvSpPr><p:spPr><a:xfrm><a:off x="640080" y="5486400"/><a:ext cx="3611880" cy="6400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8" name="mocProcText6"/><p:cNvSpPr txBox="1"/><p:nvPr/></p:nvSpPr><p:spPr><a:xfrm><a:off x="822960" y="5650992"/><a:ext cx="3246120" cy="365760"/></a:xfrm><a:prstGeom prst="rect"><a:avLst/></a:prstGeom><a:noFill/></p:spPr><p:txBody><a:bodyPr wrap="square"><a:spAutoFit/></a:bodyPr><a:lstStyle/><a:p><a:pPr algn="l"/><a:r><a:rPr sz="1300" b="1"><a:solidFill><a:srgbClr val="0B1F3A"/></a:solidFill><a:latin typeface="Segoe UI"/></a:rPr><a:t>07   Approval authority</a:t></a:r></a:p></p:txBody></p:sp><p:sp><p:nvSpPr><p:cNvPr id="39" name="mocProc7"/><p:cNvSpPr/><p:nvPr/></p:nvSpPr><p:spPr><a:xfrm><a:off x="4434840" y="5486400"/><a:ext cx="3611880" cy="6400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0" name="mocProcText7"/><p:cNvSpPr txBox="1"/><p:nvPr/></p:nvSpPr><p:spPr><a:xfrm><a:off x="4617720" y="5650992"/><a:ext cx="3246120" cy="365760"/></a:xfrm><a:prstGeom prst="rect"><a:avLst/></a:prstGeom><a:noFill/></p:spPr><p:txBody><a:bodyPr wrap="square"><a:spAutoFit/></a:bodyPr><a:lstStyle/><a:p><a:pPr algn="l"/><a:r><a:rPr sz="1300" b="1"><a:solidFill><a:srgbClr val="0B1F3A"/></a:solidFill><a:latin typeface="Segoe UI"/></a:rPr><a:t>08   Safety review</a:t></a:r></a:p></p:txBody></p:sp><p:sp><p:nvSpPr><p:cNvPr id="41" name="mocProc8"/><p:cNvSpPr/><p:nvPr/></p:nvSpPr><p:spPr><a:xfrm><a:off x="8229600" y="5486400"/><a:ext cx="3611880" cy="6400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2" name="mocProcText8"/><p:cNvSpPr txBox="1"/><p:nvPr/></p:nvSpPr><p:spPr><a:xfrm><a:off x="8412480" y="5650992"/><a:ext cx="3246120" cy="365760"/></a:xfrm><a:prstGeom prst="rect"><a:avLst/></a:prstGeom><a:noFill/></p:spPr><p:txBody><a:bodyPr wrap="square"><a:spAutoFit/></a:bodyPr><a:lstStyle/><a:p><a:pPr algn="l"/><a:r><a:rPr sz="1300" b="1"><a:solidFill><a:srgbClr val="0B1F3A"/></a:solidFill><a:latin typeface="Segoe UI"/></a:rPr><a:t>09   Final approval</a:t></a:r></a:p></p:txBody></p:sp></p:spTree></p:cSld><p:clrMapOvr><a:masterClrMapping/></p:clrMapOvr><ns0:AlternateContent xmlns:ns0="http://schemas.openxmlformats.org/markup-compatibility/2006"><ns0:Choice Requires="p14"><p:transition spd="med"><ns1:morph xmlns:ns1="http://schemas.microsoft.com/office/powerpoint/2010/main" option="byObject"/></p:transition></ns0:Choice><ns0:Fallback><p:transition spd="med"><p:fade/></p:transition></ns0:Fallback></ns0:AlternateContent></p:sld>
</file>

<file path=ppt/slides/slide18.xml><?xml version='1.0' encoding='UTF-8' standalone='yes'?>
<p:sld xmlns:a="http://schemas.openxmlformats.org/drawingml/2006/main" xmlns:p="http://schemas.openxmlformats.org/presentationml/2006/main" xmlns:r="http://schemas.openxmlformats.org/officeDocument/2006/relationships" xmlns:ns2="http://www.w3.org/2000/xmlns/" ns2:p14="http://schemas.microsoft.com/office/powerpoint/2010/main" ns2:mc="http://schemas.openxmlformats.org/markup-compatibility/2006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Rectangle 2"/><p:cNvSpPr/><p:nvPr/></p:nvSpPr><p:spPr><a:xfrm><a:off x="0" y="0"/><a:ext cx="109728" cy="685800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" name="sectionLabel"/><p:cNvSpPr txBox="1"/><p:nvPr/></p:nvSpPr><p:spPr><a:xfrm><a:off x="640080" y="320040"/><a:ext cx="5486400" cy="320040"/></a:xfrm><a:prstGeom prst="rect"><a:avLst/></a:prstGeom><a:noFill/></p:spPr><p:txBody><a:bodyPr wrap="square"><a:spAutoFit/></a:bodyPr><a:lstStyle/><a:p><a:pPr algn="l"/><a:r><a:rPr sz="1100" b="1"><a:solidFill><a:srgbClr val="E8B923"/></a:solidFill><a:latin typeface="Segoe UI"/></a:rPr><a:t>COMPONENT 4</a:t></a:r></a:p></p:txBody></p:sp><p:sp><p:nvSpPr><p:cNvPr id="5" name="slideTitle"/><p:cNvSpPr txBox="1"/><p:nvPr/></p:nvSpPr><p:spPr><a:xfrm><a:off x="640080" y="594360"/><a:ext cx="10515600" cy="640080"/></a:xfrm><a:prstGeom prst="rect"><a:avLst/></a:prstGeom><a:noFill/></p:spPr><p:txBody><a:bodyPr wrap="square"><a:spAutoFit/></a:bodyPr><a:lstStyle/><a:p><a:pPr algn="l"/><a:r><a:rPr sz="3200" b="1"><a:solidFill><a:srgbClr val="0B1F3A"/></a:solidFill><a:latin typeface="Segoe UI Semibold"/></a:rPr><a:t>Continuous Improvement</a:t></a:r></a:p></p:txBody></p:sp><p:sp><p:nvSpPr><p:cNvPr id="6" name="cycle0"/><p:cNvSpPr/><p:nvPr/></p:nvSpPr><p:spPr><a:xfrm><a:off x="5029200" y="1554480"/><a:ext cx="2377440" cy="1463040"/></a:xfrm><a:prstGeom prst="ellipse"><a:avLst/></a:prstGeom><a:solidFill><a:srgbClr val="1AB3A6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7" name="cycleText0"/><p:cNvSpPr txBox="1"/><p:nvPr/></p:nvSpPr><p:spPr><a:xfrm><a:off x="5166360" y="1920240"/><a:ext cx="2103120" cy="822960"/></a:xfrm><a:prstGeom prst="rect"><a:avLst/></a:prstGeom><a:noFill/></p:spPr><p:txBody><a:bodyPr wrap="square"><a:spAutoFit/></a:bodyPr><a:lstStyle/><a:p><a:pPr algn="ctr"/><a:r><a:rPr sz="1400" b="1"><a:solidFill><a:srgbClr val="FFFFFF"/></a:solidFill><a:latin typeface="Segoe UI"/></a:rPr><a:t>Safety Risk
Management</a:t></a:r></a:p></p:txBody></p:sp><p:sp><p:nvSpPr><p:cNvPr id="8" name="cycle1"/><p:cNvSpPr/><p:nvPr/></p:nvSpPr><p:spPr><a:xfrm><a:off x="8046720" y="3017520"/><a:ext cx="2377440" cy="1463040"/></a:xfrm><a:prstGeom prst="ellipse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9" name="cycleText1"/><p:cNvSpPr txBox="1"/><p:nvPr/></p:nvSpPr><p:spPr><a:xfrm><a:off x="8183880" y="3383280"/><a:ext cx="2103120" cy="822960"/></a:xfrm><a:prstGeom prst="rect"><a:avLst/></a:prstGeom><a:noFill/></p:spPr><p:txBody><a:bodyPr wrap="square"><a:spAutoFit/></a:bodyPr><a:lstStyle/><a:p><a:pPr algn="ctr"/><a:r><a:rPr sz="1400" b="1"><a:solidFill><a:srgbClr val="FFFFFF"/></a:solidFill><a:latin typeface="Segoe UI"/></a:rPr><a:t>Safety
Assurance</a:t></a:r></a:p></p:txBody></p:sp><p:sp><p:nvSpPr><p:cNvPr id="10" name="cycle2"/><p:cNvSpPr/><p:nvPr/></p:nvSpPr><p:spPr><a:xfrm><a:off x="5029200" y="4480560"/><a:ext cx="2377440" cy="1463040"/></a:xfrm><a:prstGeom prst="ellipse"><a:avLst/></a:prstGeom><a:solidFill><a:srgbClr val="E67E2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1" name="cycleText2"/><p:cNvSpPr txBox="1"/><p:nvPr/></p:nvSpPr><p:spPr><a:xfrm><a:off x="5166360" y="4846320"/><a:ext cx="2103120" cy="822960"/></a:xfrm><a:prstGeom prst="rect"><a:avLst/></a:prstGeom><a:noFill/></p:spPr><p:txBody><a:bodyPr wrap="square"><a:spAutoFit/></a:bodyPr><a:lstStyle/><a:p><a:pPr algn="ctr"/><a:r><a:rPr sz="1400" b="1"><a:solidFill><a:srgbClr val="FFFFFF"/></a:solidFill><a:latin typeface="Segoe UI"/></a:rPr><a:t>Lessons
Learned</a:t></a:r></a:p></p:txBody></p:sp><p:sp><p:nvSpPr><p:cNvPr id="12" name="cycle3"/><p:cNvSpPr/><p:nvPr/></p:nvSpPr><p:spPr><a:xfrm><a:off x="2011680" y="3017520"/><a:ext cx="2377440" cy="1463040"/></a:xfrm><a:prstGeom prst="ellipse"><a:avLst/></a:prstGeom><a:solidFill><a:srgbClr val="2E86DE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3" name="cycleText3"/><p:cNvSpPr txBox="1"/><p:nvPr/></p:nvSpPr><p:spPr><a:xfrm><a:off x="2148840" y="3383280"/><a:ext cx="2103120" cy="822960"/></a:xfrm><a:prstGeom prst="rect"><a:avLst/></a:prstGeom><a:noFill/></p:spPr><p:txBody><a:bodyPr wrap="square"><a:spAutoFit/></a:bodyPr><a:lstStyle/><a:p><a:pPr algn="ctr"/><a:r><a:rPr sz="1400" b="1"><a:solidFill><a:srgbClr val="FFFFFF"/></a:solidFill><a:latin typeface="Segoe UI"/></a:rPr><a:t>Communicate
to All</a:t></a:r></a:p></p:txBody></p:sp><p:sp><p:nvSpPr><p:cNvPr id="14" name="cycleCenter"/><p:cNvSpPr/><p:nvPr/></p:nvSpPr><p:spPr><a:xfrm><a:off x="5212080" y="3108960"/><a:ext cx="2011680" cy="1280160"/></a:xfrm><a:prstGeom prst="ellipse"><a:avLst/></a:prstGeom><a:solidFill><a:srgbClr val="0B1F3A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5" name="cycleCenterText"/><p:cNvSpPr txBox="1"/><p:nvPr/></p:nvSpPr><p:spPr><a:xfrm><a:off x="5212080" y="3429000"/><a:ext cx="2011680" cy="640080"/></a:xfrm><a:prstGeom prst="rect"><a:avLst/></a:prstGeom><a:noFill/></p:spPr><p:txBody><a:bodyPr wrap="square"><a:spAutoFit/></a:bodyPr><a:lstStyle/><a:p><a:pPr algn="ctr"/><a:r><a:rPr sz="1400" b="1"><a:solidFill><a:srgbClr val="E8B923"/></a:solidFill><a:latin typeface="Segoe UI"/></a:rPr><a:t>SMS
IMPROVE</a:t></a:r></a:p></p:txBody></p:sp><p:sp><p:nvSpPr><p:cNvPr id="16" name="improveNote"/><p:cNvSpPr txBox="1"/><p:nvPr/></p:nvSpPr><p:spPr><a:xfrm><a:off x="640080" y="6035040"/><a:ext cx="10972800" cy="365760"/></a:xfrm><a:prstGeom prst="rect"><a:avLst/></a:prstGeom><a:noFill/></p:spPr><p:txBody><a:bodyPr wrap="square"><a:spAutoFit/></a:bodyPr><a:lstStyle/><a:p><a:pPr algn="ctr"/><a:r><a:rPr sz="1300" b="0"><a:solidFill><a:srgbClr val="5A6B7D"/></a:solidFill><a:latin typeface="Segoe UI"/></a:rPr><a:t>Recurring SRM + SA  ·  Capture lessons  ·  Share with every employee</a:t></a:r></a:p></p:txBody></p:sp></p:spTree></p:cSld><p:clrMapOvr><a:masterClrMapping/></p:clrMapOvr><ns0:AlternateContent xmlns:ns0="http://schemas.openxmlformats.org/markup-compatibility/2006"><ns0:Choice Requires="p14"><p:transition spd="med"><ns1:morph xmlns:ns1="http://schemas.microsoft.com/office/powerpoint/2010/main" option="byObject"/></p:transition></ns0:Choice><ns0:Fallback><p:transition spd="med"><p:fade/></p:transition></ns0:Fallback></ns0:AlternateContent></p:sld>
</file>

<file path=ppt/slides/slide19.xml><?xml version='1.0' encoding='UTF-8' standalone='yes'?>
<p:sld xmlns:a="http://schemas.openxmlformats.org/drawingml/2006/main" xmlns:p="http://schemas.openxmlformats.org/presentationml/2006/main" xmlns:r="http://schemas.openxmlformats.org/officeDocument/2006/relationships" xmlns:ns2="http://www.w3.org/2000/xmlns/" ns2:p14="http://schemas.microsoft.com/office/powerpoint/2010/main" ns2:mc="http://schemas.openxmlformats.org/markup-compatibility/2006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Rectangle 2"/><p:cNvSpPr/><p:nvPr/></p:nvSpPr><p:spPr><a:xfrm><a:off x="0" y="0"/><a:ext cx="109728" cy="685800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" name="sectionLabel"/><p:cNvSpPr txBox="1"/><p:nvPr/></p:nvSpPr><p:spPr><a:xfrm><a:off x="640080" y="320040"/><a:ext cx="5486400" cy="320040"/></a:xfrm><a:prstGeom prst="rect"><a:avLst/></a:prstGeom><a:noFill/></p:spPr><p:txBody><a:bodyPr wrap="square"><a:spAutoFit/></a:bodyPr><a:lstStyle/><a:p><a:pPr algn="l"/><a:r><a:rPr sz="1100" b="1"><a:solidFill><a:srgbClr val="E8B923"/></a:solidFill><a:latin typeface="Segoe UI"/></a:rPr><a:t>PEOPLE</a:t></a:r></a:p></p:txBody></p:sp><p:sp><p:nvSpPr><p:cNvPr id="5" name="slideTitle"/><p:cNvSpPr txBox="1"/><p:nvPr/></p:nvSpPr><p:spPr><a:xfrm><a:off x="640080" y="594360"/><a:ext cx="10515600" cy="640080"/></a:xfrm><a:prstGeom prst="rect"><a:avLst/></a:prstGeom><a:noFill/></p:spPr><p:txBody><a:bodyPr wrap="square"><a:spAutoFit/></a:bodyPr><a:lstStyle/><a:p><a:pPr algn="l"/><a:r><a:rPr sz="3200" b="1"><a:solidFill><a:srgbClr val="0B1F3A"/></a:solidFill><a:latin typeface="Segoe UI Semibold"/></a:rPr><a:t>Safety Promotion &amp; Culture</a:t></a:r></a:p></p:txBody></p:sp><p:sp><p:nvSpPr><p:cNvPr id="6" name="promoCard0"/><p:cNvSpPr/><p:nvPr/></p:nvSpPr><p:spPr><a:xfrm><a:off x="502920" y="1737360"/><a:ext cx="2743200" cy="402336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7" name="promoTop0"/><p:cNvSpPr/><p:nvPr/></p:nvSpPr><p:spPr><a:xfrm><a:off x="502920" y="1737360"/><a:ext cx="2743200" cy="1463040"/></a:xfrm><a:prstGeom prst="rect"><a:avLst/></a:prstGeom><a:solidFill><a:srgbClr val="0B1F3A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8" name="promoCirc0"/><p:cNvSpPr/><p:nvPr/></p:nvSpPr><p:spPr><a:xfrm><a:off x="1325880" y="2011680"/><a:ext cx="1097280" cy="1097280"/></a:xfrm><a:prstGeom prst="ellipse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9" name="promoIcon0"/><p:cNvSpPr txBox="1"/><p:nvPr/></p:nvSpPr><p:spPr><a:xfrm><a:off x="1325880" y="2286000"/><a:ext cx="1097280" cy="548640"/></a:xfrm><a:prstGeom prst="rect"><a:avLst/></a:prstGeom><a:noFill/></p:spPr><p:txBody><a:bodyPr wrap="square"><a:spAutoFit/></a:bodyPr><a:lstStyle/><a:p><a:pPr algn="ctr"/><a:r><a:rPr sz="2200" b="1"><a:solidFill><a:srgbClr val="0B1F3A"/></a:solidFill><a:latin typeface="Segoe UI"/></a:rPr><a:t>✎</a:t></a:r></a:p></p:txBody></p:sp><p:sp><p:nvSpPr><p:cNvPr id="10" name="promoTitle0"/><p:cNvSpPr txBox="1"/><p:nvPr/></p:nvSpPr><p:spPr><a:xfrm><a:off x="685800" y="3474720"/><a:ext cx="2377440" cy="640080"/></a:xfrm><a:prstGeom prst="rect"><a:avLst/></a:prstGeom><a:noFill/></p:spPr><p:txBody><a:bodyPr wrap="square"><a:spAutoFit/></a:bodyPr><a:lstStyle/><a:p><a:pPr algn="ctr"/><a:r><a:rPr sz="1400" b="1"><a:solidFill><a:srgbClr val="0B1F3A"/></a:solidFill><a:latin typeface="Segoe UI"/></a:rPr><a:t>TRAINING</a:t></a:r></a:p></p:txBody></p:sp><p:sp><p:nvSpPr><p:cNvPr id="11" name="promoDesc0"/><p:cNvSpPr txBox="1"/><p:nvPr/></p:nvSpPr><p:spPr><a:xfrm><a:off x="731520" y="4297680"/><a:ext cx="2286000" cy="1097280"/></a:xfrm><a:prstGeom prst="rect"><a:avLst/></a:prstGeom><a:noFill/></p:spPr><p:txBody><a:bodyPr wrap="square"><a:spAutoFit/></a:bodyPr><a:lstStyle/><a:p><a:pPr algn="ctr"/><a:r><a:rPr sz="1300" b="0"><a:solidFill><a:srgbClr val="5A6B7D"/></a:solidFill><a:latin typeface="Segoe UI"/></a:rPr><a:t>Minimum safety training for all employees</a:t></a:r></a:p></p:txBody></p:sp><p:sp><p:nvSpPr><p:cNvPr id="12" name="promoCard1"/><p:cNvSpPr/><p:nvPr/></p:nvSpPr><p:spPr><a:xfrm><a:off x="3429000" y="1737360"/><a:ext cx="2743200" cy="402336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3" name="promoTop1"/><p:cNvSpPr/><p:nvPr/></p:nvSpPr><p:spPr><a:xfrm><a:off x="3429000" y="1737360"/><a:ext cx="2743200" cy="1463040"/></a:xfrm><a:prstGeom prst="rect"><a:avLst/></a:prstGeom><a:solidFill><a:srgbClr val="1AB3A6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4" name="promoCirc1"/><p:cNvSpPr/><p:nvPr/></p:nvSpPr><p:spPr><a:xfrm><a:off x="4251960" y="2011680"/><a:ext cx="1097280" cy="1097280"/></a:xfrm><a:prstGeom prst="ellipse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5" name="promoIcon1"/><p:cNvSpPr txBox="1"/><p:nvPr/></p:nvSpPr><p:spPr><a:xfrm><a:off x="4251960" y="2286000"/><a:ext cx="1097280" cy="548640"/></a:xfrm><a:prstGeom prst="rect"><a:avLst/></a:prstGeom><a:noFill/></p:spPr><p:txBody><a:bodyPr wrap="square"><a:spAutoFit/></a:bodyPr><a:lstStyle/><a:p><a:pPr algn="ctr"/><a:r><a:rPr sz="2200" b="1"><a:solidFill><a:srgbClr val="1AB3A6"/></a:solidFill><a:latin typeface="Segoe UI"/></a:rPr><a:t>◎</a:t></a:r></a:p></p:txBody></p:sp><p:sp><p:nvSpPr><p:cNvPr id="16" name="promoTitle1"/><p:cNvSpPr txBox="1"/><p:nvPr/></p:nvSpPr><p:spPr><a:xfrm><a:off x="3611880" y="3474720"/><a:ext cx="2377440" cy="640080"/></a:xfrm><a:prstGeom prst="rect"><a:avLst/></a:prstGeom><a:noFill/></p:spPr><p:txBody><a:bodyPr wrap="square"><a:spAutoFit/></a:bodyPr><a:lstStyle/><a:p><a:pPr algn="ctr"/><a:r><a:rPr sz="1400" b="1"><a:solidFill><a:srgbClr val="0B1F3A"/></a:solidFill><a:latin typeface="Segoe UI"/></a:rPr><a:t>SMS EDUCATION</a:t></a:r></a:p></p:txBody></p:sp><p:sp><p:nvSpPr><p:cNvPr id="17" name="promoDesc1"/><p:cNvSpPr txBox="1"/><p:nvPr/></p:nvSpPr><p:spPr><a:xfrm><a:off x="3657600" y="4297680"/><a:ext cx="2286000" cy="1097280"/></a:xfrm><a:prstGeom prst="rect"><a:avLst/></a:prstGeom><a:noFill/></p:spPr><p:txBody><a:bodyPr wrap="square"><a:spAutoFit/></a:bodyPr><a:lstStyle/><a:p><a:pPr algn="ctr"/><a:r><a:rPr sz="1300" b="0"><a:solidFill><a:srgbClr val="5A6B7D"/></a:solidFill><a:latin typeface="Segoe UI"/></a:rPr><a:t>Introductory + recurrent SMS training</a:t></a:r></a:p></p:txBody></p:sp><p:sp><p:nvSpPr><p:cNvPr id="18" name="promoCard2"/><p:cNvSpPr/><p:nvPr/></p:nvSpPr><p:spPr><a:xfrm><a:off x="6355080" y="1737360"/><a:ext cx="2743200" cy="402336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9" name="promoTop2"/><p:cNvSpPr/><p:nvPr/></p:nvSpPr><p:spPr><a:xfrm><a:off x="6355080" y="1737360"/><a:ext cx="2743200" cy="146304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0" name="promoCirc2"/><p:cNvSpPr/><p:nvPr/></p:nvSpPr><p:spPr><a:xfrm><a:off x="7178040" y="2011680"/><a:ext cx="1097280" cy="1097280"/></a:xfrm><a:prstGeom prst="ellipse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1" name="promoIcon2"/><p:cNvSpPr txBox="1"/><p:nvPr/></p:nvSpPr><p:spPr><a:xfrm><a:off x="7178040" y="2286000"/><a:ext cx="1097280" cy="548640"/></a:xfrm><a:prstGeom prst="rect"><a:avLst/></a:prstGeom><a:noFill/></p:spPr><p:txBody><a:bodyPr wrap="square"><a:spAutoFit/></a:bodyPr><a:lstStyle/><a:p><a:pPr algn="ctr"/><a:r><a:rPr sz="2200" b="1"><a:solidFill><a:srgbClr val="E8B923"/></a:solidFill><a:latin typeface="Segoe UI"/></a:rPr><a:t>★</a:t></a:r></a:p></p:txBody></p:sp><p:sp><p:nvSpPr><p:cNvPr id="22" name="promoTitle2"/><p:cNvSpPr txBox="1"/><p:nvPr/></p:nvSpPr><p:spPr><a:xfrm><a:off x="6537960" y="3474720"/><a:ext cx="2377440" cy="640080"/></a:xfrm><a:prstGeom prst="rect"><a:avLst/></a:prstGeom><a:noFill/></p:spPr><p:txBody><a:bodyPr wrap="square"><a:spAutoFit/></a:bodyPr><a:lstStyle/><a:p><a:pPr algn="ctr"/><a:r><a:rPr sz="1400" b="1"><a:solidFill><a:srgbClr val="0B1F3A"/></a:solidFill><a:latin typeface="Segoe UI"/></a:rPr><a:t>SAFETY CULTURE</a:t></a:r></a:p></p:txBody></p:sp><p:sp><p:nvSpPr><p:cNvPr id="23" name="promoDesc2"/><p:cNvSpPr txBox="1"/><p:nvPr/></p:nvSpPr><p:spPr><a:xfrm><a:off x="6583680" y="4297680"/><a:ext cx="2286000" cy="1097280"/></a:xfrm><a:prstGeom prst="rect"><a:avLst/></a:prstGeom><a:noFill/></p:spPr><p:txBody><a:bodyPr wrap="square"><a:spAutoFit/></a:bodyPr><a:lstStyle/><a:p><a:pPr algn="ctr"/><a:r><a:rPr sz="1300" b="0"><a:solidFill><a:srgbClr val="5A6B7D"/></a:solidFill><a:latin typeface="Segoe UI"/></a:rPr><a:t>Shared values that make safe choices normal</a:t></a:r></a:p></p:txBody></p:sp><p:sp><p:nvSpPr><p:cNvPr id="24" name="promoCard3"/><p:cNvSpPr/><p:nvPr/></p:nvSpPr><p:spPr><a:xfrm><a:off x="9281160" y="1737360"/><a:ext cx="2743200" cy="402336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5" name="promoTop3"/><p:cNvSpPr/><p:nvPr/></p:nvSpPr><p:spPr><a:xfrm><a:off x="9281160" y="1737360"/><a:ext cx="2743200" cy="1463040"/></a:xfrm><a:prstGeom prst="rect"><a:avLst/></a:prstGeom><a:solidFill><a:srgbClr val="E67E2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6" name="promoCirc3"/><p:cNvSpPr/><p:nvPr/></p:nvSpPr><p:spPr><a:xfrm><a:off x="10104120" y="2011680"/><a:ext cx="1097280" cy="1097280"/></a:xfrm><a:prstGeom prst="ellipse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7" name="promoIcon3"/><p:cNvSpPr txBox="1"/><p:nvPr/></p:nvSpPr><p:spPr><a:xfrm><a:off x="10104120" y="2286000"/><a:ext cx="1097280" cy="548640"/></a:xfrm><a:prstGeom prst="rect"><a:avLst/></a:prstGeom><a:noFill/></p:spPr><p:txBody><a:bodyPr wrap="square"><a:spAutoFit/></a:bodyPr><a:lstStyle/><a:p><a:pPr algn="ctr"/><a:r><a:rPr sz="2200" b="1"><a:solidFill><a:srgbClr val="E67E22"/></a:solidFill><a:latin typeface="Segoe UI"/></a:rPr><a:t>▲</a:t></a:r></a:p></p:txBody></p:sp><p:sp><p:nvSpPr><p:cNvPr id="28" name="promoTitle3"/><p:cNvSpPr txBox="1"/><p:nvPr/></p:nvSpPr><p:spPr><a:xfrm><a:off x="9464040" y="3474720"/><a:ext cx="2377440" cy="640080"/></a:xfrm><a:prstGeom prst="rect"><a:avLst/></a:prstGeom><a:noFill/></p:spPr><p:txBody><a:bodyPr wrap="square"><a:spAutoFit/></a:bodyPr><a:lstStyle/><a:p><a:pPr algn="ctr"/><a:r><a:rPr sz="1400" b="1"><a:solidFill><a:srgbClr val="0B1F3A"/></a:solidFill><a:latin typeface="Segoe UI"/></a:rPr><a:t>PROMOTION</a:t></a:r></a:p></p:txBody></p:sp><p:sp><p:nvSpPr><p:cNvPr id="29" name="promoDesc3"/><p:cNvSpPr txBox="1"/><p:nvPr/></p:nvSpPr><p:spPr><a:xfrm><a:off x="9509760" y="4297680"/><a:ext cx="2286000" cy="1097280"/></a:xfrm><a:prstGeom prst="rect"><a:avLst/></a:prstGeom><a:noFill/></p:spPr><p:txBody><a:bodyPr wrap="square"><a:spAutoFit/></a:bodyPr><a:lstStyle/><a:p><a:pPr algn="ctr"/><a:r><a:rPr sz="1300" b="0"><a:solidFill><a:srgbClr val="5A6B7D"/></a:solidFill><a:latin typeface="Segoe UI"/></a:rPr><a:t>Visible leadership · open reporting · recognition</a:t></a:r></a:p></p:txBody></p:sp></p:spTree></p:cSld><p:clrMapOvr><a:masterClrMapping/></p:clrMapOvr><ns0:AlternateContent xmlns:ns0="http://schemas.openxmlformats.org/markup-compatibility/2006"><ns0:Choice Requires="p14"><p:transition spd="med"><ns1:morph xmlns:ns1="http://schemas.microsoft.com/office/powerpoint/2010/main" option="byObject"/></p:transition></ns0:Choice><ns0:Fallback><p:transition spd="med"><p:fade/></p:transition></ns0:Fallback></ns0:AlternateContent></p:sld>
</file>

<file path=ppt/slides/slide20.xml><?xml version='1.0' encoding='UTF-8' standalone='yes'?>
<p:sld xmlns:a="http://schemas.openxmlformats.org/drawingml/2006/main" xmlns:p="http://schemas.openxmlformats.org/presentationml/2006/main" xmlns:r="http://schemas.openxmlformats.org/officeDocument/2006/relationships" xmlns:ns2="http://www.w3.org/2000/xmlns/" ns2:p14="http://schemas.microsoft.com/office/powerpoint/2010/main" ns2:mc="http://schemas.openxmlformats.org/markup-compatibility/2006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Rectangle 2"/><p:cNvSpPr/><p:nvPr/></p:nvSpPr><p:spPr><a:xfrm><a:off x="0" y="0"/><a:ext cx="109728" cy="685800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" name="sectionLabel"/><p:cNvSpPr txBox="1"/><p:nvPr/></p:nvSpPr><p:spPr><a:xfrm><a:off x="640080" y="320040"/><a:ext cx="5486400" cy="320040"/></a:xfrm><a:prstGeom prst="rect"><a:avLst/></a:prstGeom><a:noFill/></p:spPr><p:txBody><a:bodyPr wrap="square"><a:spAutoFit/></a:bodyPr><a:lstStyle/><a:p><a:pPr algn="l"/><a:r><a:rPr sz="1100" b="1"><a:solidFill><a:srgbClr val="E8B923"/></a:solidFill><a:latin typeface="Segoe UI"/></a:rPr><a:t>CAPABILITY</a:t></a:r></a:p></p:txBody></p:sp><p:sp><p:nvSpPr><p:cNvPr id="5" name="slideTitle"/><p:cNvSpPr txBox="1"/><p:nvPr/></p:nvSpPr><p:spPr><a:xfrm><a:off x="640080" y="594360"/><a:ext cx="10515600" cy="640080"/></a:xfrm><a:prstGeom prst="rect"><a:avLst/></a:prstGeom><a:noFill/></p:spPr><p:txBody><a:bodyPr wrap="square"><a:spAutoFit/></a:bodyPr><a:lstStyle/><a:p><a:pPr algn="l"/><a:r><a:rPr sz="3200" b="1"><a:solidFill><a:srgbClr val="0B1F3A"/></a:solidFill><a:latin typeface="Segoe UI Semibold"/></a:rPr><a:t>Training Coverage Target</a:t></a:r></a:p></p:txBody></p:sp><p:graphicFrame><p:nvGraphicFramePr><p:cNvPr id="6" name="Chart 5"/><p:cNvGraphicFramePr><a:graphicFrameLocks noGrp="1"/></p:cNvGraphicFramePr><p:nvPr/></p:nvGraphicFramePr><p:xfrm><a:off x="640080" y="1463040"/><a:ext cx="7772400" cy="4754880"/></p:xfrm><a:graphic><a:graphicData uri="http://schemas.openxmlformats.org/drawingml/2006/chart"><c:chart xmlns:c="http://schemas.openxmlformats.org/drawingml/2006/chart" r:id="rId2"/></a:graphicData></a:graphic></p:graphicFrame><p:sp><p:nvSpPr><p:cNvPr id="7" name="trainCall"/><p:cNvSpPr/><p:nvPr/></p:nvSpPr><p:spPr><a:xfrm><a:off x="8686800" y="2286000"/><a:ext cx="3017520" cy="2926080"/></a:xfrm><a:prstGeom prst="roundRect"><a:avLst/></a:prstGeom><a:solidFill><a:srgbClr val="0B1F3A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8" name="trainCallText"/><p:cNvSpPr txBox="1"/><p:nvPr/></p:nvSpPr><p:spPr><a:xfrm><a:off x="8869680" y="2651760"/><a:ext cx="2651760" cy="2286000"/></a:xfrm><a:prstGeom prst="rect"><a:avLst/></a:prstGeom><a:noFill/></p:spPr><p:txBody><a:bodyPr wrap="square"><a:spAutoFit/></a:bodyPr><a:lstStyle/><a:p><a:pPr algn="ctr"/><a:r><a:rPr sz="1200" b="1"><a:solidFill><a:srgbClr val="E8B923"/></a:solidFill><a:latin typeface="Segoe UI"/></a:rPr><a:t>GOAL</a:t></a:r></a:p><a:p><a:pPr algn="ctr"><a:spcBef><a:spcPts val="1200"/></a:spcBef><a:spcAft><a:spcPts val="0"/></a:spcAft></a:pPr><a:r><a:rPr sz="4000" b="1"><a:solidFill><a:srgbClr val="FFFFFF"/></a:solidFill><a:latin typeface="Segoe UI"/></a:rPr><a:t>100%</a:t></a:r></a:p><a:p><a:pPr algn="ctr"><a:spcBef><a:spcPts val="1000"/></a:spcBef><a:spcAft><a:spcPts val="0"/></a:spcAft></a:pPr><a:r><a:rPr sz="1300" b="0"><a:solidFill><a:srgbClr val="A8B8C8"/></a:solidFill><a:latin typeface="Segoe UI"/></a:rPr><a:t>of personnel trained
&amp; current on SMS</a:t></a:r></a:p></p:txBody></p:sp></p:spTree></p:cSld><p:clrMapOvr><a:masterClrMapping/></p:clrMapOvr><ns0:AlternateContent xmlns:ns0="http://schemas.openxmlformats.org/markup-compatibility/2006"><ns0:Choice Requires="p14"><p:transition spd="med"><ns1:morph xmlns:ns1="http://schemas.microsoft.com/office/powerpoint/2010/main" option="byObject"/></p:transition></ns0:Choice><ns0:Fallback><p:transition spd="med"><p:fade/></p:transition></ns0:Fallback></ns0:AlternateContent></p:sld>
</file>

<file path=ppt/slides/slide21.xml><?xml version='1.0' encoding='UTF-8' standalone='yes'?>
<p:sld xmlns:a="http://schemas.openxmlformats.org/drawingml/2006/main" xmlns:p="http://schemas.openxmlformats.org/presentationml/2006/main" xmlns:r="http://schemas.openxmlformats.org/officeDocument/2006/relationships" xmlns:ns2="http://www.w3.org/2000/xmlns/" ns2:p14="http://schemas.microsoft.com/office/powerpoint/2010/main" ns2:mc="http://schemas.openxmlformats.org/markup-compatibility/2006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F4F7FB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Rectangle 2"/><p:cNvSpPr/><p:nvPr/></p:nvSpPr><p:spPr><a:xfrm><a:off x="0" y="0"/><a:ext cx="109728" cy="6858000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" name="sectionLabel"/><p:cNvSpPr txBox="1"/><p:nvPr/></p:nvSpPr><p:spPr><a:xfrm><a:off x="640080" y="320040"/><a:ext cx="5486400" cy="320040"/></a:xfrm><a:prstGeom prst="rect"><a:avLst/></a:prstGeom><a:noFill/></p:spPr><p:txBody><a:bodyPr wrap="square"><a:spAutoFit/></a:bodyPr><a:lstStyle/><a:p><a:pPr algn="l"/><a:r><a:rPr sz="1100" b="1"><a:solidFill><a:srgbClr val="E8B923"/></a:solidFill><a:latin typeface="Segoe UI"/></a:rPr><a:t>EXECUTIVE SUMMARY</a:t></a:r></a:p></p:txBody></p:sp><p:sp><p:nvSpPr><p:cNvPr id="5" name="slideTitle"/><p:cNvSpPr txBox="1"/><p:nvPr/></p:nvSpPr><p:spPr><a:xfrm><a:off x="640080" y="594360"/><a:ext cx="10515600" cy="640080"/></a:xfrm><a:prstGeom prst="rect"><a:avLst/></a:prstGeom><a:noFill/></p:spPr><p:txBody><a:bodyPr wrap="square"><a:spAutoFit/></a:bodyPr><a:lstStyle/><a:p><a:pPr algn="l"/><a:r><a:rPr sz="3200" b="1"><a:solidFill><a:srgbClr val="0B1F3A"/></a:solidFill><a:latin typeface="Segoe UI Semibold"/></a:rPr><a:t>What We Need From Leadership</a:t></a:r></a:p></p:txBody></p:sp><p:sp><p:nvSpPr><p:cNvPr id="6" name="askCard0"/><p:cNvSpPr/><p:nvPr/></p:nvSpPr><p:spPr><a:xfrm><a:off x="548640" y="1737360"/><a:ext cx="2743200" cy="38404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7" name="askTop0"/><p:cNvSpPr/><p:nvPr/></p:nvSpPr><p:spPr><a:xfrm><a:off x="548640" y="1737360"/><a:ext cx="2743200" cy="109728"/></a:xfrm><a:prstGeom prst="rect"><a:avLst/></a:prstGeom><a:solidFill><a:srgbClr val="E8B923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8" name="askNum0"/><p:cNvSpPr txBox="1"/><p:nvPr/></p:nvSpPr><p:spPr><a:xfrm><a:off x="777240" y="2103120"/><a:ext cx="2286000" cy="457200"/></a:xfrm><a:prstGeom prst="rect"><a:avLst/></a:prstGeom><a:noFill/></p:spPr><p:txBody><a:bodyPr wrap="square"><a:spAutoFit/></a:bodyPr><a:lstStyle/><a:p><a:pPr algn="l"/><a:r><a:rPr sz="2800" b="1"><a:solidFill><a:srgbClr val="E8B923"/></a:solidFill><a:latin typeface="Segoe UI"/></a:rPr><a:t>01</a:t></a:r></a:p></p:txBody></p:sp><p:sp><p:nvSpPr><p:cNvPr id="9" name="askTitle0"/><p:cNvSpPr txBox="1"/><p:nvPr/></p:nvSpPr><p:spPr><a:xfrm><a:off x="777240" y="2834640"/><a:ext cx="2286000" cy="457200"/></a:xfrm><a:prstGeom prst="rect"><a:avLst/></a:prstGeom><a:noFill/></p:spPr><p:txBody><a:bodyPr wrap="square"><a:spAutoFit/></a:bodyPr><a:lstStyle/><a:p><a:pPr algn="l"/><a:r><a:rPr sz="2200" b="1"><a:solidFill><a:srgbClr val="0B1F3A"/></a:solidFill><a:latin typeface="Segoe UI"/></a:rPr><a:t>Endorse</a:t></a:r></a:p></p:txBody></p:sp><p:sp><p:nvSpPr><p:cNvPr id="10" name="askDesc0"/><p:cNvSpPr txBox="1"/><p:nvPr/></p:nvSpPr><p:spPr><a:xfrm><a:off x="777240" y="3566160"/><a:ext cx="2286000" cy="1371600"/></a:xfrm><a:prstGeom prst="rect"><a:avLst/></a:prstGeom><a:noFill/></p:spPr><p:txBody><a:bodyPr wrap="square"><a:spAutoFit/></a:bodyPr><a:lstStyle/><a:p><a:pPr algn="l"/><a:r><a:rPr sz="1400" b="0"><a:solidFill><a:srgbClr val="5A6B7D"/></a:solidFill><a:latin typeface="Segoe UI"/></a:rPr><a:t>Approve the Safety Policy &amp; SMS objectives</a:t></a:r></a:p></p:txBody></p:sp><p:sp><p:nvSpPr><p:cNvPr id="11" name="askCard1"/><p:cNvSpPr/><p:nvPr/></p:nvSpPr><p:spPr><a:xfrm><a:off x="3429000" y="1737360"/><a:ext cx="2743200" cy="38404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2" name="askTop1"/><p:cNvSpPr/><p:nvPr/></p:nvSpPr><p:spPr><a:xfrm><a:off x="3429000" y="1737360"/><a:ext cx="2743200" cy="109728"/></a:xfrm><a:prstGeom prst="rect"><a:avLst/></a:prstGeom><a:solidFill><a:srgbClr val="1AB3A6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3" name="askNum1"/><p:cNvSpPr txBox="1"/><p:nvPr/></p:nvSpPr><p:spPr><a:xfrm><a:off x="3657600" y="2103120"/><a:ext cx="2286000" cy="457200"/></a:xfrm><a:prstGeom prst="rect"><a:avLst/></a:prstGeom><a:noFill/></p:spPr><p:txBody><a:bodyPr wrap="square"><a:spAutoFit/></a:bodyPr><a:lstStyle/><a:p><a:pPr algn="l"/><a:r><a:rPr sz="2800" b="1"><a:solidFill><a:srgbClr val="1AB3A6"/></a:solidFill><a:latin typeface="Segoe UI"/></a:rPr><a:t>02</a:t></a:r></a:p></p:txBody></p:sp><p:sp><p:nvSpPr><p:cNvPr id="14" name="askTitle1"/><p:cNvSpPr txBox="1"/><p:nvPr/></p:nvSpPr><p:spPr><a:xfrm><a:off x="3657600" y="2834640"/><a:ext cx="2286000" cy="457200"/></a:xfrm><a:prstGeom prst="rect"><a:avLst/></a:prstGeom><a:noFill/></p:spPr><p:txBody><a:bodyPr wrap="square"><a:spAutoFit/></a:bodyPr><a:lstStyle/><a:p><a:pPr algn="l"/><a:r><a:rPr sz="2200" b="1"><a:solidFill><a:srgbClr val="0B1F3A"/></a:solidFill><a:latin typeface="Segoe UI"/></a:rPr><a:t>Resource</a:t></a:r></a:p></p:txBody></p:sp><p:sp><p:nvSpPr><p:cNvPr id="15" name="askDesc1"/><p:cNvSpPr txBox="1"/><p:nvPr/></p:nvSpPr><p:spPr><a:xfrm><a:off x="3657600" y="3566160"/><a:ext cx="2286000" cy="1371600"/></a:xfrm><a:prstGeom prst="rect"><a:avLst/></a:prstGeom><a:noFill/></p:spPr><p:txBody><a:bodyPr wrap="square"><a:spAutoFit/></a:bodyPr><a:lstStyle/><a:p><a:pPr algn="l"/><a:r><a:rPr sz="1400" b="0"><a:solidFill><a:srgbClr val="5A6B7D"/></a:solidFill><a:latin typeface="Segoe UI"/></a:rPr><a:t>Fund the Safety Manager role &amp; tools</a:t></a:r></a:p></p:txBody></p:sp><p:sp><p:nvSpPr><p:cNvPr id="16" name="askCard2"/><p:cNvSpPr/><p:nvPr/></p:nvSpPr><p:spPr><a:xfrm><a:off x="6309359" y="1737360"/><a:ext cx="2743200" cy="38404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7" name="askTop2"/><p:cNvSpPr/><p:nvPr/></p:nvSpPr><p:spPr><a:xfrm><a:off x="6309359" y="1737360"/><a:ext cx="2743200" cy="109728"/></a:xfrm><a:prstGeom prst="rect"><a:avLst/></a:prstGeom><a:solidFill><a:srgbClr val="2E86DE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8" name="askNum2"/><p:cNvSpPr txBox="1"/><p:nvPr/></p:nvSpPr><p:spPr><a:xfrm><a:off x="6537959" y="2103120"/><a:ext cx="2286000" cy="457200"/></a:xfrm><a:prstGeom prst="rect"><a:avLst/></a:prstGeom><a:noFill/></p:spPr><p:txBody><a:bodyPr wrap="square"><a:spAutoFit/></a:bodyPr><a:lstStyle/><a:p><a:pPr algn="l"/><a:r><a:rPr sz="2800" b="1"><a:solidFill><a:srgbClr val="2E86DE"/></a:solidFill><a:latin typeface="Segoe UI"/></a:rPr><a:t>03</a:t></a:r></a:p></p:txBody></p:sp><p:sp><p:nvSpPr><p:cNvPr id="19" name="askTitle2"/><p:cNvSpPr txBox="1"/><p:nvPr/></p:nvSpPr><p:spPr><a:xfrm><a:off x="6537959" y="2834640"/><a:ext cx="2286000" cy="457200"/></a:xfrm><a:prstGeom prst="rect"><a:avLst/></a:prstGeom><a:noFill/></p:spPr><p:txBody><a:bodyPr wrap="square"><a:spAutoFit/></a:bodyPr><a:lstStyle/><a:p><a:pPr algn="l"/><a:r><a:rPr sz="2200" b="1"><a:solidFill><a:srgbClr val="0B1F3A"/></a:solidFill><a:latin typeface="Segoe UI"/></a:rPr><a:t>Own</a:t></a:r></a:p></p:txBody></p:sp><p:sp><p:nvSpPr><p:cNvPr id="20" name="askDesc2"/><p:cNvSpPr txBox="1"/><p:nvPr/></p:nvSpPr><p:spPr><a:xfrm><a:off x="6537959" y="3566160"/><a:ext cx="2286000" cy="1371600"/></a:xfrm><a:prstGeom prst="rect"><a:avLst/></a:prstGeom><a:noFill/></p:spPr><p:txBody><a:bodyPr wrap="square"><a:spAutoFit/></a:bodyPr><a:lstStyle/><a:p><a:pPr algn="l"/><a:r><a:rPr sz="1400" b="0"><a:solidFill><a:srgbClr val="5A6B7D"/></a:solidFill><a:latin typeface="Segoe UI"/></a:rPr><a:t>Hold line managers accountable as SMS owners</a:t></a:r></a:p></p:txBody></p:sp><p:sp><p:nvSpPr><p:cNvPr id="21" name="askCard3"/><p:cNvSpPr/><p:nvPr/></p:nvSpPr><p:spPr><a:xfrm><a:off x="9189719" y="1737360"/><a:ext cx="2743200" cy="3840480"/></a:xfrm><a:prstGeom prst="round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2" name="askTop3"/><p:cNvSpPr/><p:nvPr/></p:nvSpPr><p:spPr><a:xfrm><a:off x="9189719" y="1737360"/><a:ext cx="2743200" cy="109728"/></a:xfrm><a:prstGeom prst="rect"><a:avLst/></a:prstGeom><a:solidFill><a:srgbClr val="E67E2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23" name="askNum3"/><p:cNvSpPr txBox="1"/><p:nvPr/></p:nvSpPr><p:spPr><a:xfrm><a:off x="9418319" y="2103120"/><a:ext cx="2286000" cy="457200"/></a:xfrm><a:prstGeom prst="rect"><a:avLst/></a:prstGeom><a:noFill/></p:spPr><p:txBody><a:bodyPr wrap="square"><a:spAutoFit/></a:bodyPr><a:lstStyle/><a:p><a:pPr algn="l"/><a:r><a:rPr sz="2800" b="1"><a:solidFill><a:srgbClr val="E67E22"/></a:solidFill><a:latin typeface="Segoe UI"/></a:rPr><a:t>04</a:t></a:r></a:p></p:txBody></p:sp><p:sp><p:nvSpPr><p:cNvPr id="24" name="askTitle3"/><p:cNvSpPr txBox="1"/><p:nvPr/></p:nvSpPr><p:spPr><a:xfrm><a:off x="9418319" y="2834640"/><a:ext cx="2286000" cy="457200"/></a:xfrm><a:prstGeom prst="rect"><a:avLst/></a:prstGeom><a:noFill/></p:spPr><p:txBody><a:bodyPr wrap="square"><a:spAutoFit/></a:bodyPr><a:lstStyle/><a:p><a:pPr algn="l"/><a:r><a:rPr sz="2200" b="1"><a:solidFill><a:srgbClr val="0B1F3A"/></a:solidFill><a:latin typeface="Segoe UI"/></a:rPr><a:t>Champion</a:t></a:r></a:p></p:txBody></p:sp><p:sp><p:nvSpPr><p:cNvPr id="25" name="askDesc3"/><p:cNvSpPr txBox="1"/><p:nvPr/></p:nvSpPr><p:spPr><a:xfrm><a:off x="9418319" y="3566160"/><a:ext cx="2286000" cy="1371600"/></a:xfrm><a:prstGeom prst="rect"><a:avLst/></a:prstGeom><a:noFill/></p:spPr><p:txBody><a:bodyPr wrap="square"><a:spAutoFit/></a:bodyPr><a:lstStyle/><a:p><a:pPr algn="l"/><a:r><a:rPr sz="1400" b="0"><a:solidFill><a:srgbClr val="5A6B7D"/></a:solidFill><a:latin typeface="Segoe UI"/></a:rPr><a:t>Visible leadership for reporting &amp; culture</a:t></a:r></a:p></p:txBody></p:sp></p:spTree></p:cSld><p:clrMapOvr><a:masterClrMapping/></p:clrMapOvr><ns0:AlternateContent xmlns:ns0="http://schemas.openxmlformats.org/markup-compatibility/2006"><ns0:Choice Requires="p14"><p:transition spd="med"><ns1:morph xmlns:ns1="http://schemas.microsoft.com/office/powerpoint/2010/main" option="byObject"/></p:transition></ns0:Choice><ns0:Fallback><p:transition spd="med"><p:fade/></p:transition></ns0:Fallback></ns0:AlternateContent>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loseLabel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B923"/>
                </a:solidFill>
                <a:latin typeface="Segoe UI"/>
              </a:rPr>
              <a:t>NEXT STEP</a:t>
            </a:r>
          </a:p>
        </p:txBody>
      </p:sp>
      <p:sp>
        <p:nvSpPr>
          <p:cNvPr id="5" name="closeTitle"/>
          <p:cNvSpPr txBox="1"/>
          <p:nvPr/>
        </p:nvSpPr>
        <p:spPr>
          <a:xfrm>
            <a:off x="822960" y="25603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Segoe UI Semibold"/>
              </a:rPr>
              <a:t>Approve. Resource. Lead.</a:t>
            </a:r>
          </a:p>
        </p:txBody>
      </p:sp>
      <p:sp>
        <p:nvSpPr>
          <p:cNvPr id="6" name="closeSub"/>
          <p:cNvSpPr txBox="1"/>
          <p:nvPr/>
        </p:nvSpPr>
        <p:spPr>
          <a:xfrm>
            <a:off x="822960" y="38404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B8C8"/>
                </a:solidFill>
                <a:latin typeface="Segoe UI"/>
              </a:rPr>
              <a:t>A continuous reduction in mishaps starts with management commitment today.</a:t>
            </a:r>
          </a:p>
        </p:txBody>
      </p:sp>
      <p:sp>
        <p:nvSpPr>
          <p:cNvPr id="7" name="closeDot0"/>
          <p:cNvSpPr/>
          <p:nvPr/>
        </p:nvSpPr>
        <p:spPr>
          <a:xfrm>
            <a:off x="822960" y="5029200"/>
            <a:ext cx="164592" cy="164592"/>
          </a:xfrm>
          <a:prstGeom prst="ellipse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loseDot1"/>
          <p:cNvSpPr/>
          <p:nvPr/>
        </p:nvSpPr>
        <p:spPr>
          <a:xfrm>
            <a:off x="1143000" y="5029200"/>
            <a:ext cx="164592" cy="164592"/>
          </a:xfrm>
          <a:prstGeom prst="ellipse">
            <a:avLst/>
          </a:prstGeom>
          <a:solidFill>
            <a:srgbClr val="1A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loseDot2"/>
          <p:cNvSpPr/>
          <p:nvPr/>
        </p:nvSpPr>
        <p:spPr>
          <a:xfrm>
            <a:off x="1463040" y="5029200"/>
            <a:ext cx="164592" cy="164592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