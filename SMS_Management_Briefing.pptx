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Events</c:v>
                </c:pt>
              </c:strCache>
            </c:strRef>
          </c:tx>
          <c:dPt>
            <c:idx val="0"/>
            <c:spPr>
              <a:solidFill>
                <a:srgbClr val="F1C40F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E74C3C"/>
              </a:solidFill>
            </c:spPr>
          </c:dPt>
          <c:cat>
            <c:strRef>
              <c:f>Sheet1!$A$2:$A$4</c:f>
              <c:strCache>
                <c:ptCount val="3"/>
                <c:pt idx="0">
                  <c:v>Close Calls</c:v>
                </c:pt>
                <c:pt idx="1">
                  <c:v>Incidents</c:v>
                </c:pt>
                <c:pt idx="2">
                  <c:v>Accidents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</c:v>
                </c:pt>
                <c:pt idx="1">
                  <c:v>1000</c:v>
                </c:pt>
                <c:pt idx="2">
                  <c:v>1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Previous</c:v>
                </c:pt>
              </c:strCache>
            </c:strRef>
          </c:tx>
          <c:spPr>
            <a:solidFill>
              <a:srgbClr val="5A6B7D"/>
            </a:solidFill>
          </c:spPr>
          <c:cat>
            <c:strRef>
              <c:f>Sheet1!$A$2:$A$5</c:f>
              <c:strCache>
                <c:ptCount val="4"/>
                <c:pt idx="0">
                  <c:v>Damage-only
Events</c:v>
                </c:pt>
                <c:pt idx="1">
                  <c:v>Near-miss
Accidents</c:v>
                </c:pt>
                <c:pt idx="2">
                  <c:v>Lessons
Learned</c:v>
                </c:pt>
                <c:pt idx="3">
                  <c:v>CAPs
Closed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42</c:v>
                </c:pt>
                <c:pt idx="2">
                  <c:v>12</c:v>
                </c:pt>
                <c:pt idx="3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1AB3A6"/>
            </a:solidFill>
          </c:spPr>
          <c:cat>
            <c:strRef>
              <c:f>Sheet1!$A$2:$A$5</c:f>
              <c:strCache>
                <c:ptCount val="4"/>
                <c:pt idx="0">
                  <c:v>Damage-only
Events</c:v>
                </c:pt>
                <c:pt idx="1">
                  <c:v>Near-miss
Accidents</c:v>
                </c:pt>
                <c:pt idx="2">
                  <c:v>Lessons
Learned</c:v>
                </c:pt>
                <c:pt idx="3">
                  <c:v>CAPs
Closed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</c:v>
                </c:pt>
                <c:pt idx="1">
                  <c:v>28</c:v>
                </c:pt>
                <c:pt idx="2">
                  <c:v>24</c:v>
                </c:pt>
                <c:pt idx="3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Target %</c:v>
                </c:pt>
              </c:strCache>
            </c:strRef>
          </c:tx>
          <c:spPr>
            <a:solidFill>
              <a:srgbClr val="E8B923"/>
            </a:solidFill>
          </c:spPr>
          <c:cat>
            <c:strRef>
              <c:f>Sheet1!$A$2:$A$5</c:f>
              <c:strCache>
                <c:ptCount val="4"/>
                <c:pt idx="0">
                  <c:v>All Employees
(Minimum Safety)</c:v>
                </c:pt>
                <c:pt idx="1">
                  <c:v>Introductory
SMS</c:v>
                </c:pt>
                <c:pt idx="2">
                  <c:v>Recurrent
SMS</c:v>
                </c:pt>
                <c:pt idx="3">
                  <c:v>Leadership
Safety Brief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 %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Sheet1!$A$2:$A$5</c:f>
              <c:strCache>
                <c:ptCount val="4"/>
                <c:pt idx="0">
                  <c:v>All Employees
(Minimum Safety)</c:v>
                </c:pt>
                <c:pt idx="1">
                  <c:v>Introductory
SMS</c:v>
                </c:pt>
                <c:pt idx="2">
                  <c:v>Recurrent
SMS</c:v>
                </c:pt>
                <c:pt idx="3">
                  <c:v>Leadership
Safety Brief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92</c:v>
                </c:pt>
                <c:pt idx="1">
                  <c:v>78</c:v>
                </c:pt>
                <c:pt idx="2">
                  <c:v>65</c:v>
                </c:pt>
                <c:pt idx="3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686800" y="0"/>
            <a:ext cx="3566160" cy="6858000"/>
          </a:xfrm>
          <a:prstGeom prst="rtTriangl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645920" cy="54864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rand"/>
          <p:cNvSpPr txBox="1"/>
          <p:nvPr/>
        </p:nvSpPr>
        <p:spPr>
          <a:xfrm>
            <a:off x="822960" y="1645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B923"/>
                </a:solidFill>
                <a:latin typeface="Segoe UI"/>
              </a:rPr>
              <a:t>SAFETY MANAGEMENT SYSTEM</a:t>
            </a:r>
          </a:p>
        </p:txBody>
      </p:sp>
      <p:sp>
        <p:nvSpPr>
          <p:cNvPr id="6" name="mainTitle"/>
          <p:cNvSpPr txBox="1"/>
          <p:nvPr/>
        </p:nvSpPr>
        <p:spPr>
          <a:xfrm>
            <a:off x="82296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 Semibold"/>
              </a:rPr>
              <a:t>Building a Culture of
Continuous Safety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822960" y="5029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B8C8"/>
                </a:solidFill>
                <a:latin typeface="Segoe UI"/>
              </a:rPr>
              <a:t>Executive Briefing  ·  Policy · Risk · Assurance · Promotion</a:t>
            </a:r>
          </a:p>
        </p:txBody>
      </p:sp>
      <p:sp>
        <p:nvSpPr>
          <p:cNvPr id="8" name="dot0"/>
          <p:cNvSpPr/>
          <p:nvPr/>
        </p:nvSpPr>
        <p:spPr>
          <a:xfrm>
            <a:off x="822960" y="5943600"/>
            <a:ext cx="164592" cy="164592"/>
          </a:xfrm>
          <a:prstGeom prst="ellipse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t1"/>
          <p:cNvSpPr/>
          <p:nvPr/>
        </p:nvSpPr>
        <p:spPr>
          <a:xfrm>
            <a:off x="1143000" y="5943600"/>
            <a:ext cx="164592" cy="164592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t2"/>
          <p:cNvSpPr/>
          <p:nvPr/>
        </p:nvSpPr>
        <p:spPr>
          <a:xfrm>
            <a:off x="1463040" y="5943600"/>
            <a:ext cx="164592" cy="164592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ROADMAP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Today's Focus</a:t>
            </a:r>
          </a:p>
        </p:txBody>
      </p:sp>
      <p:sp>
        <p:nvSpPr>
          <p:cNvPr id="6" name="agendaCard0"/>
          <p:cNvSpPr/>
          <p:nvPr/>
        </p:nvSpPr>
        <p:spPr>
          <a:xfrm>
            <a:off x="640080" y="2011680"/>
            <a:ext cx="26517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daBar0"/>
          <p:cNvSpPr/>
          <p:nvPr/>
        </p:nvSpPr>
        <p:spPr>
          <a:xfrm>
            <a:off x="640080" y="2011680"/>
            <a:ext cx="2651760" cy="9144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gendaNum0"/>
          <p:cNvSpPr txBox="1"/>
          <p:nvPr/>
        </p:nvSpPr>
        <p:spPr>
          <a:xfrm>
            <a:off x="868680" y="2468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8B923"/>
                </a:solidFill>
                <a:latin typeface="Segoe UI"/>
              </a:rPr>
              <a:t>01</a:t>
            </a:r>
          </a:p>
        </p:txBody>
      </p:sp>
      <p:sp>
        <p:nvSpPr>
          <p:cNvPr id="9" name="agendaTitle0"/>
          <p:cNvSpPr txBox="1"/>
          <p:nvPr/>
        </p:nvSpPr>
        <p:spPr>
          <a:xfrm>
            <a:off x="868680" y="3383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Safety Policy</a:t>
            </a:r>
          </a:p>
        </p:txBody>
      </p:sp>
      <p:sp>
        <p:nvSpPr>
          <p:cNvPr id="10" name="agendaDesc0"/>
          <p:cNvSpPr txBox="1"/>
          <p:nvPr/>
        </p:nvSpPr>
        <p:spPr>
          <a:xfrm>
            <a:off x="868680" y="42976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Values, objectives &amp; ownership</a:t>
            </a:r>
          </a:p>
        </p:txBody>
      </p:sp>
      <p:sp>
        <p:nvSpPr>
          <p:cNvPr id="11" name="agendaCard1"/>
          <p:cNvSpPr/>
          <p:nvPr/>
        </p:nvSpPr>
        <p:spPr>
          <a:xfrm>
            <a:off x="3474720" y="2011680"/>
            <a:ext cx="26517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gendaBar1"/>
          <p:cNvSpPr/>
          <p:nvPr/>
        </p:nvSpPr>
        <p:spPr>
          <a:xfrm>
            <a:off x="3474720" y="2011680"/>
            <a:ext cx="2651760" cy="91440"/>
          </a:xfrm>
          <a:prstGeom prst="rect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gendaNum1"/>
          <p:cNvSpPr txBox="1"/>
          <p:nvPr/>
        </p:nvSpPr>
        <p:spPr>
          <a:xfrm>
            <a:off x="3703320" y="2468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B3A6"/>
                </a:solidFill>
                <a:latin typeface="Segoe UI"/>
              </a:rPr>
              <a:t>02</a:t>
            </a:r>
          </a:p>
        </p:txBody>
      </p:sp>
      <p:sp>
        <p:nvSpPr>
          <p:cNvPr id="14" name="agendaTitle1"/>
          <p:cNvSpPr txBox="1"/>
          <p:nvPr/>
        </p:nvSpPr>
        <p:spPr>
          <a:xfrm>
            <a:off x="3703320" y="3383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Safety Risk Management</a:t>
            </a:r>
          </a:p>
        </p:txBody>
      </p:sp>
      <p:sp>
        <p:nvSpPr>
          <p:cNvPr id="15" name="agendaDesc1"/>
          <p:cNvSpPr txBox="1"/>
          <p:nvPr/>
        </p:nvSpPr>
        <p:spPr>
          <a:xfrm>
            <a:off x="3703320" y="42976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Identify · Assess · Mitigate</a:t>
            </a:r>
          </a:p>
        </p:txBody>
      </p:sp>
      <p:sp>
        <p:nvSpPr>
          <p:cNvPr id="16" name="agendaCard2"/>
          <p:cNvSpPr/>
          <p:nvPr/>
        </p:nvSpPr>
        <p:spPr>
          <a:xfrm>
            <a:off x="6309360" y="2011680"/>
            <a:ext cx="26517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gendaBar2"/>
          <p:cNvSpPr/>
          <p:nvPr/>
        </p:nvSpPr>
        <p:spPr>
          <a:xfrm>
            <a:off x="6309360" y="2011680"/>
            <a:ext cx="2651760" cy="9144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gendaNum2"/>
          <p:cNvSpPr txBox="1"/>
          <p:nvPr/>
        </p:nvSpPr>
        <p:spPr>
          <a:xfrm>
            <a:off x="6537960" y="2468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E86DE"/>
                </a:solidFill>
                <a:latin typeface="Segoe UI"/>
              </a:rPr>
              <a:t>03</a:t>
            </a:r>
          </a:p>
        </p:txBody>
      </p:sp>
      <p:sp>
        <p:nvSpPr>
          <p:cNvPr id="19" name="agendaTitle2"/>
          <p:cNvSpPr txBox="1"/>
          <p:nvPr/>
        </p:nvSpPr>
        <p:spPr>
          <a:xfrm>
            <a:off x="6537960" y="3383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Safety Assurance</a:t>
            </a:r>
          </a:p>
        </p:txBody>
      </p:sp>
      <p:sp>
        <p:nvSpPr>
          <p:cNvPr id="20" name="agendaDesc2"/>
          <p:cNvSpPr txBox="1"/>
          <p:nvPr/>
        </p:nvSpPr>
        <p:spPr>
          <a:xfrm>
            <a:off x="6537960" y="42976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Measure what matters</a:t>
            </a:r>
          </a:p>
        </p:txBody>
      </p:sp>
      <p:sp>
        <p:nvSpPr>
          <p:cNvPr id="21" name="agendaCard3"/>
          <p:cNvSpPr/>
          <p:nvPr/>
        </p:nvSpPr>
        <p:spPr>
          <a:xfrm>
            <a:off x="9144000" y="2011680"/>
            <a:ext cx="26517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daBar3"/>
          <p:cNvSpPr/>
          <p:nvPr/>
        </p:nvSpPr>
        <p:spPr>
          <a:xfrm>
            <a:off x="9144000" y="2011680"/>
            <a:ext cx="2651760" cy="914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gendaNum3"/>
          <p:cNvSpPr txBox="1"/>
          <p:nvPr/>
        </p:nvSpPr>
        <p:spPr>
          <a:xfrm>
            <a:off x="9372600" y="2468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67E22"/>
                </a:solidFill>
                <a:latin typeface="Segoe UI"/>
              </a:rPr>
              <a:t>04</a:t>
            </a:r>
          </a:p>
        </p:txBody>
      </p:sp>
      <p:sp>
        <p:nvSpPr>
          <p:cNvPr id="24" name="agendaTitle3"/>
          <p:cNvSpPr txBox="1"/>
          <p:nvPr/>
        </p:nvSpPr>
        <p:spPr>
          <a:xfrm>
            <a:off x="9372600" y="33832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Safety Promotion</a:t>
            </a:r>
          </a:p>
        </p:txBody>
      </p:sp>
      <p:sp>
        <p:nvSpPr>
          <p:cNvPr id="25" name="agendaDesc3"/>
          <p:cNvSpPr txBox="1"/>
          <p:nvPr/>
        </p:nvSpPr>
        <p:spPr>
          <a:xfrm>
            <a:off x="9372600" y="42976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Culture, training &amp; improvement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COMPONENT 1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Safety Policy</a:t>
            </a:r>
          </a:p>
        </p:txBody>
      </p:sp>
      <p:sp>
        <p:nvSpPr>
          <p:cNvPr id="6" name="policyRow0"/>
          <p:cNvSpPr/>
          <p:nvPr/>
        </p:nvSpPr>
        <p:spPr>
          <a:xfrm>
            <a:off x="640080" y="1554480"/>
            <a:ext cx="1078992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olicyIcon0"/>
          <p:cNvSpPr/>
          <p:nvPr/>
        </p:nvSpPr>
        <p:spPr>
          <a:xfrm>
            <a:off x="868680" y="1691640"/>
            <a:ext cx="502920" cy="50292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olicyNum0"/>
          <p:cNvSpPr txBox="1"/>
          <p:nvPr/>
        </p:nvSpPr>
        <p:spPr>
          <a:xfrm>
            <a:off x="868680" y="178308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policyTitle0"/>
          <p:cNvSpPr txBox="1"/>
          <p:nvPr/>
        </p:nvSpPr>
        <p:spPr>
          <a:xfrm>
            <a:off x="1645920" y="16642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Segoe UI"/>
              </a:rPr>
              <a:t>Define Values</a:t>
            </a:r>
          </a:p>
        </p:txBody>
      </p:sp>
      <p:sp>
        <p:nvSpPr>
          <p:cNvPr id="10" name="policyDesc0"/>
          <p:cNvSpPr txBox="1"/>
          <p:nvPr/>
        </p:nvSpPr>
        <p:spPr>
          <a:xfrm>
            <a:off x="1645920" y="1965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Brainstorm and document your organization's core values</a:t>
            </a:r>
          </a:p>
        </p:txBody>
      </p:sp>
      <p:sp>
        <p:nvSpPr>
          <p:cNvPr id="11" name="policyRow1"/>
          <p:cNvSpPr/>
          <p:nvPr/>
        </p:nvSpPr>
        <p:spPr>
          <a:xfrm>
            <a:off x="640080" y="2468880"/>
            <a:ext cx="1078992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olicyIcon1"/>
          <p:cNvSpPr/>
          <p:nvPr/>
        </p:nvSpPr>
        <p:spPr>
          <a:xfrm>
            <a:off x="868680" y="2606040"/>
            <a:ext cx="502920" cy="502920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olicyNum1"/>
          <p:cNvSpPr txBox="1"/>
          <p:nvPr/>
        </p:nvSpPr>
        <p:spPr>
          <a:xfrm>
            <a:off x="868680" y="269748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policyTitle1"/>
          <p:cNvSpPr txBox="1"/>
          <p:nvPr/>
        </p:nvSpPr>
        <p:spPr>
          <a:xfrm>
            <a:off x="1645920" y="25786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Segoe UI"/>
              </a:rPr>
              <a:t>Anchor Safety</a:t>
            </a:r>
          </a:p>
        </p:txBody>
      </p:sp>
      <p:sp>
        <p:nvSpPr>
          <p:cNvPr id="15" name="policyDesc1"/>
          <p:cNvSpPr txBox="1"/>
          <p:nvPr/>
        </p:nvSpPr>
        <p:spPr>
          <a:xfrm>
            <a:off x="1645920" y="28803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Opening paragraph reflects where safety fits in those values</a:t>
            </a:r>
          </a:p>
        </p:txBody>
      </p:sp>
      <p:sp>
        <p:nvSpPr>
          <p:cNvPr id="16" name="policyRow2"/>
          <p:cNvSpPr/>
          <p:nvPr/>
        </p:nvSpPr>
        <p:spPr>
          <a:xfrm>
            <a:off x="640080" y="3383280"/>
            <a:ext cx="1078992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olicyIcon2"/>
          <p:cNvSpPr/>
          <p:nvPr/>
        </p:nvSpPr>
        <p:spPr>
          <a:xfrm>
            <a:off x="868680" y="3520440"/>
            <a:ext cx="502920" cy="50292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olicyNum2"/>
          <p:cNvSpPr txBox="1"/>
          <p:nvPr/>
        </p:nvSpPr>
        <p:spPr>
          <a:xfrm>
            <a:off x="868680" y="361188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policyTitle2"/>
          <p:cNvSpPr txBox="1"/>
          <p:nvPr/>
        </p:nvSpPr>
        <p:spPr>
          <a:xfrm>
            <a:off x="1645920" y="34930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Segoe UI"/>
              </a:rPr>
              <a:t>Set the Dream</a:t>
            </a:r>
          </a:p>
        </p:txBody>
      </p:sp>
      <p:sp>
        <p:nvSpPr>
          <p:cNvPr id="20" name="policyDesc2"/>
          <p:cNvSpPr txBox="1"/>
          <p:nvPr/>
        </p:nvSpPr>
        <p:spPr>
          <a:xfrm>
            <a:off x="1645920" y="37947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What should the SMS deliver for the organization?</a:t>
            </a:r>
          </a:p>
        </p:txBody>
      </p:sp>
      <p:sp>
        <p:nvSpPr>
          <p:cNvPr id="21" name="policyRow3"/>
          <p:cNvSpPr/>
          <p:nvPr/>
        </p:nvSpPr>
        <p:spPr>
          <a:xfrm>
            <a:off x="640080" y="4297680"/>
            <a:ext cx="1078992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olicyIcon3"/>
          <p:cNvSpPr/>
          <p:nvPr/>
        </p:nvSpPr>
        <p:spPr>
          <a:xfrm>
            <a:off x="868680" y="4434840"/>
            <a:ext cx="502920" cy="502920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olicyNum3"/>
          <p:cNvSpPr txBox="1"/>
          <p:nvPr/>
        </p:nvSpPr>
        <p:spPr>
          <a:xfrm>
            <a:off x="868680" y="452628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policyTitle3"/>
          <p:cNvSpPr txBox="1"/>
          <p:nvPr/>
        </p:nvSpPr>
        <p:spPr>
          <a:xfrm>
            <a:off x="1645920" y="44074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Segoe UI"/>
              </a:rPr>
              <a:t>Write Objectives</a:t>
            </a:r>
          </a:p>
        </p:txBody>
      </p:sp>
      <p:sp>
        <p:nvSpPr>
          <p:cNvPr id="25" name="policyDesc3"/>
          <p:cNvSpPr txBox="1"/>
          <p:nvPr/>
        </p:nvSpPr>
        <p:spPr>
          <a:xfrm>
            <a:off x="1645920" y="4709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Turn that vision into clear SMS policy objectives</a:t>
            </a:r>
          </a:p>
        </p:txBody>
      </p:sp>
      <p:sp>
        <p:nvSpPr>
          <p:cNvPr id="26" name="policyRow4"/>
          <p:cNvSpPr/>
          <p:nvPr/>
        </p:nvSpPr>
        <p:spPr>
          <a:xfrm>
            <a:off x="640080" y="5212080"/>
            <a:ext cx="1078992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olicyIcon4"/>
          <p:cNvSpPr/>
          <p:nvPr/>
        </p:nvSpPr>
        <p:spPr>
          <a:xfrm>
            <a:off x="868680" y="5349240"/>
            <a:ext cx="502920" cy="50292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olicyNum4"/>
          <p:cNvSpPr txBox="1"/>
          <p:nvPr/>
        </p:nvSpPr>
        <p:spPr>
          <a:xfrm>
            <a:off x="868680" y="544068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9" name="policyTitle4"/>
          <p:cNvSpPr txBox="1"/>
          <p:nvPr/>
        </p:nvSpPr>
        <p:spPr>
          <a:xfrm>
            <a:off x="1645920" y="53218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Segoe UI"/>
              </a:rPr>
              <a:t>Assign Ownership</a:t>
            </a:r>
          </a:p>
        </p:txBody>
      </p:sp>
      <p:sp>
        <p:nvSpPr>
          <p:cNvPr id="30" name="policyDesc4"/>
          <p:cNvSpPr txBox="1"/>
          <p:nvPr/>
        </p:nvSpPr>
        <p:spPr>
          <a:xfrm>
            <a:off x="1645920" y="56235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Outline high-level responsibilities for every employee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bjLabel"/>
          <p:cNvSpPr txBox="1"/>
          <p:nvPr/>
        </p:nvSpPr>
        <p:spPr>
          <a:xfrm>
            <a:off x="822960" y="2194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8B923"/>
                </a:solidFill>
                <a:latin typeface="Segoe UI"/>
              </a:rPr>
              <a:t>OUR SAFETY OBJECTIVE IS</a:t>
            </a:r>
          </a:p>
        </p:txBody>
      </p:sp>
      <p:sp>
        <p:nvSpPr>
          <p:cNvPr id="4" name="objTitle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 Semibold"/>
              </a:rPr>
              <a:t>"A Continuous Reduction in Mishaps"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bjLabel"/>
          <p:cNvSpPr txBox="1"/>
          <p:nvPr/>
        </p:nvSpPr>
        <p:spPr>
          <a:xfrm>
            <a:off x="457200" y="274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B923"/>
                </a:solidFill>
                <a:latin typeface="Segoe UI"/>
              </a:rPr>
              <a:t>OUR SAFETY OBJECTIVE IS</a:t>
            </a:r>
          </a:p>
        </p:txBody>
      </p:sp>
      <p:sp>
        <p:nvSpPr>
          <p:cNvPr id="4" name="objTitle"/>
          <p:cNvSpPr txBox="1"/>
          <p:nvPr/>
        </p:nvSpPr>
        <p:spPr>
          <a:xfrm>
            <a:off x="457200" y="5943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 Semibold"/>
              </a:rPr>
              <a:t>"A Continuous Reduction in Mishaps"</a:t>
            </a:r>
          </a:p>
        </p:txBody>
      </p:sp>
      <p:sp>
        <p:nvSpPr>
          <p:cNvPr id="5" name="pyramidBase"/>
          <p:cNvSpPr/>
          <p:nvPr/>
        </p:nvSpPr>
        <p:spPr>
          <a:xfrm>
            <a:off x="1097280" y="1645920"/>
            <a:ext cx="4754880" cy="4206240"/>
          </a:xfrm>
          <a:prstGeom prst="triangle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yramidMid"/>
          <p:cNvSpPr/>
          <p:nvPr/>
        </p:nvSpPr>
        <p:spPr>
          <a:xfrm>
            <a:off x="1783080" y="1645920"/>
            <a:ext cx="3383280" cy="2926080"/>
          </a:xfrm>
          <a:prstGeom prst="triangl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yramidTop"/>
          <p:cNvSpPr/>
          <p:nvPr/>
        </p:nvSpPr>
        <p:spPr>
          <a:xfrm>
            <a:off x="2468880" y="1645920"/>
            <a:ext cx="2011680" cy="1645920"/>
          </a:xfrm>
          <a:prstGeom prst="triangl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yrLabel0"/>
          <p:cNvSpPr txBox="1"/>
          <p:nvPr/>
        </p:nvSpPr>
        <p:spPr>
          <a:xfrm>
            <a:off x="365760" y="2103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Segoe UI"/>
              </a:rPr>
              <a:t>ACCIDENT</a:t>
            </a:r>
          </a:p>
        </p:txBody>
      </p:sp>
      <p:sp>
        <p:nvSpPr>
          <p:cNvPr id="9" name="pyrLabel1"/>
          <p:cNvSpPr txBox="1"/>
          <p:nvPr/>
        </p:nvSpPr>
        <p:spPr>
          <a:xfrm>
            <a:off x="36576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  <a:latin typeface="Segoe UI"/>
              </a:rPr>
              <a:t>INCIDENTS</a:t>
            </a:r>
          </a:p>
        </p:txBody>
      </p:sp>
      <p:sp>
        <p:nvSpPr>
          <p:cNvPr id="10" name="pyrLabel2"/>
          <p:cNvSpPr txBox="1"/>
          <p:nvPr/>
        </p:nvSpPr>
        <p:spPr>
          <a:xfrm>
            <a:off x="365760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B923"/>
                </a:solidFill>
                <a:latin typeface="Segoe UI"/>
              </a:rPr>
              <a:t>CLOSE CALLS</a:t>
            </a:r>
          </a:p>
        </p:txBody>
      </p:sp>
      <p:sp>
        <p:nvSpPr>
          <p:cNvPr id="11" name="pyrNum0"/>
          <p:cNvSpPr txBox="1"/>
          <p:nvPr/>
        </p:nvSpPr>
        <p:spPr>
          <a:xfrm>
            <a:off x="2926080" y="2103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pyrNum1"/>
          <p:cNvSpPr txBox="1"/>
          <p:nvPr/>
        </p:nvSpPr>
        <p:spPr>
          <a:xfrm>
            <a:off x="2834640" y="3383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1,000</a:t>
            </a:r>
          </a:p>
        </p:txBody>
      </p:sp>
      <p:sp>
        <p:nvSpPr>
          <p:cNvPr id="13" name="pyrNum2"/>
          <p:cNvSpPr txBox="1"/>
          <p:nvPr/>
        </p:nvSpPr>
        <p:spPr>
          <a:xfrm>
            <a:off x="2651760" y="4754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10,000</a:t>
            </a:r>
          </a:p>
        </p:txBody>
      </p:sp>
      <p:sp>
        <p:nvSpPr>
          <p:cNvPr id="14" name="magnifier"/>
          <p:cNvSpPr/>
          <p:nvPr/>
        </p:nvSpPr>
        <p:spPr>
          <a:xfrm>
            <a:off x="4206240" y="13716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magnifierInner"/>
          <p:cNvSpPr/>
          <p:nvPr/>
        </p:nvSpPr>
        <p:spPr>
          <a:xfrm>
            <a:off x="4297680" y="1463040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400800" y="1645920"/>
          <a:ext cx="512064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pyrFooter"/>
          <p:cNvSpPr txBox="1"/>
          <p:nvPr/>
        </p:nvSpPr>
        <p:spPr>
          <a:xfrm>
            <a:off x="457200" y="6126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D06A"/>
                </a:solidFill>
                <a:latin typeface="Segoe UI"/>
              </a:rPr>
              <a:t>Be vigilant — FIND the next POTENTIAL accident and prevent it from HAPPENING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ACCOUNTABILITY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Management Commitment</a:t>
            </a:r>
          </a:p>
        </p:txBody>
      </p:sp>
      <p:sp>
        <p:nvSpPr>
          <p:cNvPr id="6" name="commitCard0"/>
          <p:cNvSpPr/>
          <p:nvPr/>
        </p:nvSpPr>
        <p:spPr>
          <a:xfrm>
            <a:off x="548640" y="164592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ommitStripe0"/>
          <p:cNvSpPr/>
          <p:nvPr/>
        </p:nvSpPr>
        <p:spPr>
          <a:xfrm>
            <a:off x="548640" y="1645920"/>
            <a:ext cx="109728" cy="20116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ommitNum0"/>
          <p:cNvSpPr txBox="1"/>
          <p:nvPr/>
        </p:nvSpPr>
        <p:spPr>
          <a:xfrm>
            <a:off x="914400" y="19659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Segoe UI"/>
              </a:rPr>
              <a:t>01</a:t>
            </a:r>
          </a:p>
        </p:txBody>
      </p:sp>
      <p:sp>
        <p:nvSpPr>
          <p:cNvPr id="9" name="commitTitle0"/>
          <p:cNvSpPr txBox="1"/>
          <p:nvPr/>
        </p:nvSpPr>
        <p:spPr>
          <a:xfrm>
            <a:off x="91440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Segoe UI"/>
              </a:rPr>
              <a:t>SMS Champion</a:t>
            </a:r>
          </a:p>
        </p:txBody>
      </p:sp>
      <p:sp>
        <p:nvSpPr>
          <p:cNvPr id="10" name="commitDesc0"/>
          <p:cNvSpPr txBox="1"/>
          <p:nvPr/>
        </p:nvSpPr>
        <p:spPr>
          <a:xfrm>
            <a:off x="914400" y="29260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One person oversees SMS development, implementation &amp; operation</a:t>
            </a:r>
          </a:p>
        </p:txBody>
      </p:sp>
      <p:sp>
        <p:nvSpPr>
          <p:cNvPr id="11" name="commitCard1"/>
          <p:cNvSpPr/>
          <p:nvPr/>
        </p:nvSpPr>
        <p:spPr>
          <a:xfrm>
            <a:off x="6309359" y="164592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ommitStripe1"/>
          <p:cNvSpPr/>
          <p:nvPr/>
        </p:nvSpPr>
        <p:spPr>
          <a:xfrm>
            <a:off x="6309359" y="1645920"/>
            <a:ext cx="109728" cy="2011680"/>
          </a:xfrm>
          <a:prstGeom prst="rect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ommitNum1"/>
          <p:cNvSpPr txBox="1"/>
          <p:nvPr/>
        </p:nvSpPr>
        <p:spPr>
          <a:xfrm>
            <a:off x="6675119" y="19659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B3A6"/>
                </a:solidFill>
                <a:latin typeface="Segoe UI"/>
              </a:rPr>
              <a:t>02</a:t>
            </a:r>
          </a:p>
        </p:txBody>
      </p:sp>
      <p:sp>
        <p:nvSpPr>
          <p:cNvPr id="14" name="commitTitle1"/>
          <p:cNvSpPr txBox="1"/>
          <p:nvPr/>
        </p:nvSpPr>
        <p:spPr>
          <a:xfrm>
            <a:off x="6675119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Segoe UI"/>
              </a:rPr>
              <a:t>Not Sole Owner</a:t>
            </a:r>
          </a:p>
        </p:txBody>
      </p:sp>
      <p:sp>
        <p:nvSpPr>
          <p:cNvPr id="15" name="commitDesc1"/>
          <p:cNvSpPr txBox="1"/>
          <p:nvPr/>
        </p:nvSpPr>
        <p:spPr>
          <a:xfrm>
            <a:off x="6675119" y="29260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The champion does not bear principal responsibility for safety</a:t>
            </a:r>
          </a:p>
        </p:txBody>
      </p:sp>
      <p:sp>
        <p:nvSpPr>
          <p:cNvPr id="16" name="commitCard2"/>
          <p:cNvSpPr/>
          <p:nvPr/>
        </p:nvSpPr>
        <p:spPr>
          <a:xfrm>
            <a:off x="548640" y="393192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ommitStripe2"/>
          <p:cNvSpPr/>
          <p:nvPr/>
        </p:nvSpPr>
        <p:spPr>
          <a:xfrm>
            <a:off x="548640" y="3931920"/>
            <a:ext cx="109728" cy="201168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mmitNum2"/>
          <p:cNvSpPr txBox="1"/>
          <p:nvPr/>
        </p:nvSpPr>
        <p:spPr>
          <a:xfrm>
            <a:off x="914400" y="42519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86DE"/>
                </a:solidFill>
                <a:latin typeface="Segoe UI"/>
              </a:rPr>
              <a:t>03</a:t>
            </a:r>
          </a:p>
        </p:txBody>
      </p:sp>
      <p:sp>
        <p:nvSpPr>
          <p:cNvPr id="19" name="commitTitle2"/>
          <p:cNvSpPr txBox="1"/>
          <p:nvPr/>
        </p:nvSpPr>
        <p:spPr>
          <a:xfrm>
            <a:off x="914400" y="4754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Segoe UI"/>
              </a:rPr>
              <a:t>Line Managers</a:t>
            </a:r>
          </a:p>
        </p:txBody>
      </p:sp>
      <p:sp>
        <p:nvSpPr>
          <p:cNvPr id="20" name="commitDesc2"/>
          <p:cNvSpPr txBox="1"/>
          <p:nvPr/>
        </p:nvSpPr>
        <p:spPr>
          <a:xfrm>
            <a:off x="914400" y="52120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Middle to front-line managers own the operations where risk lives</a:t>
            </a:r>
          </a:p>
        </p:txBody>
      </p:sp>
      <p:sp>
        <p:nvSpPr>
          <p:cNvPr id="21" name="commitCard3"/>
          <p:cNvSpPr/>
          <p:nvPr/>
        </p:nvSpPr>
        <p:spPr>
          <a:xfrm>
            <a:off x="6309359" y="393192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ommitStripe3"/>
          <p:cNvSpPr/>
          <p:nvPr/>
        </p:nvSpPr>
        <p:spPr>
          <a:xfrm>
            <a:off x="6309359" y="3931920"/>
            <a:ext cx="109728" cy="20116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ommitNum3"/>
          <p:cNvSpPr txBox="1"/>
          <p:nvPr/>
        </p:nvSpPr>
        <p:spPr>
          <a:xfrm>
            <a:off x="6675119" y="42519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7E22"/>
                </a:solidFill>
                <a:latin typeface="Segoe UI"/>
              </a:rPr>
              <a:t>04</a:t>
            </a:r>
          </a:p>
        </p:txBody>
      </p:sp>
      <p:sp>
        <p:nvSpPr>
          <p:cNvPr id="24" name="commitTitle3"/>
          <p:cNvSpPr txBox="1"/>
          <p:nvPr/>
        </p:nvSpPr>
        <p:spPr>
          <a:xfrm>
            <a:off x="6675119" y="4754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Segoe UI"/>
              </a:rPr>
              <a:t>SMS Owners</a:t>
            </a:r>
          </a:p>
        </p:txBody>
      </p:sp>
      <p:sp>
        <p:nvSpPr>
          <p:cNvPr id="25" name="commitDesc3"/>
          <p:cNvSpPr txBox="1"/>
          <p:nvPr/>
        </p:nvSpPr>
        <p:spPr>
          <a:xfrm>
            <a:off x="6675119" y="52120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Managers &amp; supervisors are the true owners of the SMS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DEFENSE IN DEPTH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Barriers &amp; Controls</a:t>
            </a:r>
          </a:p>
        </p:txBody>
      </p:sp>
      <p:sp>
        <p:nvSpPr>
          <p:cNvPr id="6" name="hazardBox"/>
          <p:cNvSpPr/>
          <p:nvPr/>
        </p:nvSpPr>
        <p:spPr>
          <a:xfrm>
            <a:off x="457200" y="2926080"/>
            <a:ext cx="1645920" cy="914400"/>
          </a:xfrm>
          <a:prstGeom prst="round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azardText"/>
          <p:cNvSpPr txBox="1"/>
          <p:nvPr/>
        </p:nvSpPr>
        <p:spPr>
          <a:xfrm>
            <a:off x="457200" y="31089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Segoe UI"/>
              </a:rPr>
              <a:t>HAZARD
/ RISK</a:t>
            </a:r>
          </a:p>
        </p:txBody>
      </p:sp>
      <p:sp>
        <p:nvSpPr>
          <p:cNvPr id="8" name="riskArrow"/>
          <p:cNvSpPr/>
          <p:nvPr/>
        </p:nvSpPr>
        <p:spPr>
          <a:xfrm>
            <a:off x="2194560" y="3154680"/>
            <a:ext cx="640080" cy="411480"/>
          </a:xfrm>
          <a:prstGeom prst="right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arrier0"/>
          <p:cNvSpPr/>
          <p:nvPr/>
        </p:nvSpPr>
        <p:spPr>
          <a:xfrm>
            <a:off x="3017520" y="1828800"/>
            <a:ext cx="1005840" cy="32004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ole0_0"/>
          <p:cNvSpPr/>
          <p:nvPr/>
        </p:nvSpPr>
        <p:spPr>
          <a:xfrm>
            <a:off x="3291840" y="228600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ole0_1"/>
          <p:cNvSpPr/>
          <p:nvPr/>
        </p:nvSpPr>
        <p:spPr>
          <a:xfrm>
            <a:off x="3291840" y="320040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ole0_2"/>
          <p:cNvSpPr/>
          <p:nvPr/>
        </p:nvSpPr>
        <p:spPr>
          <a:xfrm>
            <a:off x="3291840" y="402336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arrierLabel0"/>
          <p:cNvSpPr txBox="1"/>
          <p:nvPr/>
        </p:nvSpPr>
        <p:spPr>
          <a:xfrm>
            <a:off x="2926080" y="5120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Policy</a:t>
            </a:r>
          </a:p>
        </p:txBody>
      </p:sp>
      <p:sp>
        <p:nvSpPr>
          <p:cNvPr id="14" name="barrier1"/>
          <p:cNvSpPr/>
          <p:nvPr/>
        </p:nvSpPr>
        <p:spPr>
          <a:xfrm>
            <a:off x="4251960" y="1828800"/>
            <a:ext cx="1005840" cy="3200400"/>
          </a:xfrm>
          <a:prstGeom prst="round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ole1_0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ole1_1"/>
          <p:cNvSpPr/>
          <p:nvPr/>
        </p:nvSpPr>
        <p:spPr>
          <a:xfrm>
            <a:off x="4526280" y="320040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ole1_2"/>
          <p:cNvSpPr/>
          <p:nvPr/>
        </p:nvSpPr>
        <p:spPr>
          <a:xfrm>
            <a:off x="4526280" y="402336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arrierLabel1"/>
          <p:cNvSpPr txBox="1"/>
          <p:nvPr/>
        </p:nvSpPr>
        <p:spPr>
          <a:xfrm>
            <a:off x="4160520" y="5120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Process</a:t>
            </a:r>
          </a:p>
        </p:txBody>
      </p:sp>
      <p:sp>
        <p:nvSpPr>
          <p:cNvPr id="19" name="barrier2"/>
          <p:cNvSpPr/>
          <p:nvPr/>
        </p:nvSpPr>
        <p:spPr>
          <a:xfrm>
            <a:off x="5486400" y="1828800"/>
            <a:ext cx="1005840" cy="32004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ole2_0"/>
          <p:cNvSpPr/>
          <p:nvPr/>
        </p:nvSpPr>
        <p:spPr>
          <a:xfrm>
            <a:off x="5760720" y="228600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ole2_1"/>
          <p:cNvSpPr/>
          <p:nvPr/>
        </p:nvSpPr>
        <p:spPr>
          <a:xfrm>
            <a:off x="5760720" y="320040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ole2_2"/>
          <p:cNvSpPr/>
          <p:nvPr/>
        </p:nvSpPr>
        <p:spPr>
          <a:xfrm>
            <a:off x="5760720" y="402336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arrierLabel2"/>
          <p:cNvSpPr txBox="1"/>
          <p:nvPr/>
        </p:nvSpPr>
        <p:spPr>
          <a:xfrm>
            <a:off x="5394960" y="5120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Training</a:t>
            </a:r>
          </a:p>
        </p:txBody>
      </p:sp>
      <p:sp>
        <p:nvSpPr>
          <p:cNvPr id="24" name="barrier3"/>
          <p:cNvSpPr/>
          <p:nvPr/>
        </p:nvSpPr>
        <p:spPr>
          <a:xfrm>
            <a:off x="6720840" y="1828800"/>
            <a:ext cx="1005840" cy="3200400"/>
          </a:xfrm>
          <a:prstGeom prst="round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ole3_0"/>
          <p:cNvSpPr/>
          <p:nvPr/>
        </p:nvSpPr>
        <p:spPr>
          <a:xfrm>
            <a:off x="6995160" y="228600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ole3_1"/>
          <p:cNvSpPr/>
          <p:nvPr/>
        </p:nvSpPr>
        <p:spPr>
          <a:xfrm>
            <a:off x="6995160" y="320040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ole3_2"/>
          <p:cNvSpPr/>
          <p:nvPr/>
        </p:nvSpPr>
        <p:spPr>
          <a:xfrm>
            <a:off x="6995160" y="4023360"/>
            <a:ext cx="457200" cy="457200"/>
          </a:xfrm>
          <a:prstGeom prst="ellipse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arrierLabel3"/>
          <p:cNvSpPr txBox="1"/>
          <p:nvPr/>
        </p:nvSpPr>
        <p:spPr>
          <a:xfrm>
            <a:off x="6629400" y="5120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Supervision</a:t>
            </a:r>
          </a:p>
        </p:txBody>
      </p:sp>
      <p:sp>
        <p:nvSpPr>
          <p:cNvPr id="29" name="outcomeBox"/>
          <p:cNvSpPr/>
          <p:nvPr/>
        </p:nvSpPr>
        <p:spPr>
          <a:xfrm>
            <a:off x="8229600" y="2834640"/>
            <a:ext cx="3200400" cy="1097280"/>
          </a:xfrm>
          <a:prstGeom prst="roundRect">
            <a:avLst/>
          </a:prstGeom>
          <a:solidFill>
            <a:srgbClr val="FDE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utcomeText"/>
          <p:cNvSpPr txBox="1"/>
          <p:nvPr/>
        </p:nvSpPr>
        <p:spPr>
          <a:xfrm>
            <a:off x="8229600" y="30632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74C3C"/>
                </a:solidFill>
                <a:latin typeface="Segoe UI"/>
              </a:rPr>
              <a:t>UNDESIRABLE
OUTCOME  ✕</a:t>
            </a:r>
          </a:p>
        </p:txBody>
      </p:sp>
      <p:sp>
        <p:nvSpPr>
          <p:cNvPr id="31" name="supervisorBar"/>
          <p:cNvSpPr/>
          <p:nvPr/>
        </p:nvSpPr>
        <p:spPr>
          <a:xfrm>
            <a:off x="3017520" y="5669280"/>
            <a:ext cx="4937760" cy="73152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upervisorText"/>
          <p:cNvSpPr txBox="1"/>
          <p:nvPr/>
        </p:nvSpPr>
        <p:spPr>
          <a:xfrm>
            <a:off x="3017520" y="5806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SUPERVISORS maintain every barrier layer</a:t>
            </a:r>
          </a:p>
        </p:txBody>
      </p:sp>
      <p:sp>
        <p:nvSpPr>
          <p:cNvPr id="33" name="swissNote"/>
          <p:cNvSpPr txBox="1"/>
          <p:nvPr/>
        </p:nvSpPr>
        <p:spPr>
          <a:xfrm>
            <a:off x="8229600" y="42062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  <a:latin typeface="Segoe UI"/>
              </a:rPr>
              <a:t>Aligned holes = pathway to failure.
Strong supervision closes the gaps.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STRUCTURE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Key Safety Personnel</a:t>
            </a:r>
          </a:p>
        </p:txBody>
      </p:sp>
      <p:sp>
        <p:nvSpPr>
          <p:cNvPr id="6" name="topMgmt"/>
          <p:cNvSpPr/>
          <p:nvPr/>
        </p:nvSpPr>
        <p:spPr>
          <a:xfrm>
            <a:off x="548640" y="1463040"/>
            <a:ext cx="11064240" cy="100584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opMgmtText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B923"/>
                </a:solidFill>
                <a:latin typeface="Segoe UI"/>
              </a:rPr>
              <a:t>TOP MANAGEMENT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Ultimate SMS responsibility  ·  Provides essential resources</a:t>
            </a:r>
          </a:p>
        </p:txBody>
      </p:sp>
      <p:sp>
        <p:nvSpPr>
          <p:cNvPr id="8" name="smCard"/>
          <p:cNvSpPr/>
          <p:nvPr/>
        </p:nvSpPr>
        <p:spPr>
          <a:xfrm>
            <a:off x="548640" y="2743200"/>
            <a:ext cx="365760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3657600" cy="91440"/>
          </a:xfrm>
          <a:prstGeom prst="rect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Title"/>
          <p:cNvSpPr txBox="1"/>
          <p:nvPr/>
        </p:nvSpPr>
        <p:spPr>
          <a:xfrm>
            <a:off x="822960" y="3017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Safety Manager</a:t>
            </a:r>
          </a:p>
        </p:txBody>
      </p:sp>
      <p:sp>
        <p:nvSpPr>
          <p:cNvPr id="11" name="smDuty0"/>
          <p:cNvSpPr txBox="1"/>
          <p:nvPr/>
        </p:nvSpPr>
        <p:spPr>
          <a:xfrm>
            <a:off x="822960" y="3657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Segoe UI"/>
              </a:rPr>
              <a:t>→  Establish &amp; maintain SMS processes</a:t>
            </a:r>
          </a:p>
        </p:txBody>
      </p:sp>
      <p:sp>
        <p:nvSpPr>
          <p:cNvPr id="12" name="smDuty1"/>
          <p:cNvSpPr txBox="1"/>
          <p:nvPr/>
        </p:nvSpPr>
        <p:spPr>
          <a:xfrm>
            <a:off x="822960" y="4160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Segoe UI"/>
              </a:rPr>
              <a:t>→  Report performance to leadership</a:t>
            </a:r>
          </a:p>
        </p:txBody>
      </p:sp>
      <p:sp>
        <p:nvSpPr>
          <p:cNvPr id="13" name="smDuty2"/>
          <p:cNvSpPr txBox="1"/>
          <p:nvPr/>
        </p:nvSpPr>
        <p:spPr>
          <a:xfrm>
            <a:off x="822960" y="4663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Segoe UI"/>
              </a:rPr>
              <a:t>→  Promote safety awareness</a:t>
            </a:r>
          </a:p>
        </p:txBody>
      </p:sp>
      <p:sp>
        <p:nvSpPr>
          <p:cNvPr id="14" name="smDuty3"/>
          <p:cNvSpPr txBox="1"/>
          <p:nvPr/>
        </p:nvSpPr>
        <p:spPr>
          <a:xfrm>
            <a:off x="82296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Segoe UI"/>
              </a:rPr>
              <a:t>→  Define &amp; communicate authorities</a:t>
            </a:r>
          </a:p>
        </p:txBody>
      </p:sp>
      <p:sp>
        <p:nvSpPr>
          <p:cNvPr id="15" name="metricCard0"/>
          <p:cNvSpPr/>
          <p:nvPr/>
        </p:nvSpPr>
        <p:spPr>
          <a:xfrm>
            <a:off x="4572000" y="2743200"/>
            <a:ext cx="228600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etricCirc0"/>
          <p:cNvSpPr/>
          <p:nvPr/>
        </p:nvSpPr>
        <p:spPr>
          <a:xfrm>
            <a:off x="5166360" y="3200400"/>
            <a:ext cx="1097280" cy="1097280"/>
          </a:xfrm>
          <a:prstGeom prst="ellipse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etricVal0"/>
          <p:cNvSpPr txBox="1"/>
          <p:nvPr/>
        </p:nvSpPr>
        <p:spPr>
          <a:xfrm>
            <a:off x="5166360" y="34747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100%</a:t>
            </a:r>
          </a:p>
        </p:txBody>
      </p:sp>
      <p:sp>
        <p:nvSpPr>
          <p:cNvPr id="18" name="metricLabel0"/>
          <p:cNvSpPr txBox="1"/>
          <p:nvPr/>
        </p:nvSpPr>
        <p:spPr>
          <a:xfrm>
            <a:off x="4754880" y="466344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Resource
Commitment</a:t>
            </a:r>
          </a:p>
        </p:txBody>
      </p:sp>
      <p:sp>
        <p:nvSpPr>
          <p:cNvPr id="19" name="metricCard1"/>
          <p:cNvSpPr/>
          <p:nvPr/>
        </p:nvSpPr>
        <p:spPr>
          <a:xfrm>
            <a:off x="7040880" y="2743200"/>
            <a:ext cx="228600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etricCirc1"/>
          <p:cNvSpPr/>
          <p:nvPr/>
        </p:nvSpPr>
        <p:spPr>
          <a:xfrm>
            <a:off x="7635240" y="3200400"/>
            <a:ext cx="1097280" cy="1097280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etricVal1"/>
          <p:cNvSpPr txBox="1"/>
          <p:nvPr/>
        </p:nvSpPr>
        <p:spPr>
          <a:xfrm>
            <a:off x="7635240" y="34747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2" name="metricLabel1"/>
          <p:cNvSpPr txBox="1"/>
          <p:nvPr/>
        </p:nvSpPr>
        <p:spPr>
          <a:xfrm>
            <a:off x="7223760" y="466344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Appointed
Safety Lead</a:t>
            </a:r>
          </a:p>
        </p:txBody>
      </p:sp>
      <p:sp>
        <p:nvSpPr>
          <p:cNvPr id="23" name="metricCard2"/>
          <p:cNvSpPr/>
          <p:nvPr/>
        </p:nvSpPr>
        <p:spPr>
          <a:xfrm>
            <a:off x="9509760" y="2743200"/>
            <a:ext cx="228600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etricCirc2"/>
          <p:cNvSpPr/>
          <p:nvPr/>
        </p:nvSpPr>
        <p:spPr>
          <a:xfrm>
            <a:off x="10104120" y="3200400"/>
            <a:ext cx="1097280" cy="109728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etricVal2"/>
          <p:cNvSpPr txBox="1"/>
          <p:nvPr/>
        </p:nvSpPr>
        <p:spPr>
          <a:xfrm>
            <a:off x="10104120" y="34747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All</a:t>
            </a:r>
          </a:p>
        </p:txBody>
      </p:sp>
      <p:sp>
        <p:nvSpPr>
          <p:cNvPr id="26" name="metricLabel2"/>
          <p:cNvSpPr txBox="1"/>
          <p:nvPr/>
        </p:nvSpPr>
        <p:spPr>
          <a:xfrm>
            <a:off x="9692640" y="466344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Roles
Documented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READINESS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Emergency Response Plan</a:t>
            </a:r>
          </a:p>
        </p:txBody>
      </p:sp>
      <p:sp>
        <p:nvSpPr>
          <p:cNvPr id="6" name="erpDef"/>
          <p:cNvSpPr/>
          <p:nvPr/>
        </p:nvSpPr>
        <p:spPr>
          <a:xfrm>
            <a:off x="548640" y="1463040"/>
            <a:ext cx="11064240" cy="10972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rpDefText"/>
          <p:cNvSpPr txBox="1"/>
          <p:nvPr/>
        </p:nvSpPr>
        <p:spPr>
          <a:xfrm>
            <a:off x="822960" y="1691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Segoe UI"/>
              </a:rPr>
              <a:t>A written outline of actions during &amp; after an emergency — who does what, when.</a:t>
            </a:r>
          </a:p>
        </p:txBody>
      </p:sp>
      <p:sp>
        <p:nvSpPr>
          <p:cNvPr id="8" name="erpPhase0"/>
          <p:cNvSpPr/>
          <p:nvPr/>
        </p:nvSpPr>
        <p:spPr>
          <a:xfrm>
            <a:off x="548640" y="2926080"/>
            <a:ext cx="356616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rpBar0"/>
          <p:cNvSpPr/>
          <p:nvPr/>
        </p:nvSpPr>
        <p:spPr>
          <a:xfrm>
            <a:off x="548640" y="2926080"/>
            <a:ext cx="3566160" cy="109728"/>
          </a:xfrm>
          <a:prstGeom prst="rect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rpPhaseLabel0"/>
          <p:cNvSpPr txBox="1"/>
          <p:nvPr/>
        </p:nvSpPr>
        <p:spPr>
          <a:xfrm>
            <a:off x="822960" y="3200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B3A6"/>
                </a:solidFill>
                <a:latin typeface="Segoe UI"/>
              </a:rPr>
              <a:t>BEFORE</a:t>
            </a:r>
          </a:p>
        </p:txBody>
      </p:sp>
      <p:sp>
        <p:nvSpPr>
          <p:cNvPr id="11" name="erpTitle0"/>
          <p:cNvSpPr txBox="1"/>
          <p:nvPr/>
        </p:nvSpPr>
        <p:spPr>
          <a:xfrm>
            <a:off x="822960" y="3611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Segoe UI"/>
              </a:rPr>
              <a:t>Prepare</a:t>
            </a:r>
          </a:p>
        </p:txBody>
      </p:sp>
      <p:sp>
        <p:nvSpPr>
          <p:cNvPr id="12" name="erpDesc0"/>
          <p:cNvSpPr txBox="1"/>
          <p:nvPr/>
        </p:nvSpPr>
        <p:spPr>
          <a:xfrm>
            <a:off x="822960" y="42062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Train · Drill · Stage resources</a:t>
            </a:r>
          </a:p>
        </p:txBody>
      </p:sp>
      <p:sp>
        <p:nvSpPr>
          <p:cNvPr id="13" name="erpPhase1"/>
          <p:cNvSpPr/>
          <p:nvPr/>
        </p:nvSpPr>
        <p:spPr>
          <a:xfrm>
            <a:off x="4389120" y="2926080"/>
            <a:ext cx="356616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rpBar1"/>
          <p:cNvSpPr/>
          <p:nvPr/>
        </p:nvSpPr>
        <p:spPr>
          <a:xfrm>
            <a:off x="4389120" y="2926080"/>
            <a:ext cx="3566160" cy="109728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rpPhaseLabel1"/>
          <p:cNvSpPr txBox="1"/>
          <p:nvPr/>
        </p:nvSpPr>
        <p:spPr>
          <a:xfrm>
            <a:off x="4663440" y="3200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B923"/>
                </a:solidFill>
                <a:latin typeface="Segoe UI"/>
              </a:rPr>
              <a:t>DURING</a:t>
            </a:r>
          </a:p>
        </p:txBody>
      </p:sp>
      <p:sp>
        <p:nvSpPr>
          <p:cNvPr id="16" name="erpTitle1"/>
          <p:cNvSpPr txBox="1"/>
          <p:nvPr/>
        </p:nvSpPr>
        <p:spPr>
          <a:xfrm>
            <a:off x="4663440" y="3611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Segoe UI"/>
              </a:rPr>
              <a:t>Respond</a:t>
            </a:r>
          </a:p>
        </p:txBody>
      </p:sp>
      <p:sp>
        <p:nvSpPr>
          <p:cNvPr id="17" name="erpDesc1"/>
          <p:cNvSpPr txBox="1"/>
          <p:nvPr/>
        </p:nvSpPr>
        <p:spPr>
          <a:xfrm>
            <a:off x="4663440" y="42062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Clear roles · Rapid action</a:t>
            </a:r>
          </a:p>
        </p:txBody>
      </p:sp>
      <p:sp>
        <p:nvSpPr>
          <p:cNvPr id="18" name="erpPhase2"/>
          <p:cNvSpPr/>
          <p:nvPr/>
        </p:nvSpPr>
        <p:spPr>
          <a:xfrm>
            <a:off x="8229600" y="2926080"/>
            <a:ext cx="356616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rpBar2"/>
          <p:cNvSpPr/>
          <p:nvPr/>
        </p:nvSpPr>
        <p:spPr>
          <a:xfrm>
            <a:off x="8229600" y="2926080"/>
            <a:ext cx="3566160" cy="10972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rpPhaseLabel2"/>
          <p:cNvSpPr txBox="1"/>
          <p:nvPr/>
        </p:nvSpPr>
        <p:spPr>
          <a:xfrm>
            <a:off x="8503920" y="3200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  <a:latin typeface="Segoe UI"/>
              </a:rPr>
              <a:t>AFTER</a:t>
            </a:r>
          </a:p>
        </p:txBody>
      </p:sp>
      <p:sp>
        <p:nvSpPr>
          <p:cNvPr id="21" name="erpTitle2"/>
          <p:cNvSpPr txBox="1"/>
          <p:nvPr/>
        </p:nvSpPr>
        <p:spPr>
          <a:xfrm>
            <a:off x="8503920" y="3611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Segoe UI"/>
              </a:rPr>
              <a:t>Recover</a:t>
            </a:r>
          </a:p>
        </p:txBody>
      </p:sp>
      <p:sp>
        <p:nvSpPr>
          <p:cNvPr id="22" name="erpDesc2"/>
          <p:cNvSpPr txBox="1"/>
          <p:nvPr/>
        </p:nvSpPr>
        <p:spPr>
          <a:xfrm>
            <a:off x="8503920" y="42062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D"/>
                </a:solidFill>
                <a:latin typeface="Segoe UI"/>
              </a:rPr>
              <a:t>Care · Secure · Learn</a:t>
            </a:r>
          </a:p>
        </p:txBody>
      </p:sp>
      <p:sp>
        <p:nvSpPr>
          <p:cNvPr id="23" name="erpFooter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B923"/>
                </a:solidFill>
                <a:latin typeface="Segoe UI"/>
              </a:rPr>
              <a:t>GOAL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Segoe UI"/>
              </a:rPr>
              <a:t>Better preparation → fewer injuries · less damage to people, equipment &amp; environment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GOVERNANCE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SMS Documentation</a:t>
            </a:r>
          </a:p>
        </p:txBody>
      </p:sp>
      <p:sp>
        <p:nvSpPr>
          <p:cNvPr id="6" name="docSub"/>
          <p:cNvSpPr txBox="1"/>
          <p:nvPr/>
        </p:nvSpPr>
        <p:spPr>
          <a:xfrm>
            <a:off x="640080" y="1325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Policies, objectives &amp; procedures — paper or electronic — clearly defined.</a:t>
            </a:r>
          </a:p>
        </p:txBody>
      </p:sp>
      <p:sp>
        <p:nvSpPr>
          <p:cNvPr id="7" name="docCard0"/>
          <p:cNvSpPr/>
          <p:nvPr/>
        </p:nvSpPr>
        <p:spPr>
          <a:xfrm>
            <a:off x="457200" y="2011680"/>
            <a:ext cx="21488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Circ0"/>
          <p:cNvSpPr/>
          <p:nvPr/>
        </p:nvSpPr>
        <p:spPr>
          <a:xfrm>
            <a:off x="1005840" y="2377440"/>
            <a:ext cx="1051560" cy="105156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Num0"/>
          <p:cNvSpPr txBox="1"/>
          <p:nvPr/>
        </p:nvSpPr>
        <p:spPr>
          <a:xfrm>
            <a:off x="1005840" y="265176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0" name="docTitle0"/>
          <p:cNvSpPr txBox="1"/>
          <p:nvPr/>
        </p:nvSpPr>
        <p:spPr>
          <a:xfrm>
            <a:off x="594360" y="3749039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Segoe UI"/>
              </a:rPr>
              <a:t>Orderly</a:t>
            </a:r>
          </a:p>
        </p:txBody>
      </p:sp>
      <p:sp>
        <p:nvSpPr>
          <p:cNvPr id="11" name="docDesc0"/>
          <p:cNvSpPr txBox="1"/>
          <p:nvPr/>
        </p:nvSpPr>
        <p:spPr>
          <a:xfrm>
            <a:off x="594360" y="420624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  <a:latin typeface="Segoe UI"/>
              </a:rPr>
              <a:t>Maintained in a structured system</a:t>
            </a:r>
          </a:p>
        </p:txBody>
      </p:sp>
      <p:sp>
        <p:nvSpPr>
          <p:cNvPr id="12" name="docCard1"/>
          <p:cNvSpPr/>
          <p:nvPr/>
        </p:nvSpPr>
        <p:spPr>
          <a:xfrm>
            <a:off x="2743200" y="2011680"/>
            <a:ext cx="21488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Circ1"/>
          <p:cNvSpPr/>
          <p:nvPr/>
        </p:nvSpPr>
        <p:spPr>
          <a:xfrm>
            <a:off x="3291840" y="2377440"/>
            <a:ext cx="1051560" cy="1051560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Num1"/>
          <p:cNvSpPr txBox="1"/>
          <p:nvPr/>
        </p:nvSpPr>
        <p:spPr>
          <a:xfrm>
            <a:off x="3291840" y="265176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docTitle1"/>
          <p:cNvSpPr txBox="1"/>
          <p:nvPr/>
        </p:nvSpPr>
        <p:spPr>
          <a:xfrm>
            <a:off x="2880360" y="3749039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Segoe UI"/>
              </a:rPr>
              <a:t>Identifiable</a:t>
            </a:r>
          </a:p>
        </p:txBody>
      </p:sp>
      <p:sp>
        <p:nvSpPr>
          <p:cNvPr id="16" name="docDesc1"/>
          <p:cNvSpPr txBox="1"/>
          <p:nvPr/>
        </p:nvSpPr>
        <p:spPr>
          <a:xfrm>
            <a:off x="2880360" y="420624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  <a:latin typeface="Segoe UI"/>
              </a:rPr>
              <a:t>Easy to find and recognize</a:t>
            </a:r>
          </a:p>
        </p:txBody>
      </p:sp>
      <p:sp>
        <p:nvSpPr>
          <p:cNvPr id="17" name="docCard2"/>
          <p:cNvSpPr/>
          <p:nvPr/>
        </p:nvSpPr>
        <p:spPr>
          <a:xfrm>
            <a:off x="5029200" y="2011680"/>
            <a:ext cx="21488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Circ2"/>
          <p:cNvSpPr/>
          <p:nvPr/>
        </p:nvSpPr>
        <p:spPr>
          <a:xfrm>
            <a:off x="5577840" y="2377440"/>
            <a:ext cx="1051560" cy="105156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cNum2"/>
          <p:cNvSpPr txBox="1"/>
          <p:nvPr/>
        </p:nvSpPr>
        <p:spPr>
          <a:xfrm>
            <a:off x="5577840" y="265176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0" name="docTitle2"/>
          <p:cNvSpPr txBox="1"/>
          <p:nvPr/>
        </p:nvSpPr>
        <p:spPr>
          <a:xfrm>
            <a:off x="5166360" y="3749039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Segoe UI"/>
              </a:rPr>
              <a:t>Retrievable</a:t>
            </a:r>
          </a:p>
        </p:txBody>
      </p:sp>
      <p:sp>
        <p:nvSpPr>
          <p:cNvPr id="21" name="docDesc2"/>
          <p:cNvSpPr txBox="1"/>
          <p:nvPr/>
        </p:nvSpPr>
        <p:spPr>
          <a:xfrm>
            <a:off x="5166360" y="420624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  <a:latin typeface="Segoe UI"/>
              </a:rPr>
              <a:t>Available when needed</a:t>
            </a:r>
          </a:p>
        </p:txBody>
      </p:sp>
      <p:sp>
        <p:nvSpPr>
          <p:cNvPr id="22" name="docCard3"/>
          <p:cNvSpPr/>
          <p:nvPr/>
        </p:nvSpPr>
        <p:spPr>
          <a:xfrm>
            <a:off x="7315200" y="2011680"/>
            <a:ext cx="21488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Circ3"/>
          <p:cNvSpPr/>
          <p:nvPr/>
        </p:nvSpPr>
        <p:spPr>
          <a:xfrm>
            <a:off x="7863840" y="2377440"/>
            <a:ext cx="1051560" cy="1051560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Num3"/>
          <p:cNvSpPr txBox="1"/>
          <p:nvPr/>
        </p:nvSpPr>
        <p:spPr>
          <a:xfrm>
            <a:off x="7863840" y="265176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5" name="docTitle3"/>
          <p:cNvSpPr txBox="1"/>
          <p:nvPr/>
        </p:nvSpPr>
        <p:spPr>
          <a:xfrm>
            <a:off x="7452360" y="3749039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Segoe UI"/>
              </a:rPr>
              <a:t>Legible</a:t>
            </a:r>
          </a:p>
        </p:txBody>
      </p:sp>
      <p:sp>
        <p:nvSpPr>
          <p:cNvPr id="26" name="docDesc3"/>
          <p:cNvSpPr txBox="1"/>
          <p:nvPr/>
        </p:nvSpPr>
        <p:spPr>
          <a:xfrm>
            <a:off x="7452360" y="420624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  <a:latin typeface="Segoe UI"/>
              </a:rPr>
              <a:t>Clear and usable</a:t>
            </a:r>
          </a:p>
        </p:txBody>
      </p:sp>
      <p:sp>
        <p:nvSpPr>
          <p:cNvPr id="27" name="docCard4"/>
          <p:cNvSpPr/>
          <p:nvPr/>
        </p:nvSpPr>
        <p:spPr>
          <a:xfrm>
            <a:off x="9601200" y="2011680"/>
            <a:ext cx="21488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Circ4"/>
          <p:cNvSpPr/>
          <p:nvPr/>
        </p:nvSpPr>
        <p:spPr>
          <a:xfrm>
            <a:off x="10149840" y="2377440"/>
            <a:ext cx="1051560" cy="105156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Num4"/>
          <p:cNvSpPr txBox="1"/>
          <p:nvPr/>
        </p:nvSpPr>
        <p:spPr>
          <a:xfrm>
            <a:off x="10149840" y="2651760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0" name="docTitle4"/>
          <p:cNvSpPr txBox="1"/>
          <p:nvPr/>
        </p:nvSpPr>
        <p:spPr>
          <a:xfrm>
            <a:off x="9738360" y="3749039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Segoe UI"/>
              </a:rPr>
              <a:t>Dated</a:t>
            </a:r>
          </a:p>
        </p:txBody>
      </p:sp>
      <p:sp>
        <p:nvSpPr>
          <p:cNvPr id="31" name="docDesc4"/>
          <p:cNvSpPr txBox="1"/>
          <p:nvPr/>
        </p:nvSpPr>
        <p:spPr>
          <a:xfrm>
            <a:off x="9738360" y="420624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  <a:latin typeface="Segoe UI"/>
              </a:rPr>
              <a:t>Revision date always visible</a:t>
            </a:r>
          </a:p>
        </p:txBody>
      </p:sp>
      <p:sp>
        <p:nvSpPr>
          <p:cNvPr id="32" name="docFoot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6B7D"/>
                </a:solidFill>
                <a:latin typeface="Segoe UI"/>
              </a:rPr>
              <a:t>Retention period is defined by the organization — and enforced.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COMPONENT 2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Safety Risk Management</a:t>
            </a:r>
          </a:p>
        </p:txBody>
      </p:sp>
      <p:sp>
        <p:nvSpPr>
          <p:cNvPr id="6" name="riskCard0"/>
          <p:cNvSpPr/>
          <p:nvPr/>
        </p:nvSpPr>
        <p:spPr>
          <a:xfrm>
            <a:off x="548640" y="1645920"/>
            <a:ext cx="3611880" cy="4206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skHeader0"/>
          <p:cNvSpPr/>
          <p:nvPr/>
        </p:nvSpPr>
        <p:spPr>
          <a:xfrm>
            <a:off x="548640" y="1645920"/>
            <a:ext cx="3611880" cy="12801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skName0"/>
          <p:cNvSpPr txBox="1"/>
          <p:nvPr/>
        </p:nvSpPr>
        <p:spPr>
          <a:xfrm>
            <a:off x="777240" y="187451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REACTIVE</a:t>
            </a:r>
          </a:p>
        </p:txBody>
      </p:sp>
      <p:sp>
        <p:nvSpPr>
          <p:cNvPr id="9" name="riskTime0"/>
          <p:cNvSpPr txBox="1"/>
          <p:nvPr/>
        </p:nvSpPr>
        <p:spPr>
          <a:xfrm>
            <a:off x="777240" y="23317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Past</a:t>
            </a:r>
          </a:p>
        </p:txBody>
      </p:sp>
      <p:sp>
        <p:nvSpPr>
          <p:cNvPr id="10" name="riskDesc0"/>
          <p:cNvSpPr txBox="1"/>
          <p:nvPr/>
        </p:nvSpPr>
        <p:spPr>
          <a:xfrm>
            <a:off x="868680" y="338328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0B1F3A"/>
                </a:solidFill>
                <a:latin typeface="Segoe UI"/>
              </a:rPr>
              <a:t>Responds to events that have already happened</a:t>
            </a:r>
          </a:p>
        </p:txBody>
      </p:sp>
      <p:sp>
        <p:nvSpPr>
          <p:cNvPr id="11" name="riskDot0_0"/>
          <p:cNvSpPr/>
          <p:nvPr/>
        </p:nvSpPr>
        <p:spPr>
          <a:xfrm>
            <a:off x="1645920" y="5120640"/>
            <a:ext cx="256032" cy="256032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skDot0_1"/>
          <p:cNvSpPr/>
          <p:nvPr/>
        </p:nvSpPr>
        <p:spPr>
          <a:xfrm>
            <a:off x="2148840" y="5120640"/>
            <a:ext cx="256032" cy="256032"/>
          </a:xfrm>
          <a:prstGeom prst="ellipse">
            <a:avLst/>
          </a:prstGeom>
          <a:solidFill>
            <a:srgbClr val="EC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skDot0_2"/>
          <p:cNvSpPr/>
          <p:nvPr/>
        </p:nvSpPr>
        <p:spPr>
          <a:xfrm>
            <a:off x="2651760" y="5120640"/>
            <a:ext cx="256032" cy="256032"/>
          </a:xfrm>
          <a:prstGeom prst="ellipse">
            <a:avLst/>
          </a:prstGeom>
          <a:solidFill>
            <a:srgbClr val="EC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skCard1"/>
          <p:cNvSpPr/>
          <p:nvPr/>
        </p:nvSpPr>
        <p:spPr>
          <a:xfrm>
            <a:off x="4389120" y="1645920"/>
            <a:ext cx="3611880" cy="4206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skHeader1"/>
          <p:cNvSpPr/>
          <p:nvPr/>
        </p:nvSpPr>
        <p:spPr>
          <a:xfrm>
            <a:off x="4389120" y="1645920"/>
            <a:ext cx="3611880" cy="128016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skName1"/>
          <p:cNvSpPr txBox="1"/>
          <p:nvPr/>
        </p:nvSpPr>
        <p:spPr>
          <a:xfrm>
            <a:off x="4617720" y="187451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PROACTIVE</a:t>
            </a:r>
          </a:p>
        </p:txBody>
      </p:sp>
      <p:sp>
        <p:nvSpPr>
          <p:cNvPr id="17" name="riskTime1"/>
          <p:cNvSpPr txBox="1"/>
          <p:nvPr/>
        </p:nvSpPr>
        <p:spPr>
          <a:xfrm>
            <a:off x="4617720" y="23317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Present</a:t>
            </a:r>
          </a:p>
        </p:txBody>
      </p:sp>
      <p:sp>
        <p:nvSpPr>
          <p:cNvPr id="18" name="riskDesc1"/>
          <p:cNvSpPr txBox="1"/>
          <p:nvPr/>
        </p:nvSpPr>
        <p:spPr>
          <a:xfrm>
            <a:off x="4709160" y="338328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0B1F3A"/>
                </a:solidFill>
                <a:latin typeface="Segoe UI"/>
              </a:rPr>
              <a:t>Seeks hazards through analysis of processes</a:t>
            </a:r>
          </a:p>
        </p:txBody>
      </p:sp>
      <p:sp>
        <p:nvSpPr>
          <p:cNvPr id="19" name="riskDot1_0"/>
          <p:cNvSpPr/>
          <p:nvPr/>
        </p:nvSpPr>
        <p:spPr>
          <a:xfrm>
            <a:off x="5486400" y="5120640"/>
            <a:ext cx="256032" cy="256032"/>
          </a:xfrm>
          <a:prstGeom prst="ellipse">
            <a:avLst/>
          </a:prstGeom>
          <a:solidFill>
            <a:srgbClr val="EC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skDot1_1"/>
          <p:cNvSpPr/>
          <p:nvPr/>
        </p:nvSpPr>
        <p:spPr>
          <a:xfrm>
            <a:off x="5989320" y="5120640"/>
            <a:ext cx="256032" cy="256032"/>
          </a:xfrm>
          <a:prstGeom prst="ellipse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skDot1_2"/>
          <p:cNvSpPr/>
          <p:nvPr/>
        </p:nvSpPr>
        <p:spPr>
          <a:xfrm>
            <a:off x="6492240" y="5120640"/>
            <a:ext cx="256032" cy="256032"/>
          </a:xfrm>
          <a:prstGeom prst="ellipse">
            <a:avLst/>
          </a:prstGeom>
          <a:solidFill>
            <a:srgbClr val="EC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skCard2"/>
          <p:cNvSpPr/>
          <p:nvPr/>
        </p:nvSpPr>
        <p:spPr>
          <a:xfrm>
            <a:off x="8229600" y="1645920"/>
            <a:ext cx="3611880" cy="4206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skHeader2"/>
          <p:cNvSpPr/>
          <p:nvPr/>
        </p:nvSpPr>
        <p:spPr>
          <a:xfrm>
            <a:off x="8229600" y="1645920"/>
            <a:ext cx="3611880" cy="1280160"/>
          </a:xfrm>
          <a:prstGeom prst="rect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skName2"/>
          <p:cNvSpPr txBox="1"/>
          <p:nvPr/>
        </p:nvSpPr>
        <p:spPr>
          <a:xfrm>
            <a:off x="8458200" y="187451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PREDICTIVE</a:t>
            </a:r>
          </a:p>
        </p:txBody>
      </p:sp>
      <p:sp>
        <p:nvSpPr>
          <p:cNvPr id="25" name="riskTime2"/>
          <p:cNvSpPr txBox="1"/>
          <p:nvPr/>
        </p:nvSpPr>
        <p:spPr>
          <a:xfrm>
            <a:off x="8458200" y="23317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Future</a:t>
            </a:r>
          </a:p>
        </p:txBody>
      </p:sp>
      <p:sp>
        <p:nvSpPr>
          <p:cNvPr id="26" name="riskDesc2"/>
          <p:cNvSpPr txBox="1"/>
          <p:nvPr/>
        </p:nvSpPr>
        <p:spPr>
          <a:xfrm>
            <a:off x="8549640" y="338328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0B1F3A"/>
                </a:solidFill>
                <a:latin typeface="Segoe UI"/>
              </a:rPr>
              <a:t>Analyzes systems to spot potential problems</a:t>
            </a:r>
          </a:p>
        </p:txBody>
      </p:sp>
      <p:sp>
        <p:nvSpPr>
          <p:cNvPr id="27" name="riskDot2_0"/>
          <p:cNvSpPr/>
          <p:nvPr/>
        </p:nvSpPr>
        <p:spPr>
          <a:xfrm>
            <a:off x="9326880" y="5120640"/>
            <a:ext cx="256032" cy="256032"/>
          </a:xfrm>
          <a:prstGeom prst="ellipse">
            <a:avLst/>
          </a:prstGeom>
          <a:solidFill>
            <a:srgbClr val="EC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skDot2_1"/>
          <p:cNvSpPr/>
          <p:nvPr/>
        </p:nvSpPr>
        <p:spPr>
          <a:xfrm>
            <a:off x="9829800" y="5120640"/>
            <a:ext cx="256032" cy="256032"/>
          </a:xfrm>
          <a:prstGeom prst="ellipse">
            <a:avLst/>
          </a:prstGeom>
          <a:solidFill>
            <a:srgbClr val="EC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skDot2_2"/>
          <p:cNvSpPr/>
          <p:nvPr/>
        </p:nvSpPr>
        <p:spPr>
          <a:xfrm>
            <a:off x="10332720" y="5120640"/>
            <a:ext cx="256032" cy="256032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DETECTION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Hazard Identification &amp; Reporting</a:t>
            </a:r>
          </a:p>
        </p:txBody>
      </p:sp>
      <p:sp>
        <p:nvSpPr>
          <p:cNvPr id="6" name="hazCard"/>
          <p:cNvSpPr/>
          <p:nvPr/>
        </p:nvSpPr>
        <p:spPr>
          <a:xfrm>
            <a:off x="548640" y="1554480"/>
            <a:ext cx="530352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303520" cy="9144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azTitle"/>
          <p:cNvSpPr txBox="1"/>
          <p:nvPr/>
        </p:nvSpPr>
        <p:spPr>
          <a:xfrm>
            <a:off x="82296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Segoe UI"/>
              </a:rPr>
              <a:t>HAZARD IDENTIFICATION</a:t>
            </a:r>
          </a:p>
        </p:txBody>
      </p:sp>
      <p:sp>
        <p:nvSpPr>
          <p:cNvPr id="9" name="hazPoint0"/>
          <p:cNvSpPr txBox="1"/>
          <p:nvPr/>
        </p:nvSpPr>
        <p:spPr>
          <a:xfrm>
            <a:off x="822960" y="25603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▸  Proactively find existing &amp; potential hazards</a:t>
            </a:r>
          </a:p>
        </p:txBody>
      </p:sp>
      <p:sp>
        <p:nvSpPr>
          <p:cNvPr id="10" name="hazPoint1"/>
          <p:cNvSpPr txBox="1"/>
          <p:nvPr/>
        </p:nvSpPr>
        <p:spPr>
          <a:xfrm>
            <a:off x="822960" y="32461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▸  Cover organizational change risks</a:t>
            </a:r>
          </a:p>
        </p:txBody>
      </p:sp>
      <p:sp>
        <p:nvSpPr>
          <p:cNvPr id="11" name="hazPoint2"/>
          <p:cNvSpPr txBox="1"/>
          <p:nvPr/>
        </p:nvSpPr>
        <p:spPr>
          <a:xfrm>
            <a:off x="822960" y="39319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▸  New services · equipment · personnel</a:t>
            </a:r>
          </a:p>
        </p:txBody>
      </p:sp>
      <p:sp>
        <p:nvSpPr>
          <p:cNvPr id="12" name="hazPoint3"/>
          <p:cNvSpPr txBox="1"/>
          <p:nvPr/>
        </p:nvSpPr>
        <p:spPr>
          <a:xfrm>
            <a:off x="822960" y="46177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▸  Rapid growth periods need extra focus</a:t>
            </a:r>
          </a:p>
        </p:txBody>
      </p:sp>
      <p:sp>
        <p:nvSpPr>
          <p:cNvPr id="13" name="repCard"/>
          <p:cNvSpPr/>
          <p:nvPr/>
        </p:nvSpPr>
        <p:spPr>
          <a:xfrm>
            <a:off x="6217920" y="1554480"/>
            <a:ext cx="5394960" cy="45720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pTitle"/>
          <p:cNvSpPr txBox="1"/>
          <p:nvPr/>
        </p:nvSpPr>
        <p:spPr>
          <a:xfrm>
            <a:off x="6492240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B923"/>
                </a:solidFill>
                <a:latin typeface="Segoe UI"/>
              </a:rPr>
              <a:t>REPORTING SYSTEMS</a:t>
            </a:r>
          </a:p>
        </p:txBody>
      </p:sp>
      <p:sp>
        <p:nvSpPr>
          <p:cNvPr id="15" name="repQ"/>
          <p:cNvSpPr txBox="1"/>
          <p:nvPr/>
        </p:nvSpPr>
        <p:spPr>
          <a:xfrm>
            <a:off x="649224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B8C8"/>
                </a:solidFill>
                <a:latin typeface="Segoe UI"/>
              </a:rPr>
              <a:t>And how will you report…?</a:t>
            </a:r>
          </a:p>
        </p:txBody>
      </p:sp>
      <p:sp>
        <p:nvSpPr>
          <p:cNvPr id="16" name="repPoint0"/>
          <p:cNvSpPr txBox="1"/>
          <p:nvPr/>
        </p:nvSpPr>
        <p:spPr>
          <a:xfrm>
            <a:off x="6492240" y="29260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●  Keep it simple and accessible</a:t>
            </a:r>
          </a:p>
        </p:txBody>
      </p:sp>
      <p:sp>
        <p:nvSpPr>
          <p:cNvPr id="17" name="repPoint1"/>
          <p:cNvSpPr txBox="1"/>
          <p:nvPr/>
        </p:nvSpPr>
        <p:spPr>
          <a:xfrm>
            <a:off x="6492240" y="35661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●  Reactive &amp; proactive can overlap</a:t>
            </a:r>
          </a:p>
        </p:txBody>
      </p:sp>
      <p:sp>
        <p:nvSpPr>
          <p:cNvPr id="18" name="repPoint2"/>
          <p:cNvSpPr txBox="1"/>
          <p:nvPr/>
        </p:nvSpPr>
        <p:spPr>
          <a:xfrm>
            <a:off x="6492240" y="42062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●  Always give reporters feedback</a:t>
            </a:r>
          </a:p>
        </p:txBody>
      </p:sp>
      <p:sp>
        <p:nvSpPr>
          <p:cNvPr id="19" name="repPoint3"/>
          <p:cNvSpPr txBox="1"/>
          <p:nvPr/>
        </p:nvSpPr>
        <p:spPr>
          <a:xfrm>
            <a:off x="6492240" y="48463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●  Simple file &amp; track workflow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DECISION TOOL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Safety Risk Matrix</a:t>
            </a:r>
          </a:p>
        </p:txBody>
      </p:sp>
      <p:sp>
        <p:nvSpPr>
          <p:cNvPr id="6" name="matrixSub"/>
          <p:cNvSpPr txBox="1"/>
          <p:nvPr/>
        </p:nvSpPr>
        <p:spPr>
          <a:xfrm>
            <a:off x="640080" y="1280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Likelihood × Severity  →  Risk Index</a:t>
            </a:r>
          </a:p>
        </p:txBody>
      </p:sp>
      <p:sp>
        <p:nvSpPr>
          <p:cNvPr id="7" name="sevHead0"/>
          <p:cNvSpPr txBox="1"/>
          <p:nvPr/>
        </p:nvSpPr>
        <p:spPr>
          <a:xfrm>
            <a:off x="2926080" y="16002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A</a:t>
            </a:r>
          </a:p>
        </p:txBody>
      </p:sp>
      <p:sp>
        <p:nvSpPr>
          <p:cNvPr id="8" name="sevHead1"/>
          <p:cNvSpPr txBox="1"/>
          <p:nvPr/>
        </p:nvSpPr>
        <p:spPr>
          <a:xfrm>
            <a:off x="4160520" y="16002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B</a:t>
            </a:r>
          </a:p>
        </p:txBody>
      </p:sp>
      <p:sp>
        <p:nvSpPr>
          <p:cNvPr id="9" name="sevHead2"/>
          <p:cNvSpPr txBox="1"/>
          <p:nvPr/>
        </p:nvSpPr>
        <p:spPr>
          <a:xfrm>
            <a:off x="5394960" y="16002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C</a:t>
            </a:r>
          </a:p>
        </p:txBody>
      </p:sp>
      <p:sp>
        <p:nvSpPr>
          <p:cNvPr id="10" name="sevHead3"/>
          <p:cNvSpPr txBox="1"/>
          <p:nvPr/>
        </p:nvSpPr>
        <p:spPr>
          <a:xfrm>
            <a:off x="6629400" y="16002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D</a:t>
            </a:r>
          </a:p>
        </p:txBody>
      </p:sp>
      <p:sp>
        <p:nvSpPr>
          <p:cNvPr id="11" name="sevHead4"/>
          <p:cNvSpPr txBox="1"/>
          <p:nvPr/>
        </p:nvSpPr>
        <p:spPr>
          <a:xfrm>
            <a:off x="7863840" y="16002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F3A"/>
                </a:solidFill>
                <a:latin typeface="Segoe UI"/>
              </a:rPr>
              <a:t>E</a:t>
            </a:r>
          </a:p>
        </p:txBody>
      </p:sp>
      <p:sp>
        <p:nvSpPr>
          <p:cNvPr id="12" name="probHead0"/>
          <p:cNvSpPr txBox="1"/>
          <p:nvPr/>
        </p:nvSpPr>
        <p:spPr>
          <a:xfrm>
            <a:off x="457200" y="1965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5  Frequent</a:t>
            </a:r>
          </a:p>
        </p:txBody>
      </p:sp>
      <p:sp>
        <p:nvSpPr>
          <p:cNvPr id="13" name="cell_5A"/>
          <p:cNvSpPr/>
          <p:nvPr/>
        </p:nvSpPr>
        <p:spPr>
          <a:xfrm>
            <a:off x="2962656" y="1865376"/>
            <a:ext cx="1161288" cy="585216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ellText_5A"/>
          <p:cNvSpPr txBox="1"/>
          <p:nvPr/>
        </p:nvSpPr>
        <p:spPr>
          <a:xfrm>
            <a:off x="2926080" y="199339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5A</a:t>
            </a:r>
          </a:p>
        </p:txBody>
      </p:sp>
      <p:sp>
        <p:nvSpPr>
          <p:cNvPr id="15" name="cell_5B"/>
          <p:cNvSpPr/>
          <p:nvPr/>
        </p:nvSpPr>
        <p:spPr>
          <a:xfrm>
            <a:off x="4197096" y="1865376"/>
            <a:ext cx="1161288" cy="585216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ellText_5B"/>
          <p:cNvSpPr txBox="1"/>
          <p:nvPr/>
        </p:nvSpPr>
        <p:spPr>
          <a:xfrm>
            <a:off x="4160520" y="199339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5B</a:t>
            </a:r>
          </a:p>
        </p:txBody>
      </p:sp>
      <p:sp>
        <p:nvSpPr>
          <p:cNvPr id="17" name="cell_5C"/>
          <p:cNvSpPr/>
          <p:nvPr/>
        </p:nvSpPr>
        <p:spPr>
          <a:xfrm>
            <a:off x="5431536" y="1865376"/>
            <a:ext cx="1161288" cy="585216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ellText_5C"/>
          <p:cNvSpPr txBox="1"/>
          <p:nvPr/>
        </p:nvSpPr>
        <p:spPr>
          <a:xfrm>
            <a:off x="5394960" y="199339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5C</a:t>
            </a:r>
          </a:p>
        </p:txBody>
      </p:sp>
      <p:sp>
        <p:nvSpPr>
          <p:cNvPr id="19" name="cell_5D"/>
          <p:cNvSpPr/>
          <p:nvPr/>
        </p:nvSpPr>
        <p:spPr>
          <a:xfrm>
            <a:off x="6665976" y="1865376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ellText_5D"/>
          <p:cNvSpPr txBox="1"/>
          <p:nvPr/>
        </p:nvSpPr>
        <p:spPr>
          <a:xfrm>
            <a:off x="6629400" y="199339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5D</a:t>
            </a:r>
          </a:p>
        </p:txBody>
      </p:sp>
      <p:sp>
        <p:nvSpPr>
          <p:cNvPr id="21" name="cell_5E"/>
          <p:cNvSpPr/>
          <p:nvPr/>
        </p:nvSpPr>
        <p:spPr>
          <a:xfrm>
            <a:off x="7900416" y="1865376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ellText_5E"/>
          <p:cNvSpPr txBox="1"/>
          <p:nvPr/>
        </p:nvSpPr>
        <p:spPr>
          <a:xfrm>
            <a:off x="7863840" y="1993392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5E</a:t>
            </a:r>
          </a:p>
        </p:txBody>
      </p:sp>
      <p:sp>
        <p:nvSpPr>
          <p:cNvPr id="23" name="probHead1"/>
          <p:cNvSpPr txBox="1"/>
          <p:nvPr/>
        </p:nvSpPr>
        <p:spPr>
          <a:xfrm>
            <a:off x="457200" y="26243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4  Occasional</a:t>
            </a:r>
          </a:p>
        </p:txBody>
      </p:sp>
      <p:sp>
        <p:nvSpPr>
          <p:cNvPr id="24" name="cell_4A"/>
          <p:cNvSpPr/>
          <p:nvPr/>
        </p:nvSpPr>
        <p:spPr>
          <a:xfrm>
            <a:off x="2962656" y="2523744"/>
            <a:ext cx="1161288" cy="585216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ellText_4A"/>
          <p:cNvSpPr txBox="1"/>
          <p:nvPr/>
        </p:nvSpPr>
        <p:spPr>
          <a:xfrm>
            <a:off x="2926080" y="26517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4A</a:t>
            </a:r>
          </a:p>
        </p:txBody>
      </p:sp>
      <p:sp>
        <p:nvSpPr>
          <p:cNvPr id="26" name="cell_4B"/>
          <p:cNvSpPr/>
          <p:nvPr/>
        </p:nvSpPr>
        <p:spPr>
          <a:xfrm>
            <a:off x="4197096" y="2523744"/>
            <a:ext cx="1161288" cy="585216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ellText_4B"/>
          <p:cNvSpPr txBox="1"/>
          <p:nvPr/>
        </p:nvSpPr>
        <p:spPr>
          <a:xfrm>
            <a:off x="4160520" y="26517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4B</a:t>
            </a:r>
          </a:p>
        </p:txBody>
      </p:sp>
      <p:sp>
        <p:nvSpPr>
          <p:cNvPr id="28" name="cell_4C"/>
          <p:cNvSpPr/>
          <p:nvPr/>
        </p:nvSpPr>
        <p:spPr>
          <a:xfrm>
            <a:off x="5431536" y="2523744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ellText_4C"/>
          <p:cNvSpPr txBox="1"/>
          <p:nvPr/>
        </p:nvSpPr>
        <p:spPr>
          <a:xfrm>
            <a:off x="5394960" y="26517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4C</a:t>
            </a:r>
          </a:p>
        </p:txBody>
      </p:sp>
      <p:sp>
        <p:nvSpPr>
          <p:cNvPr id="30" name="cell_4D"/>
          <p:cNvSpPr/>
          <p:nvPr/>
        </p:nvSpPr>
        <p:spPr>
          <a:xfrm>
            <a:off x="6665976" y="2523744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ellText_4D"/>
          <p:cNvSpPr txBox="1"/>
          <p:nvPr/>
        </p:nvSpPr>
        <p:spPr>
          <a:xfrm>
            <a:off x="6629400" y="26517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4D</a:t>
            </a:r>
          </a:p>
        </p:txBody>
      </p:sp>
      <p:sp>
        <p:nvSpPr>
          <p:cNvPr id="32" name="cell_4E"/>
          <p:cNvSpPr/>
          <p:nvPr/>
        </p:nvSpPr>
        <p:spPr>
          <a:xfrm>
            <a:off x="7900416" y="2523744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ellText_4E"/>
          <p:cNvSpPr txBox="1"/>
          <p:nvPr/>
        </p:nvSpPr>
        <p:spPr>
          <a:xfrm>
            <a:off x="7863840" y="26517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4E</a:t>
            </a:r>
          </a:p>
        </p:txBody>
      </p:sp>
      <p:sp>
        <p:nvSpPr>
          <p:cNvPr id="34" name="probHead2"/>
          <p:cNvSpPr txBox="1"/>
          <p:nvPr/>
        </p:nvSpPr>
        <p:spPr>
          <a:xfrm>
            <a:off x="457200" y="328269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3  Remote</a:t>
            </a:r>
          </a:p>
        </p:txBody>
      </p:sp>
      <p:sp>
        <p:nvSpPr>
          <p:cNvPr id="35" name="cell_3A"/>
          <p:cNvSpPr/>
          <p:nvPr/>
        </p:nvSpPr>
        <p:spPr>
          <a:xfrm>
            <a:off x="2962656" y="3182112"/>
            <a:ext cx="1161288" cy="585216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ellText_3A"/>
          <p:cNvSpPr txBox="1"/>
          <p:nvPr/>
        </p:nvSpPr>
        <p:spPr>
          <a:xfrm>
            <a:off x="2926080" y="331012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3A</a:t>
            </a:r>
          </a:p>
        </p:txBody>
      </p:sp>
      <p:sp>
        <p:nvSpPr>
          <p:cNvPr id="37" name="cell_3B"/>
          <p:cNvSpPr/>
          <p:nvPr/>
        </p:nvSpPr>
        <p:spPr>
          <a:xfrm>
            <a:off x="4197096" y="3182112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ellText_3B"/>
          <p:cNvSpPr txBox="1"/>
          <p:nvPr/>
        </p:nvSpPr>
        <p:spPr>
          <a:xfrm>
            <a:off x="4160520" y="331012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3B</a:t>
            </a:r>
          </a:p>
        </p:txBody>
      </p:sp>
      <p:sp>
        <p:nvSpPr>
          <p:cNvPr id="39" name="cell_3C"/>
          <p:cNvSpPr/>
          <p:nvPr/>
        </p:nvSpPr>
        <p:spPr>
          <a:xfrm>
            <a:off x="5431536" y="3182112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ellText_3C"/>
          <p:cNvSpPr txBox="1"/>
          <p:nvPr/>
        </p:nvSpPr>
        <p:spPr>
          <a:xfrm>
            <a:off x="5394960" y="331012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3C</a:t>
            </a:r>
          </a:p>
        </p:txBody>
      </p:sp>
      <p:sp>
        <p:nvSpPr>
          <p:cNvPr id="41" name="cell_3D"/>
          <p:cNvSpPr/>
          <p:nvPr/>
        </p:nvSpPr>
        <p:spPr>
          <a:xfrm>
            <a:off x="6665976" y="3182112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ellText_3D"/>
          <p:cNvSpPr txBox="1"/>
          <p:nvPr/>
        </p:nvSpPr>
        <p:spPr>
          <a:xfrm>
            <a:off x="6629400" y="331012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3D</a:t>
            </a:r>
          </a:p>
        </p:txBody>
      </p:sp>
      <p:sp>
        <p:nvSpPr>
          <p:cNvPr id="43" name="cell_3E"/>
          <p:cNvSpPr/>
          <p:nvPr/>
        </p:nvSpPr>
        <p:spPr>
          <a:xfrm>
            <a:off x="7900416" y="3182112"/>
            <a:ext cx="1161288" cy="585216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llText_3E"/>
          <p:cNvSpPr txBox="1"/>
          <p:nvPr/>
        </p:nvSpPr>
        <p:spPr>
          <a:xfrm>
            <a:off x="7863840" y="331012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3E</a:t>
            </a:r>
          </a:p>
        </p:txBody>
      </p:sp>
      <p:sp>
        <p:nvSpPr>
          <p:cNvPr id="45" name="probHead3"/>
          <p:cNvSpPr txBox="1"/>
          <p:nvPr/>
        </p:nvSpPr>
        <p:spPr>
          <a:xfrm>
            <a:off x="457200" y="394106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2  Improbable</a:t>
            </a:r>
          </a:p>
        </p:txBody>
      </p:sp>
      <p:sp>
        <p:nvSpPr>
          <p:cNvPr id="46" name="cell_2A"/>
          <p:cNvSpPr/>
          <p:nvPr/>
        </p:nvSpPr>
        <p:spPr>
          <a:xfrm>
            <a:off x="2962656" y="3840480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ellText_2A"/>
          <p:cNvSpPr txBox="1"/>
          <p:nvPr/>
        </p:nvSpPr>
        <p:spPr>
          <a:xfrm>
            <a:off x="2926080" y="396849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2A</a:t>
            </a:r>
          </a:p>
        </p:txBody>
      </p:sp>
      <p:sp>
        <p:nvSpPr>
          <p:cNvPr id="48" name="cell_2B"/>
          <p:cNvSpPr/>
          <p:nvPr/>
        </p:nvSpPr>
        <p:spPr>
          <a:xfrm>
            <a:off x="4197096" y="3840480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ellText_2B"/>
          <p:cNvSpPr txBox="1"/>
          <p:nvPr/>
        </p:nvSpPr>
        <p:spPr>
          <a:xfrm>
            <a:off x="4160520" y="396849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2B</a:t>
            </a:r>
          </a:p>
        </p:txBody>
      </p:sp>
      <p:sp>
        <p:nvSpPr>
          <p:cNvPr id="50" name="cell_2C"/>
          <p:cNvSpPr/>
          <p:nvPr/>
        </p:nvSpPr>
        <p:spPr>
          <a:xfrm>
            <a:off x="5431536" y="3840480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ellText_2C"/>
          <p:cNvSpPr txBox="1"/>
          <p:nvPr/>
        </p:nvSpPr>
        <p:spPr>
          <a:xfrm>
            <a:off x="5394960" y="396849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2C</a:t>
            </a:r>
          </a:p>
        </p:txBody>
      </p:sp>
      <p:sp>
        <p:nvSpPr>
          <p:cNvPr id="52" name="cell_2D"/>
          <p:cNvSpPr/>
          <p:nvPr/>
        </p:nvSpPr>
        <p:spPr>
          <a:xfrm>
            <a:off x="6665976" y="3840480"/>
            <a:ext cx="1161288" cy="585216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ellText_2D"/>
          <p:cNvSpPr txBox="1"/>
          <p:nvPr/>
        </p:nvSpPr>
        <p:spPr>
          <a:xfrm>
            <a:off x="6629400" y="396849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2D</a:t>
            </a:r>
          </a:p>
        </p:txBody>
      </p:sp>
      <p:sp>
        <p:nvSpPr>
          <p:cNvPr id="54" name="cell_2E"/>
          <p:cNvSpPr/>
          <p:nvPr/>
        </p:nvSpPr>
        <p:spPr>
          <a:xfrm>
            <a:off x="7900416" y="3840480"/>
            <a:ext cx="1161288" cy="585216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ellText_2E"/>
          <p:cNvSpPr txBox="1"/>
          <p:nvPr/>
        </p:nvSpPr>
        <p:spPr>
          <a:xfrm>
            <a:off x="7863840" y="396849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2E</a:t>
            </a:r>
          </a:p>
        </p:txBody>
      </p:sp>
      <p:sp>
        <p:nvSpPr>
          <p:cNvPr id="56" name="probHead4"/>
          <p:cNvSpPr txBox="1"/>
          <p:nvPr/>
        </p:nvSpPr>
        <p:spPr>
          <a:xfrm>
            <a:off x="4572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1  Ext. Improb.</a:t>
            </a:r>
          </a:p>
        </p:txBody>
      </p:sp>
      <p:sp>
        <p:nvSpPr>
          <p:cNvPr id="57" name="cell_1A"/>
          <p:cNvSpPr/>
          <p:nvPr/>
        </p:nvSpPr>
        <p:spPr>
          <a:xfrm>
            <a:off x="2962656" y="4498848"/>
            <a:ext cx="1161288" cy="585216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ellText_1A"/>
          <p:cNvSpPr txBox="1"/>
          <p:nvPr/>
        </p:nvSpPr>
        <p:spPr>
          <a:xfrm>
            <a:off x="2926080" y="4626864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59" name="cell_1B"/>
          <p:cNvSpPr/>
          <p:nvPr/>
        </p:nvSpPr>
        <p:spPr>
          <a:xfrm>
            <a:off x="4197096" y="4498848"/>
            <a:ext cx="1161288" cy="585216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ellText_1B"/>
          <p:cNvSpPr txBox="1"/>
          <p:nvPr/>
        </p:nvSpPr>
        <p:spPr>
          <a:xfrm>
            <a:off x="4160520" y="4626864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61" name="cell_1C"/>
          <p:cNvSpPr/>
          <p:nvPr/>
        </p:nvSpPr>
        <p:spPr>
          <a:xfrm>
            <a:off x="5431536" y="4498848"/>
            <a:ext cx="1161288" cy="585216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cellText_1C"/>
          <p:cNvSpPr txBox="1"/>
          <p:nvPr/>
        </p:nvSpPr>
        <p:spPr>
          <a:xfrm>
            <a:off x="5394960" y="4626864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1C</a:t>
            </a:r>
          </a:p>
        </p:txBody>
      </p:sp>
      <p:sp>
        <p:nvSpPr>
          <p:cNvPr id="63" name="cell_1D"/>
          <p:cNvSpPr/>
          <p:nvPr/>
        </p:nvSpPr>
        <p:spPr>
          <a:xfrm>
            <a:off x="6665976" y="4498848"/>
            <a:ext cx="1161288" cy="585216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ellText_1D"/>
          <p:cNvSpPr txBox="1"/>
          <p:nvPr/>
        </p:nvSpPr>
        <p:spPr>
          <a:xfrm>
            <a:off x="6629400" y="4626864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1D</a:t>
            </a:r>
          </a:p>
        </p:txBody>
      </p:sp>
      <p:sp>
        <p:nvSpPr>
          <p:cNvPr id="65" name="cell_1E"/>
          <p:cNvSpPr/>
          <p:nvPr/>
        </p:nvSpPr>
        <p:spPr>
          <a:xfrm>
            <a:off x="7900416" y="4498848"/>
            <a:ext cx="1161288" cy="585216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ellText_1E"/>
          <p:cNvSpPr txBox="1"/>
          <p:nvPr/>
        </p:nvSpPr>
        <p:spPr>
          <a:xfrm>
            <a:off x="7863840" y="4626864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1E</a:t>
            </a:r>
          </a:p>
        </p:txBody>
      </p:sp>
      <p:sp>
        <p:nvSpPr>
          <p:cNvPr id="67" name="legend0"/>
          <p:cNvSpPr/>
          <p:nvPr/>
        </p:nvSpPr>
        <p:spPr>
          <a:xfrm>
            <a:off x="9418320" y="2011680"/>
            <a:ext cx="2286000" cy="8229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legendText0"/>
          <p:cNvSpPr txBox="1"/>
          <p:nvPr/>
        </p:nvSpPr>
        <p:spPr>
          <a:xfrm>
            <a:off x="941832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INTOLERABLE</a:t>
            </a:r>
          </a:p>
        </p:txBody>
      </p:sp>
      <p:sp>
        <p:nvSpPr>
          <p:cNvPr id="69" name="legend1"/>
          <p:cNvSpPr/>
          <p:nvPr/>
        </p:nvSpPr>
        <p:spPr>
          <a:xfrm>
            <a:off x="9418320" y="3017520"/>
            <a:ext cx="228600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legendText1"/>
          <p:cNvSpPr txBox="1"/>
          <p:nvPr/>
        </p:nvSpPr>
        <p:spPr>
          <a:xfrm>
            <a:off x="9418320" y="3246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TOLERABLE</a:t>
            </a:r>
          </a:p>
        </p:txBody>
      </p:sp>
      <p:sp>
        <p:nvSpPr>
          <p:cNvPr id="71" name="legend2"/>
          <p:cNvSpPr/>
          <p:nvPr/>
        </p:nvSpPr>
        <p:spPr>
          <a:xfrm>
            <a:off x="9418320" y="4023360"/>
            <a:ext cx="2286000" cy="8229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egendText2"/>
          <p:cNvSpPr txBox="1"/>
          <p:nvPr/>
        </p:nvSpPr>
        <p:spPr>
          <a:xfrm>
            <a:off x="9418320" y="4251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ACCEPTABLE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ACTION FRAMEWORK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Risk Response Levels</a:t>
            </a:r>
          </a:p>
        </p:txBody>
      </p:sp>
      <p:sp>
        <p:nvSpPr>
          <p:cNvPr id="6" name="actionCard0"/>
          <p:cNvSpPr/>
          <p:nvPr/>
        </p:nvSpPr>
        <p:spPr>
          <a:xfrm>
            <a:off x="640080" y="1645920"/>
            <a:ext cx="109728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ionBadge0"/>
          <p:cNvSpPr/>
          <p:nvPr/>
        </p:nvSpPr>
        <p:spPr>
          <a:xfrm>
            <a:off x="868680" y="1920240"/>
            <a:ext cx="2926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ionTitle0"/>
          <p:cNvSpPr txBox="1"/>
          <p:nvPr/>
        </p:nvSpPr>
        <p:spPr>
          <a:xfrm>
            <a:off x="868680" y="208483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INTOLERABLE</a:t>
            </a:r>
          </a:p>
        </p:txBody>
      </p:sp>
      <p:sp>
        <p:nvSpPr>
          <p:cNvPr id="9" name="actionDesc0"/>
          <p:cNvSpPr txBox="1"/>
          <p:nvPr/>
        </p:nvSpPr>
        <p:spPr>
          <a:xfrm>
            <a:off x="4114800" y="196596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F3A"/>
                </a:solidFill>
                <a:latin typeface="Segoe UI"/>
              </a:rPr>
              <a:t>Immediate action or stop activity.
Priority mitigation to tolerable level.</a:t>
            </a:r>
          </a:p>
        </p:txBody>
      </p:sp>
      <p:sp>
        <p:nvSpPr>
          <p:cNvPr id="10" name="actionCard1"/>
          <p:cNvSpPr/>
          <p:nvPr/>
        </p:nvSpPr>
        <p:spPr>
          <a:xfrm>
            <a:off x="640080" y="3108960"/>
            <a:ext cx="109728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ctionBadge1"/>
          <p:cNvSpPr/>
          <p:nvPr/>
        </p:nvSpPr>
        <p:spPr>
          <a:xfrm>
            <a:off x="868680" y="3383280"/>
            <a:ext cx="2926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tionTitle1"/>
          <p:cNvSpPr txBox="1"/>
          <p:nvPr/>
        </p:nvSpPr>
        <p:spPr>
          <a:xfrm>
            <a:off x="868680" y="354787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TOLERABLE</a:t>
            </a:r>
          </a:p>
        </p:txBody>
      </p:sp>
      <p:sp>
        <p:nvSpPr>
          <p:cNvPr id="13" name="actionDesc1"/>
          <p:cNvSpPr txBox="1"/>
          <p:nvPr/>
        </p:nvSpPr>
        <p:spPr>
          <a:xfrm>
            <a:off x="4114800" y="34290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F3A"/>
                </a:solidFill>
                <a:latin typeface="Segoe UI"/>
              </a:rPr>
              <a:t>Acceptable with mitigation.
May need management decision.</a:t>
            </a:r>
          </a:p>
        </p:txBody>
      </p:sp>
      <p:sp>
        <p:nvSpPr>
          <p:cNvPr id="14" name="actionCard2"/>
          <p:cNvSpPr/>
          <p:nvPr/>
        </p:nvSpPr>
        <p:spPr>
          <a:xfrm>
            <a:off x="640080" y="4572000"/>
            <a:ext cx="109728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ionBadge2"/>
          <p:cNvSpPr/>
          <p:nvPr/>
        </p:nvSpPr>
        <p:spPr>
          <a:xfrm>
            <a:off x="868680" y="4846320"/>
            <a:ext cx="2926080" cy="73152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ionTitle2"/>
          <p:cNvSpPr txBox="1"/>
          <p:nvPr/>
        </p:nvSpPr>
        <p:spPr>
          <a:xfrm>
            <a:off x="868680" y="501091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ACCEPTABLE</a:t>
            </a:r>
          </a:p>
        </p:txBody>
      </p:sp>
      <p:sp>
        <p:nvSpPr>
          <p:cNvPr id="17" name="actionDesc2"/>
          <p:cNvSpPr txBox="1"/>
          <p:nvPr/>
        </p:nvSpPr>
        <p:spPr>
          <a:xfrm>
            <a:off x="4114800" y="489204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1F3A"/>
                </a:solidFill>
                <a:latin typeface="Segoe UI"/>
              </a:rPr>
              <a:t>Accept as-is.
No further mitigation required.</a:t>
            </a:r>
          </a:p>
        </p:txBody>
      </p:sp>
      <p:sp>
        <p:nvSpPr>
          <p:cNvPr id="18" name="actionNote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B7D"/>
                </a:solidFill>
                <a:latin typeface="Segoe UI"/>
              </a:rPr>
              <a:t>Data quality for hazard ID &amp; probability must inform every tolerability decision.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COMPONENT 3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Safety Assurance</a:t>
            </a:r>
          </a:p>
        </p:txBody>
      </p:sp>
      <p:sp>
        <p:nvSpPr>
          <p:cNvPr id="6" name="assSub"/>
          <p:cNvSpPr txBox="1"/>
          <p:nvPr/>
        </p:nvSpPr>
        <p:spPr>
          <a:xfrm>
            <a:off x="640080" y="1280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Safety performance measures link directly to operational performance.</a:t>
            </a:r>
          </a:p>
        </p:txBody>
      </p:sp>
      <p:sp>
        <p:nvSpPr>
          <p:cNvPr id="7" name="assCard0"/>
          <p:cNvSpPr/>
          <p:nvPr/>
        </p:nvSpPr>
        <p:spPr>
          <a:xfrm>
            <a:off x="548640" y="1828800"/>
            <a:ext cx="54864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ssBar0"/>
          <p:cNvSpPr/>
          <p:nvPr/>
        </p:nvSpPr>
        <p:spPr>
          <a:xfrm>
            <a:off x="548640" y="1828800"/>
            <a:ext cx="5486400" cy="91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ssHead0"/>
          <p:cNvSpPr txBox="1"/>
          <p:nvPr/>
        </p:nvSpPr>
        <p:spPr>
          <a:xfrm>
            <a:off x="868680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Organization Objective</a:t>
            </a:r>
          </a:p>
        </p:txBody>
      </p:sp>
      <p:sp>
        <p:nvSpPr>
          <p:cNvPr id="10" name="assBody0"/>
          <p:cNvSpPr txBox="1"/>
          <p:nvPr/>
        </p:nvSpPr>
        <p:spPr>
          <a:xfrm>
            <a:off x="868680" y="26517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Reduce Costs</a:t>
            </a:r>
          </a:p>
        </p:txBody>
      </p:sp>
      <p:sp>
        <p:nvSpPr>
          <p:cNvPr id="11" name="assCard1"/>
          <p:cNvSpPr/>
          <p:nvPr/>
        </p:nvSpPr>
        <p:spPr>
          <a:xfrm>
            <a:off x="6309359" y="1828800"/>
            <a:ext cx="54864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ssBar1"/>
          <p:cNvSpPr/>
          <p:nvPr/>
        </p:nvSpPr>
        <p:spPr>
          <a:xfrm>
            <a:off x="6309359" y="1828800"/>
            <a:ext cx="5486400" cy="91440"/>
          </a:xfrm>
          <a:prstGeom prst="rect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ssHead1"/>
          <p:cNvSpPr txBox="1"/>
          <p:nvPr/>
        </p:nvSpPr>
        <p:spPr>
          <a:xfrm>
            <a:off x="6629399" y="2148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B3A6"/>
                </a:solidFill>
                <a:latin typeface="Segoe UI"/>
              </a:rPr>
              <a:t>Org Performance Measure</a:t>
            </a:r>
          </a:p>
        </p:txBody>
      </p:sp>
      <p:sp>
        <p:nvSpPr>
          <p:cNvPr id="14" name="assBody1"/>
          <p:cNvSpPr txBox="1"/>
          <p:nvPr/>
        </p:nvSpPr>
        <p:spPr>
          <a:xfrm>
            <a:off x="6629399" y="26517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Reduction in Insurance Rates</a:t>
            </a:r>
          </a:p>
        </p:txBody>
      </p:sp>
      <p:sp>
        <p:nvSpPr>
          <p:cNvPr id="15" name="assCard2"/>
          <p:cNvSpPr/>
          <p:nvPr/>
        </p:nvSpPr>
        <p:spPr>
          <a:xfrm>
            <a:off x="548640" y="4023360"/>
            <a:ext cx="54864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ssBar2"/>
          <p:cNvSpPr/>
          <p:nvPr/>
        </p:nvSpPr>
        <p:spPr>
          <a:xfrm>
            <a:off x="548640" y="4023360"/>
            <a:ext cx="5486400" cy="9144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ssHead2"/>
          <p:cNvSpPr txBox="1"/>
          <p:nvPr/>
        </p:nvSpPr>
        <p:spPr>
          <a:xfrm>
            <a:off x="868680" y="4343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B923"/>
                </a:solidFill>
                <a:latin typeface="Segoe UI"/>
              </a:rPr>
              <a:t>Safety Objective</a:t>
            </a:r>
          </a:p>
        </p:txBody>
      </p:sp>
      <p:sp>
        <p:nvSpPr>
          <p:cNvPr id="18" name="assBody2"/>
          <p:cNvSpPr txBox="1"/>
          <p:nvPr/>
        </p:nvSpPr>
        <p:spPr>
          <a:xfrm>
            <a:off x="868680" y="48463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Decrease Hangar Incidents
&amp; Severity</a:t>
            </a:r>
          </a:p>
        </p:txBody>
      </p:sp>
      <p:sp>
        <p:nvSpPr>
          <p:cNvPr id="19" name="assCard3"/>
          <p:cNvSpPr/>
          <p:nvPr/>
        </p:nvSpPr>
        <p:spPr>
          <a:xfrm>
            <a:off x="6309359" y="4023360"/>
            <a:ext cx="54864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ssBar3"/>
          <p:cNvSpPr/>
          <p:nvPr/>
        </p:nvSpPr>
        <p:spPr>
          <a:xfrm>
            <a:off x="6309359" y="4023360"/>
            <a:ext cx="5486400" cy="9144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ssHead3"/>
          <p:cNvSpPr txBox="1"/>
          <p:nvPr/>
        </p:nvSpPr>
        <p:spPr>
          <a:xfrm>
            <a:off x="6629399" y="4343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86DE"/>
                </a:solidFill>
                <a:latin typeface="Segoe UI"/>
              </a:rPr>
              <a:t>Safety Performance Measure</a:t>
            </a:r>
          </a:p>
        </p:txBody>
      </p:sp>
      <p:sp>
        <p:nvSpPr>
          <p:cNvPr id="22" name="assBody3"/>
          <p:cNvSpPr txBox="1"/>
          <p:nvPr/>
        </p:nvSpPr>
        <p:spPr>
          <a:xfrm>
            <a:off x="6629399" y="48463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Segoe UI"/>
              </a:rPr>
              <a:t>Fewer damage events · Near-misses
Lessons learned · CAP closure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MEASUREMENT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Safety Performance Indicators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1554480"/>
          <a:ext cx="7498079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piCard0"/>
          <p:cNvSpPr/>
          <p:nvPr/>
        </p:nvSpPr>
        <p:spPr>
          <a:xfrm>
            <a:off x="8595360" y="1645920"/>
            <a:ext cx="30175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piVal0"/>
          <p:cNvSpPr txBox="1"/>
          <p:nvPr/>
        </p:nvSpPr>
        <p:spPr>
          <a:xfrm>
            <a:off x="8778240" y="17830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7AE60"/>
                </a:solidFill>
                <a:latin typeface="Segoe UI"/>
              </a:rPr>
              <a:t>↓ 39%</a:t>
            </a:r>
          </a:p>
        </p:txBody>
      </p:sp>
      <p:sp>
        <p:nvSpPr>
          <p:cNvPr id="9" name="spiLabel0"/>
          <p:cNvSpPr txBox="1"/>
          <p:nvPr/>
        </p:nvSpPr>
        <p:spPr>
          <a:xfrm>
            <a:off x="8778240" y="21488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Segoe UI"/>
              </a:rPr>
              <a:t>Damage events</a:t>
            </a:r>
          </a:p>
        </p:txBody>
      </p:sp>
      <p:sp>
        <p:nvSpPr>
          <p:cNvPr id="10" name="spiCard1"/>
          <p:cNvSpPr/>
          <p:nvPr/>
        </p:nvSpPr>
        <p:spPr>
          <a:xfrm>
            <a:off x="8595360" y="2743200"/>
            <a:ext cx="30175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piVal1"/>
          <p:cNvSpPr txBox="1"/>
          <p:nvPr/>
        </p:nvSpPr>
        <p:spPr>
          <a:xfrm>
            <a:off x="8778240" y="28803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7AE60"/>
                </a:solidFill>
                <a:latin typeface="Segoe UI"/>
              </a:rPr>
              <a:t>↓ 33%</a:t>
            </a:r>
          </a:p>
        </p:txBody>
      </p:sp>
      <p:sp>
        <p:nvSpPr>
          <p:cNvPr id="12" name="spiLabel1"/>
          <p:cNvSpPr txBox="1"/>
          <p:nvPr/>
        </p:nvSpPr>
        <p:spPr>
          <a:xfrm>
            <a:off x="8778240" y="32461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Segoe UI"/>
              </a:rPr>
              <a:t>Near-misses</a:t>
            </a:r>
          </a:p>
        </p:txBody>
      </p:sp>
      <p:sp>
        <p:nvSpPr>
          <p:cNvPr id="13" name="spiCard2"/>
          <p:cNvSpPr/>
          <p:nvPr/>
        </p:nvSpPr>
        <p:spPr>
          <a:xfrm>
            <a:off x="8595360" y="3840480"/>
            <a:ext cx="30175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piVal2"/>
          <p:cNvSpPr txBox="1"/>
          <p:nvPr/>
        </p:nvSpPr>
        <p:spPr>
          <a:xfrm>
            <a:off x="8778240" y="397764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B3A6"/>
                </a:solidFill>
                <a:latin typeface="Segoe UI"/>
              </a:rPr>
              <a:t>↑ 100%</a:t>
            </a:r>
          </a:p>
        </p:txBody>
      </p:sp>
      <p:sp>
        <p:nvSpPr>
          <p:cNvPr id="15" name="spiLabel2"/>
          <p:cNvSpPr txBox="1"/>
          <p:nvPr/>
        </p:nvSpPr>
        <p:spPr>
          <a:xfrm>
            <a:off x="8778240" y="43434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Segoe UI"/>
              </a:rPr>
              <a:t>Lessons captured</a:t>
            </a:r>
          </a:p>
        </p:txBody>
      </p:sp>
      <p:sp>
        <p:nvSpPr>
          <p:cNvPr id="16" name="spiCard3"/>
          <p:cNvSpPr/>
          <p:nvPr/>
        </p:nvSpPr>
        <p:spPr>
          <a:xfrm>
            <a:off x="8595360" y="4937759"/>
            <a:ext cx="301752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piVal3"/>
          <p:cNvSpPr txBox="1"/>
          <p:nvPr/>
        </p:nvSpPr>
        <p:spPr>
          <a:xfrm>
            <a:off x="8778240" y="5074919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B3A6"/>
                </a:solidFill>
                <a:latin typeface="Segoe UI"/>
              </a:rPr>
              <a:t>↑ 75%</a:t>
            </a:r>
          </a:p>
        </p:txBody>
      </p:sp>
      <p:sp>
        <p:nvSpPr>
          <p:cNvPr id="18" name="spiLabel3"/>
          <p:cNvSpPr txBox="1"/>
          <p:nvPr/>
        </p:nvSpPr>
        <p:spPr>
          <a:xfrm>
            <a:off x="8778240" y="5440679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B7D"/>
                </a:solidFill>
                <a:latin typeface="Segoe UI"/>
              </a:rPr>
              <a:t>CAPs closed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CHANGE CONTROL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Management of Change</a:t>
            </a:r>
          </a:p>
        </p:txBody>
      </p:sp>
      <p:sp>
        <p:nvSpPr>
          <p:cNvPr id="6" name="mocPhase0"/>
          <p:cNvSpPr/>
          <p:nvPr/>
        </p:nvSpPr>
        <p:spPr>
          <a:xfrm>
            <a:off x="640080" y="1554480"/>
            <a:ext cx="26974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ocCirc0"/>
          <p:cNvSpPr/>
          <p:nvPr/>
        </p:nvSpPr>
        <p:spPr>
          <a:xfrm>
            <a:off x="1508760" y="1783080"/>
            <a:ext cx="960120" cy="96012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cNum0"/>
          <p:cNvSpPr txBox="1"/>
          <p:nvPr/>
        </p:nvSpPr>
        <p:spPr>
          <a:xfrm>
            <a:off x="1508760" y="2011680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mocName0"/>
          <p:cNvSpPr txBox="1"/>
          <p:nvPr/>
        </p:nvSpPr>
        <p:spPr>
          <a:xfrm>
            <a:off x="777240" y="29260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B1F3A"/>
                </a:solidFill>
                <a:latin typeface="Segoe UI"/>
              </a:rPr>
              <a:t>Screening</a:t>
            </a:r>
          </a:p>
        </p:txBody>
      </p:sp>
      <p:sp>
        <p:nvSpPr>
          <p:cNvPr id="10" name="mocArrow0"/>
          <p:cNvSpPr/>
          <p:nvPr/>
        </p:nvSpPr>
        <p:spPr>
          <a:xfrm>
            <a:off x="3108960" y="2286000"/>
            <a:ext cx="320040" cy="228600"/>
          </a:xfrm>
          <a:prstGeom prst="rightArrow">
            <a:avLst/>
          </a:prstGeom>
          <a:solidFill>
            <a:srgbClr val="EC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ocPhase1"/>
          <p:cNvSpPr/>
          <p:nvPr/>
        </p:nvSpPr>
        <p:spPr>
          <a:xfrm>
            <a:off x="3520439" y="1554480"/>
            <a:ext cx="26974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cCirc1"/>
          <p:cNvSpPr/>
          <p:nvPr/>
        </p:nvSpPr>
        <p:spPr>
          <a:xfrm>
            <a:off x="4389119" y="1783080"/>
            <a:ext cx="960120" cy="960120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mocNum1"/>
          <p:cNvSpPr txBox="1"/>
          <p:nvPr/>
        </p:nvSpPr>
        <p:spPr>
          <a:xfrm>
            <a:off x="4389119" y="2011680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mocName1"/>
          <p:cNvSpPr txBox="1"/>
          <p:nvPr/>
        </p:nvSpPr>
        <p:spPr>
          <a:xfrm>
            <a:off x="3657599" y="29260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B1F3A"/>
                </a:solidFill>
                <a:latin typeface="Segoe UI"/>
              </a:rPr>
              <a:t>Review</a:t>
            </a:r>
          </a:p>
        </p:txBody>
      </p:sp>
      <p:sp>
        <p:nvSpPr>
          <p:cNvPr id="15" name="mocArrow1"/>
          <p:cNvSpPr/>
          <p:nvPr/>
        </p:nvSpPr>
        <p:spPr>
          <a:xfrm>
            <a:off x="5989319" y="2286000"/>
            <a:ext cx="320040" cy="228600"/>
          </a:xfrm>
          <a:prstGeom prst="rightArrow">
            <a:avLst/>
          </a:prstGeom>
          <a:solidFill>
            <a:srgbClr val="EC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ocPhase2"/>
          <p:cNvSpPr/>
          <p:nvPr/>
        </p:nvSpPr>
        <p:spPr>
          <a:xfrm>
            <a:off x="6400800" y="1554480"/>
            <a:ext cx="26974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ocCirc2"/>
          <p:cNvSpPr/>
          <p:nvPr/>
        </p:nvSpPr>
        <p:spPr>
          <a:xfrm>
            <a:off x="7269480" y="1783080"/>
            <a:ext cx="960120" cy="960120"/>
          </a:xfrm>
          <a:prstGeom prst="ellipse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ocNum2"/>
          <p:cNvSpPr txBox="1"/>
          <p:nvPr/>
        </p:nvSpPr>
        <p:spPr>
          <a:xfrm>
            <a:off x="7269480" y="2011680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mocName2"/>
          <p:cNvSpPr txBox="1"/>
          <p:nvPr/>
        </p:nvSpPr>
        <p:spPr>
          <a:xfrm>
            <a:off x="6537960" y="29260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B1F3A"/>
                </a:solidFill>
                <a:latin typeface="Segoe UI"/>
              </a:rPr>
              <a:t>Approval</a:t>
            </a:r>
          </a:p>
        </p:txBody>
      </p:sp>
      <p:sp>
        <p:nvSpPr>
          <p:cNvPr id="20" name="mocArrow2"/>
          <p:cNvSpPr/>
          <p:nvPr/>
        </p:nvSpPr>
        <p:spPr>
          <a:xfrm>
            <a:off x="8869680" y="2286000"/>
            <a:ext cx="320040" cy="228600"/>
          </a:xfrm>
          <a:prstGeom prst="rightArrow">
            <a:avLst/>
          </a:prstGeom>
          <a:solidFill>
            <a:srgbClr val="EC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ocPhase3"/>
          <p:cNvSpPr/>
          <p:nvPr/>
        </p:nvSpPr>
        <p:spPr>
          <a:xfrm>
            <a:off x="9281159" y="1554480"/>
            <a:ext cx="26974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ocCirc3"/>
          <p:cNvSpPr/>
          <p:nvPr/>
        </p:nvSpPr>
        <p:spPr>
          <a:xfrm>
            <a:off x="10149839" y="1783080"/>
            <a:ext cx="960120" cy="9601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ocNum3"/>
          <p:cNvSpPr txBox="1"/>
          <p:nvPr/>
        </p:nvSpPr>
        <p:spPr>
          <a:xfrm>
            <a:off x="10149839" y="2011680"/>
            <a:ext cx="960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mocName3"/>
          <p:cNvSpPr txBox="1"/>
          <p:nvPr/>
        </p:nvSpPr>
        <p:spPr>
          <a:xfrm>
            <a:off x="9418319" y="29260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B1F3A"/>
                </a:solidFill>
                <a:latin typeface="Segoe UI"/>
              </a:rPr>
              <a:t>Implementation</a:t>
            </a:r>
          </a:p>
        </p:txBody>
      </p:sp>
      <p:sp>
        <p:nvSpPr>
          <p:cNvPr id="25" name="mocProc0"/>
          <p:cNvSpPr/>
          <p:nvPr/>
        </p:nvSpPr>
        <p:spPr>
          <a:xfrm>
            <a:off x="640080" y="3931920"/>
            <a:ext cx="36118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ocProcText0"/>
          <p:cNvSpPr txBox="1"/>
          <p:nvPr/>
        </p:nvSpPr>
        <p:spPr>
          <a:xfrm>
            <a:off x="822960" y="4096512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01   Risk assessment</a:t>
            </a:r>
          </a:p>
        </p:txBody>
      </p:sp>
      <p:sp>
        <p:nvSpPr>
          <p:cNvPr id="27" name="mocProc1"/>
          <p:cNvSpPr/>
          <p:nvPr/>
        </p:nvSpPr>
        <p:spPr>
          <a:xfrm>
            <a:off x="4434840" y="3931920"/>
            <a:ext cx="36118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ocProcText1"/>
          <p:cNvSpPr txBox="1"/>
          <p:nvPr/>
        </p:nvSpPr>
        <p:spPr>
          <a:xfrm>
            <a:off x="4617720" y="4096512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02   Goal identification</a:t>
            </a:r>
          </a:p>
        </p:txBody>
      </p:sp>
      <p:sp>
        <p:nvSpPr>
          <p:cNvPr id="29" name="mocProc2"/>
          <p:cNvSpPr/>
          <p:nvPr/>
        </p:nvSpPr>
        <p:spPr>
          <a:xfrm>
            <a:off x="8229600" y="3931920"/>
            <a:ext cx="36118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ocProcText2"/>
          <p:cNvSpPr txBox="1"/>
          <p:nvPr/>
        </p:nvSpPr>
        <p:spPr>
          <a:xfrm>
            <a:off x="8412480" y="4096512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03   Operational procedures</a:t>
            </a:r>
          </a:p>
        </p:txBody>
      </p:sp>
      <p:sp>
        <p:nvSpPr>
          <p:cNvPr id="31" name="mocProc3"/>
          <p:cNvSpPr/>
          <p:nvPr/>
        </p:nvSpPr>
        <p:spPr>
          <a:xfrm>
            <a:off x="640080" y="4709159"/>
            <a:ext cx="36118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ocProcText3"/>
          <p:cNvSpPr txBox="1"/>
          <p:nvPr/>
        </p:nvSpPr>
        <p:spPr>
          <a:xfrm>
            <a:off x="822960" y="4873751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04   Impact analysis</a:t>
            </a:r>
          </a:p>
        </p:txBody>
      </p:sp>
      <p:sp>
        <p:nvSpPr>
          <p:cNvPr id="33" name="mocProc4"/>
          <p:cNvSpPr/>
          <p:nvPr/>
        </p:nvSpPr>
        <p:spPr>
          <a:xfrm>
            <a:off x="4434840" y="4709159"/>
            <a:ext cx="36118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ocProcText4"/>
          <p:cNvSpPr txBox="1"/>
          <p:nvPr/>
        </p:nvSpPr>
        <p:spPr>
          <a:xfrm>
            <a:off x="4617720" y="4873751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05   Documentation update</a:t>
            </a:r>
          </a:p>
        </p:txBody>
      </p:sp>
      <p:sp>
        <p:nvSpPr>
          <p:cNvPr id="35" name="mocProc5"/>
          <p:cNvSpPr/>
          <p:nvPr/>
        </p:nvSpPr>
        <p:spPr>
          <a:xfrm>
            <a:off x="8229600" y="4709159"/>
            <a:ext cx="36118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mocProcText5"/>
          <p:cNvSpPr txBox="1"/>
          <p:nvPr/>
        </p:nvSpPr>
        <p:spPr>
          <a:xfrm>
            <a:off x="8412480" y="4873751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06   Communication</a:t>
            </a:r>
          </a:p>
        </p:txBody>
      </p:sp>
      <p:sp>
        <p:nvSpPr>
          <p:cNvPr id="37" name="mocProc6"/>
          <p:cNvSpPr/>
          <p:nvPr/>
        </p:nvSpPr>
        <p:spPr>
          <a:xfrm>
            <a:off x="640080" y="5486400"/>
            <a:ext cx="36118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mocProcText6"/>
          <p:cNvSpPr txBox="1"/>
          <p:nvPr/>
        </p:nvSpPr>
        <p:spPr>
          <a:xfrm>
            <a:off x="822960" y="5650992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07   Approval authority</a:t>
            </a:r>
          </a:p>
        </p:txBody>
      </p:sp>
      <p:sp>
        <p:nvSpPr>
          <p:cNvPr id="39" name="mocProc7"/>
          <p:cNvSpPr/>
          <p:nvPr/>
        </p:nvSpPr>
        <p:spPr>
          <a:xfrm>
            <a:off x="4434840" y="5486400"/>
            <a:ext cx="36118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ocProcText7"/>
          <p:cNvSpPr txBox="1"/>
          <p:nvPr/>
        </p:nvSpPr>
        <p:spPr>
          <a:xfrm>
            <a:off x="4617720" y="5650992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08   Safety review</a:t>
            </a:r>
          </a:p>
        </p:txBody>
      </p:sp>
      <p:sp>
        <p:nvSpPr>
          <p:cNvPr id="41" name="mocProc8"/>
          <p:cNvSpPr/>
          <p:nvPr/>
        </p:nvSpPr>
        <p:spPr>
          <a:xfrm>
            <a:off x="8229600" y="5486400"/>
            <a:ext cx="36118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mocProcText8"/>
          <p:cNvSpPr txBox="1"/>
          <p:nvPr/>
        </p:nvSpPr>
        <p:spPr>
          <a:xfrm>
            <a:off x="8412480" y="5650992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09   Final approval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COMPONENT 4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Continuous Improvement</a:t>
            </a:r>
          </a:p>
        </p:txBody>
      </p:sp>
      <p:sp>
        <p:nvSpPr>
          <p:cNvPr id="6" name="cycle0"/>
          <p:cNvSpPr/>
          <p:nvPr/>
        </p:nvSpPr>
        <p:spPr>
          <a:xfrm>
            <a:off x="5029200" y="1554480"/>
            <a:ext cx="2377440" cy="1463040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ycleText0"/>
          <p:cNvSpPr txBox="1"/>
          <p:nvPr/>
        </p:nvSpPr>
        <p:spPr>
          <a:xfrm>
            <a:off x="5166360" y="192024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Safety Risk
Management</a:t>
            </a:r>
          </a:p>
        </p:txBody>
      </p:sp>
      <p:sp>
        <p:nvSpPr>
          <p:cNvPr id="8" name="cycle1"/>
          <p:cNvSpPr/>
          <p:nvPr/>
        </p:nvSpPr>
        <p:spPr>
          <a:xfrm>
            <a:off x="8046720" y="3017520"/>
            <a:ext cx="2377440" cy="1463040"/>
          </a:xfrm>
          <a:prstGeom prst="ellipse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ycleText1"/>
          <p:cNvSpPr txBox="1"/>
          <p:nvPr/>
        </p:nvSpPr>
        <p:spPr>
          <a:xfrm>
            <a:off x="8183880" y="33832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Safety
Assurance</a:t>
            </a:r>
          </a:p>
        </p:txBody>
      </p:sp>
      <p:sp>
        <p:nvSpPr>
          <p:cNvPr id="10" name="cycle2"/>
          <p:cNvSpPr/>
          <p:nvPr/>
        </p:nvSpPr>
        <p:spPr>
          <a:xfrm>
            <a:off x="5029200" y="4480560"/>
            <a:ext cx="2377440" cy="146304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ycleText2"/>
          <p:cNvSpPr txBox="1"/>
          <p:nvPr/>
        </p:nvSpPr>
        <p:spPr>
          <a:xfrm>
            <a:off x="5166360" y="484632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Lessons
Learned</a:t>
            </a:r>
          </a:p>
        </p:txBody>
      </p:sp>
      <p:sp>
        <p:nvSpPr>
          <p:cNvPr id="12" name="cycle3"/>
          <p:cNvSpPr/>
          <p:nvPr/>
        </p:nvSpPr>
        <p:spPr>
          <a:xfrm>
            <a:off x="2011680" y="3017520"/>
            <a:ext cx="2377440" cy="146304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ycleText3"/>
          <p:cNvSpPr txBox="1"/>
          <p:nvPr/>
        </p:nvSpPr>
        <p:spPr>
          <a:xfrm>
            <a:off x="2148840" y="338328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Communicate
to All</a:t>
            </a:r>
          </a:p>
        </p:txBody>
      </p:sp>
      <p:sp>
        <p:nvSpPr>
          <p:cNvPr id="14" name="cycleCenter"/>
          <p:cNvSpPr/>
          <p:nvPr/>
        </p:nvSpPr>
        <p:spPr>
          <a:xfrm>
            <a:off x="5212080" y="3108960"/>
            <a:ext cx="2011680" cy="128016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ycleCenterText"/>
          <p:cNvSpPr txBox="1"/>
          <p:nvPr/>
        </p:nvSpPr>
        <p:spPr>
          <a:xfrm>
            <a:off x="5212080" y="34290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8B923"/>
                </a:solidFill>
                <a:latin typeface="Segoe UI"/>
              </a:rPr>
              <a:t>SMS
IMPROVE</a:t>
            </a:r>
          </a:p>
        </p:txBody>
      </p:sp>
      <p:sp>
        <p:nvSpPr>
          <p:cNvPr id="16" name="improveNote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6B7D"/>
                </a:solidFill>
                <a:latin typeface="Segoe UI"/>
              </a:rPr>
              <a:t>Recurring SRM + SA  ·  Capture lessons  ·  Share with every employee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PEOPLE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Safety Promotion &amp; Culture</a:t>
            </a:r>
          </a:p>
        </p:txBody>
      </p:sp>
      <p:sp>
        <p:nvSpPr>
          <p:cNvPr id="6" name="promoCard0"/>
          <p:cNvSpPr/>
          <p:nvPr/>
        </p:nvSpPr>
        <p:spPr>
          <a:xfrm>
            <a:off x="502920" y="1737360"/>
            <a:ext cx="274320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moTop0"/>
          <p:cNvSpPr/>
          <p:nvPr/>
        </p:nvSpPr>
        <p:spPr>
          <a:xfrm>
            <a:off x="502920" y="1737360"/>
            <a:ext cx="2743200" cy="14630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moCirc0"/>
          <p:cNvSpPr/>
          <p:nvPr/>
        </p:nvSpPr>
        <p:spPr>
          <a:xfrm>
            <a:off x="1325880" y="2011680"/>
            <a:ext cx="1097280" cy="1097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moIcon0"/>
          <p:cNvSpPr txBox="1"/>
          <p:nvPr/>
        </p:nvSpPr>
        <p:spPr>
          <a:xfrm>
            <a:off x="1325880" y="22860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B1F3A"/>
                </a:solidFill>
                <a:latin typeface="Segoe UI"/>
              </a:rPr>
              <a:t>✎</a:t>
            </a:r>
          </a:p>
        </p:txBody>
      </p:sp>
      <p:sp>
        <p:nvSpPr>
          <p:cNvPr id="10" name="promoTitle0"/>
          <p:cNvSpPr txBox="1"/>
          <p:nvPr/>
        </p:nvSpPr>
        <p:spPr>
          <a:xfrm>
            <a:off x="685800" y="3474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TRAINING</a:t>
            </a:r>
          </a:p>
        </p:txBody>
      </p:sp>
      <p:sp>
        <p:nvSpPr>
          <p:cNvPr id="11" name="promoDesc0"/>
          <p:cNvSpPr txBox="1"/>
          <p:nvPr/>
        </p:nvSpPr>
        <p:spPr>
          <a:xfrm>
            <a:off x="731520" y="42976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6B7D"/>
                </a:solidFill>
                <a:latin typeface="Segoe UI"/>
              </a:rPr>
              <a:t>Minimum safety training for all employees</a:t>
            </a:r>
          </a:p>
        </p:txBody>
      </p:sp>
      <p:sp>
        <p:nvSpPr>
          <p:cNvPr id="12" name="promoCard1"/>
          <p:cNvSpPr/>
          <p:nvPr/>
        </p:nvSpPr>
        <p:spPr>
          <a:xfrm>
            <a:off x="3429000" y="1737360"/>
            <a:ext cx="274320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moTop1"/>
          <p:cNvSpPr/>
          <p:nvPr/>
        </p:nvSpPr>
        <p:spPr>
          <a:xfrm>
            <a:off x="3429000" y="1737360"/>
            <a:ext cx="2743200" cy="1463040"/>
          </a:xfrm>
          <a:prstGeom prst="rect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moCirc1"/>
          <p:cNvSpPr/>
          <p:nvPr/>
        </p:nvSpPr>
        <p:spPr>
          <a:xfrm>
            <a:off x="4251960" y="2011680"/>
            <a:ext cx="1097280" cy="1097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moIcon1"/>
          <p:cNvSpPr txBox="1"/>
          <p:nvPr/>
        </p:nvSpPr>
        <p:spPr>
          <a:xfrm>
            <a:off x="4251960" y="22860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B3A6"/>
                </a:solidFill>
                <a:latin typeface="Segoe UI"/>
              </a:rPr>
              <a:t>◎</a:t>
            </a:r>
          </a:p>
        </p:txBody>
      </p:sp>
      <p:sp>
        <p:nvSpPr>
          <p:cNvPr id="16" name="promoTitle1"/>
          <p:cNvSpPr txBox="1"/>
          <p:nvPr/>
        </p:nvSpPr>
        <p:spPr>
          <a:xfrm>
            <a:off x="3611880" y="3474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SMS EDUCATION</a:t>
            </a:r>
          </a:p>
        </p:txBody>
      </p:sp>
      <p:sp>
        <p:nvSpPr>
          <p:cNvPr id="17" name="promoDesc1"/>
          <p:cNvSpPr txBox="1"/>
          <p:nvPr/>
        </p:nvSpPr>
        <p:spPr>
          <a:xfrm>
            <a:off x="3657600" y="42976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6B7D"/>
                </a:solidFill>
                <a:latin typeface="Segoe UI"/>
              </a:rPr>
              <a:t>Introductory + recurrent SMS training</a:t>
            </a:r>
          </a:p>
        </p:txBody>
      </p:sp>
      <p:sp>
        <p:nvSpPr>
          <p:cNvPr id="18" name="promoCard2"/>
          <p:cNvSpPr/>
          <p:nvPr/>
        </p:nvSpPr>
        <p:spPr>
          <a:xfrm>
            <a:off x="6355080" y="1737360"/>
            <a:ext cx="274320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romoTop2"/>
          <p:cNvSpPr/>
          <p:nvPr/>
        </p:nvSpPr>
        <p:spPr>
          <a:xfrm>
            <a:off x="6355080" y="1737360"/>
            <a:ext cx="2743200" cy="146304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romoCirc2"/>
          <p:cNvSpPr/>
          <p:nvPr/>
        </p:nvSpPr>
        <p:spPr>
          <a:xfrm>
            <a:off x="7178040" y="2011680"/>
            <a:ext cx="1097280" cy="1097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romoIcon2"/>
          <p:cNvSpPr txBox="1"/>
          <p:nvPr/>
        </p:nvSpPr>
        <p:spPr>
          <a:xfrm>
            <a:off x="7178040" y="22860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B923"/>
                </a:solidFill>
                <a:latin typeface="Segoe UI"/>
              </a:rPr>
              <a:t>★</a:t>
            </a:r>
          </a:p>
        </p:txBody>
      </p:sp>
      <p:sp>
        <p:nvSpPr>
          <p:cNvPr id="22" name="promoTitle2"/>
          <p:cNvSpPr txBox="1"/>
          <p:nvPr/>
        </p:nvSpPr>
        <p:spPr>
          <a:xfrm>
            <a:off x="6537960" y="3474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SAFETY CULTURE</a:t>
            </a:r>
          </a:p>
        </p:txBody>
      </p:sp>
      <p:sp>
        <p:nvSpPr>
          <p:cNvPr id="23" name="promoDesc2"/>
          <p:cNvSpPr txBox="1"/>
          <p:nvPr/>
        </p:nvSpPr>
        <p:spPr>
          <a:xfrm>
            <a:off x="6583680" y="42976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6B7D"/>
                </a:solidFill>
                <a:latin typeface="Segoe UI"/>
              </a:rPr>
              <a:t>Shared values that make safe choices normal</a:t>
            </a:r>
          </a:p>
        </p:txBody>
      </p:sp>
      <p:sp>
        <p:nvSpPr>
          <p:cNvPr id="24" name="promoCard3"/>
          <p:cNvSpPr/>
          <p:nvPr/>
        </p:nvSpPr>
        <p:spPr>
          <a:xfrm>
            <a:off x="9281160" y="1737360"/>
            <a:ext cx="274320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romoTop3"/>
          <p:cNvSpPr/>
          <p:nvPr/>
        </p:nvSpPr>
        <p:spPr>
          <a:xfrm>
            <a:off x="9281160" y="1737360"/>
            <a:ext cx="2743200" cy="1463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romoCirc3"/>
          <p:cNvSpPr/>
          <p:nvPr/>
        </p:nvSpPr>
        <p:spPr>
          <a:xfrm>
            <a:off x="10104120" y="2011680"/>
            <a:ext cx="1097280" cy="1097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romoIcon3"/>
          <p:cNvSpPr txBox="1"/>
          <p:nvPr/>
        </p:nvSpPr>
        <p:spPr>
          <a:xfrm>
            <a:off x="10104120" y="22860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67E22"/>
                </a:solidFill>
                <a:latin typeface="Segoe UI"/>
              </a:rPr>
              <a:t>▲</a:t>
            </a:r>
          </a:p>
        </p:txBody>
      </p:sp>
      <p:sp>
        <p:nvSpPr>
          <p:cNvPr id="28" name="promoTitle3"/>
          <p:cNvSpPr txBox="1"/>
          <p:nvPr/>
        </p:nvSpPr>
        <p:spPr>
          <a:xfrm>
            <a:off x="9464040" y="3474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PROMOTION</a:t>
            </a:r>
          </a:p>
        </p:txBody>
      </p:sp>
      <p:sp>
        <p:nvSpPr>
          <p:cNvPr id="29" name="promoDesc3"/>
          <p:cNvSpPr txBox="1"/>
          <p:nvPr/>
        </p:nvSpPr>
        <p:spPr>
          <a:xfrm>
            <a:off x="9509760" y="42976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6B7D"/>
                </a:solidFill>
                <a:latin typeface="Segoe UI"/>
              </a:rPr>
              <a:t>Visible leadership · open reporting · recognition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CAPABILITY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Training Coverage Target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63040"/>
          <a:ext cx="777240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rainCall"/>
          <p:cNvSpPr/>
          <p:nvPr/>
        </p:nvSpPr>
        <p:spPr>
          <a:xfrm>
            <a:off x="8686800" y="2286000"/>
            <a:ext cx="3017520" cy="29260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rainCallText"/>
          <p:cNvSpPr txBox="1"/>
          <p:nvPr/>
        </p:nvSpPr>
        <p:spPr>
          <a:xfrm>
            <a:off x="8869680" y="2651760"/>
            <a:ext cx="2651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B923"/>
                </a:solidFill>
                <a:latin typeface="Segoe UI"/>
              </a:rPr>
              <a:t>GOAL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100%</a:t>
            </a:r>
          </a:p>
          <a:p>
            <a:pPr algn="ctr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A8B8C8"/>
                </a:solidFill>
                <a:latin typeface="Segoe UI"/>
              </a:rPr>
              <a:t>of personnel trained
&amp; current on SMS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Label"/>
          <p:cNvSpPr txBox="1"/>
          <p:nvPr/>
        </p:nvSpPr>
        <p:spPr>
          <a:xfrm>
            <a:off x="640080" y="320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B923"/>
                </a:solidFill>
                <a:latin typeface="Segoe UI"/>
              </a:rPr>
              <a:t>EXECUTIVE SUMMARY</a:t>
            </a:r>
          </a:p>
        </p:txBody>
      </p:sp>
      <p:sp>
        <p:nvSpPr>
          <p:cNvPr id="5" name="slideTitle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A"/>
                </a:solidFill>
                <a:latin typeface="Segoe UI Semibold"/>
              </a:rPr>
              <a:t>What We Need From Leadership</a:t>
            </a:r>
          </a:p>
        </p:txBody>
      </p:sp>
      <p:sp>
        <p:nvSpPr>
          <p:cNvPr id="6" name="askCard0"/>
          <p:cNvSpPr/>
          <p:nvPr/>
        </p:nvSpPr>
        <p:spPr>
          <a:xfrm>
            <a:off x="548640" y="1737360"/>
            <a:ext cx="27432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skTop0"/>
          <p:cNvSpPr/>
          <p:nvPr/>
        </p:nvSpPr>
        <p:spPr>
          <a:xfrm>
            <a:off x="548640" y="1737360"/>
            <a:ext cx="2743200" cy="109728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skNum0"/>
          <p:cNvSpPr txBox="1"/>
          <p:nvPr/>
        </p:nvSpPr>
        <p:spPr>
          <a:xfrm>
            <a:off x="777240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B923"/>
                </a:solidFill>
                <a:latin typeface="Segoe UI"/>
              </a:rPr>
              <a:t>01</a:t>
            </a:r>
          </a:p>
        </p:txBody>
      </p:sp>
      <p:sp>
        <p:nvSpPr>
          <p:cNvPr id="9" name="askTitle0"/>
          <p:cNvSpPr txBox="1"/>
          <p:nvPr/>
        </p:nvSpPr>
        <p:spPr>
          <a:xfrm>
            <a:off x="7772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Segoe UI"/>
              </a:rPr>
              <a:t>Endorse</a:t>
            </a:r>
          </a:p>
        </p:txBody>
      </p:sp>
      <p:sp>
        <p:nvSpPr>
          <p:cNvPr id="10" name="askDesc0"/>
          <p:cNvSpPr txBox="1"/>
          <p:nvPr/>
        </p:nvSpPr>
        <p:spPr>
          <a:xfrm>
            <a:off x="777240" y="35661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Approve the Safety Policy &amp; SMS objectives</a:t>
            </a:r>
          </a:p>
        </p:txBody>
      </p:sp>
      <p:sp>
        <p:nvSpPr>
          <p:cNvPr id="11" name="askCard1"/>
          <p:cNvSpPr/>
          <p:nvPr/>
        </p:nvSpPr>
        <p:spPr>
          <a:xfrm>
            <a:off x="3429000" y="1737360"/>
            <a:ext cx="27432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skTop1"/>
          <p:cNvSpPr/>
          <p:nvPr/>
        </p:nvSpPr>
        <p:spPr>
          <a:xfrm>
            <a:off x="3429000" y="1737360"/>
            <a:ext cx="2743200" cy="109728"/>
          </a:xfrm>
          <a:prstGeom prst="rect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skNum1"/>
          <p:cNvSpPr txBox="1"/>
          <p:nvPr/>
        </p:nvSpPr>
        <p:spPr>
          <a:xfrm>
            <a:off x="3657600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B3A6"/>
                </a:solidFill>
                <a:latin typeface="Segoe UI"/>
              </a:rPr>
              <a:t>02</a:t>
            </a:r>
          </a:p>
        </p:txBody>
      </p:sp>
      <p:sp>
        <p:nvSpPr>
          <p:cNvPr id="14" name="askTitle1"/>
          <p:cNvSpPr txBox="1"/>
          <p:nvPr/>
        </p:nvSpPr>
        <p:spPr>
          <a:xfrm>
            <a:off x="36576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Segoe UI"/>
              </a:rPr>
              <a:t>Resource</a:t>
            </a:r>
          </a:p>
        </p:txBody>
      </p:sp>
      <p:sp>
        <p:nvSpPr>
          <p:cNvPr id="15" name="askDesc1"/>
          <p:cNvSpPr txBox="1"/>
          <p:nvPr/>
        </p:nvSpPr>
        <p:spPr>
          <a:xfrm>
            <a:off x="3657600" y="35661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Fund the Safety Manager role &amp; tools</a:t>
            </a:r>
          </a:p>
        </p:txBody>
      </p:sp>
      <p:sp>
        <p:nvSpPr>
          <p:cNvPr id="16" name="askCard2"/>
          <p:cNvSpPr/>
          <p:nvPr/>
        </p:nvSpPr>
        <p:spPr>
          <a:xfrm>
            <a:off x="6309359" y="1737360"/>
            <a:ext cx="27432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skTop2"/>
          <p:cNvSpPr/>
          <p:nvPr/>
        </p:nvSpPr>
        <p:spPr>
          <a:xfrm>
            <a:off x="6309359" y="1737360"/>
            <a:ext cx="2743200" cy="109728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skNum2"/>
          <p:cNvSpPr txBox="1"/>
          <p:nvPr/>
        </p:nvSpPr>
        <p:spPr>
          <a:xfrm>
            <a:off x="6537959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E86DE"/>
                </a:solidFill>
                <a:latin typeface="Segoe UI"/>
              </a:rPr>
              <a:t>03</a:t>
            </a:r>
          </a:p>
        </p:txBody>
      </p:sp>
      <p:sp>
        <p:nvSpPr>
          <p:cNvPr id="19" name="askTitle2"/>
          <p:cNvSpPr txBox="1"/>
          <p:nvPr/>
        </p:nvSpPr>
        <p:spPr>
          <a:xfrm>
            <a:off x="65379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Segoe UI"/>
              </a:rPr>
              <a:t>Own</a:t>
            </a:r>
          </a:p>
        </p:txBody>
      </p:sp>
      <p:sp>
        <p:nvSpPr>
          <p:cNvPr id="20" name="askDesc2"/>
          <p:cNvSpPr txBox="1"/>
          <p:nvPr/>
        </p:nvSpPr>
        <p:spPr>
          <a:xfrm>
            <a:off x="6537959" y="35661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Hold line managers accountable as SMS owners</a:t>
            </a:r>
          </a:p>
        </p:txBody>
      </p:sp>
      <p:sp>
        <p:nvSpPr>
          <p:cNvPr id="21" name="askCard3"/>
          <p:cNvSpPr/>
          <p:nvPr/>
        </p:nvSpPr>
        <p:spPr>
          <a:xfrm>
            <a:off x="9189719" y="1737360"/>
            <a:ext cx="27432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skTop3"/>
          <p:cNvSpPr/>
          <p:nvPr/>
        </p:nvSpPr>
        <p:spPr>
          <a:xfrm>
            <a:off x="9189719" y="1737360"/>
            <a:ext cx="2743200" cy="10972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skNum3"/>
          <p:cNvSpPr txBox="1"/>
          <p:nvPr/>
        </p:nvSpPr>
        <p:spPr>
          <a:xfrm>
            <a:off x="9418319" y="2103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7E22"/>
                </a:solidFill>
                <a:latin typeface="Segoe UI"/>
              </a:rPr>
              <a:t>04</a:t>
            </a:r>
          </a:p>
        </p:txBody>
      </p:sp>
      <p:sp>
        <p:nvSpPr>
          <p:cNvPr id="24" name="askTitle3"/>
          <p:cNvSpPr txBox="1"/>
          <p:nvPr/>
        </p:nvSpPr>
        <p:spPr>
          <a:xfrm>
            <a:off x="941831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A"/>
                </a:solidFill>
                <a:latin typeface="Segoe UI"/>
              </a:rPr>
              <a:t>Champion</a:t>
            </a:r>
          </a:p>
        </p:txBody>
      </p:sp>
      <p:sp>
        <p:nvSpPr>
          <p:cNvPr id="25" name="askDesc3"/>
          <p:cNvSpPr txBox="1"/>
          <p:nvPr/>
        </p:nvSpPr>
        <p:spPr>
          <a:xfrm>
            <a:off x="9418319" y="356616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D"/>
                </a:solidFill>
                <a:latin typeface="Segoe UI"/>
              </a:rPr>
              <a:t>Visible leadership for reporting &amp; culture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morph option="byObject"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loseLabel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B923"/>
                </a:solidFill>
                <a:latin typeface="Segoe UI"/>
              </a:rPr>
              <a:t>NEXT STEP</a:t>
            </a:r>
          </a:p>
        </p:txBody>
      </p:sp>
      <p:sp>
        <p:nvSpPr>
          <p:cNvPr id="5" name="closeTitle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 Semibold"/>
              </a:rPr>
              <a:t>Approve. Resource. Lead.</a:t>
            </a:r>
          </a:p>
        </p:txBody>
      </p:sp>
      <p:sp>
        <p:nvSpPr>
          <p:cNvPr id="6" name="closeSub"/>
          <p:cNvSpPr txBox="1"/>
          <p:nvPr/>
        </p:nvSpPr>
        <p:spPr>
          <a:xfrm>
            <a:off x="822960" y="38404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B8C8"/>
                </a:solidFill>
                <a:latin typeface="Segoe UI"/>
              </a:rPr>
              <a:t>A continuous reduction in mishaps starts with management commitment today.</a:t>
            </a:r>
          </a:p>
        </p:txBody>
      </p:sp>
      <p:sp>
        <p:nvSpPr>
          <p:cNvPr id="7" name="closeDot0"/>
          <p:cNvSpPr/>
          <p:nvPr/>
        </p:nvSpPr>
        <p:spPr>
          <a:xfrm>
            <a:off x="822960" y="5029200"/>
            <a:ext cx="164592" cy="164592"/>
          </a:xfrm>
          <a:prstGeom prst="ellipse">
            <a:avLst/>
          </a:prstGeom>
          <a:solidFill>
            <a:srgbClr val="E8B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loseDot1"/>
          <p:cNvSpPr/>
          <p:nvPr/>
        </p:nvSpPr>
        <p:spPr>
          <a:xfrm>
            <a:off x="1143000" y="5029200"/>
            <a:ext cx="164592" cy="164592"/>
          </a:xfrm>
          <a:prstGeom prst="ellipse">
            <a:avLst/>
          </a:prstGeom>
          <a:solidFill>
            <a:srgbClr val="1A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loseDot2"/>
          <p:cNvSpPr/>
          <p:nvPr/>
        </p:nvSpPr>
        <p:spPr>
          <a:xfrm>
            <a:off x="1463040" y="5029200"/>
            <a:ext cx="164592" cy="164592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