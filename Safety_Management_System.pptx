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545"/>
              </a:gs>
              <a:gs pos="100000">
                <a:srgbClr val="13356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4572000" cy="4572000"/>
          </a:xfrm>
          <a:prstGeom prst="ellipse">
            <a:avLst/>
          </a:prstGeom>
          <a:solidFill>
            <a:srgbClr val="18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023360"/>
            <a:ext cx="3657600" cy="3657600"/>
          </a:xfrm>
          <a:prstGeom prst="ellipse">
            <a:avLst/>
          </a:prstGeom>
          <a:solidFill>
            <a:srgbClr val="163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48840"/>
            <a:ext cx="1188720" cy="54864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960120"/>
            <a:ext cx="960120" cy="960120"/>
          </a:xfrm>
          <a:prstGeom prst="ellipse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>
                <a:solidFill>
                  <a:srgbClr val="FFFFFF"/>
                </a:solidFill>
                <a:latin typeface="Segoe UI Emoji"/>
              </a:rPr>
              <a:t>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SAFETY MANAGEMENT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4B740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4348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FB1F0"/>
                </a:solidFill>
                <a:latin typeface="Calibri"/>
              </a:rPr>
              <a:t>A systematic, proactive approach to managing safety in aviation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6235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8C7DB"/>
                </a:solidFill>
                <a:latin typeface="Calibri"/>
              </a:rPr>
              <a:t>Aligned with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ICAO Annex 19</a:t>
            </a:r>
            <a:r>
              <a:rPr sz="1300" b="0" i="0">
                <a:solidFill>
                  <a:srgbClr val="B8C7DB"/>
                </a:solidFill>
                <a:latin typeface="Calibri"/>
              </a:rPr>
              <a:t>  |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DGCA CAR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timing>
      <p:tnLst>
        <p:par>
          <p:cTn id="1" dur="indefinite" restart="never" nodeType="tmRoot">
            <p:childTnLst>
              <p:seq concurrent="1" nextAc="seek">
                <p:cTn id="2" dur="indefinite" nodeType="mainSeq">
                  <p:childTnLst>
                    <p:par>
                      <p:cTn id="3" fill="hold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7" dur="50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8" dur="500" fill="hold"/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9" dur="500" fill="hold"/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" fill="hold">
                        <p:stCondLst>
                          <p:cond delay="200"/>
                        </p:stCondLst>
                        <p:childTnLst>
                          <p:par>
                            <p:cTn id="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2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14" dur="500" fill="hold"/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fill="hold">
                        <p:stCondLst>
                          <p:cond delay="30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9" dur="50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" fill="hold">
                        <p:stCondLst>
                          <p:cond delay="300"/>
                        </p:stCondLst>
                        <p:childTnLst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" dur="50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914400"/>
            <a:ext cx="1051560" cy="1051560"/>
          </a:xfrm>
          <a:prstGeom prst="ellipse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>
                <a:solidFill>
                  <a:srgbClr val="FFFFFF"/>
                </a:solidFill>
                <a:latin typeface="Segoe UI Emoji"/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200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FB1F0"/>
                </a:solidFill>
                <a:latin typeface="Calibri"/>
              </a:rPr>
              <a:t>WHAT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SAFETY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MANAGEMENT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4B740"/>
                </a:solidFill>
                <a:latin typeface="Calibri"/>
              </a:rPr>
              <a:t>SYSTEM?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965960"/>
            <a:ext cx="64922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37760" y="1965960"/>
            <a:ext cx="128016" cy="29260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14884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D5DEEA"/>
                </a:solidFill>
                <a:latin typeface="Calibr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606040"/>
            <a:ext cx="5669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2545"/>
                </a:solidFill>
                <a:latin typeface="Calibri"/>
              </a:rPr>
              <a:t>A systematic approach to managing safety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1B263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A6472"/>
                </a:solidFill>
                <a:latin typeface="Calibri"/>
              </a:rPr>
              <a:t>including the necessary organizational structures, accountabilities, responsibilities, policies and procedures.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29984"/>
            <a:ext cx="2926080" cy="128016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215" y="6382512"/>
            <a:ext cx="32918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2"/>
                </a:solidFill>
                <a:latin typeface="Calibri"/>
              </a:rPr>
              <a:t>Safety Management System   |   02</a:t>
            </a:r>
          </a:p>
        </p:txBody>
      </p:sp>
    </p:spTree>
    <p:timing>
      <p:tnLst>
        <p:par>
          <p:cTn id="1" dur="indefinite" restart="never" nodeType="tmRoot">
            <p:childTnLst>
              <p:seq concurrent="1" nextAc="seek">
                <p:cTn id="2" dur="indefinite" nodeType="mainSeq">
                  <p:childTnLst>
                    <p:par>
                      <p:cTn id="3" fill="hold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7" dur="50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8" dur="500" fill="hold"/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9" dur="500" fill="hold"/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" fill="hold">
                        <p:stCondLst>
                          <p:cond delay="200"/>
                        </p:stCondLst>
                        <p:childTnLst>
                          <p:par>
                            <p:cTn id="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2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14" dur="500" fill="hold"/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fill="hold">
                        <p:stCondLst>
                          <p:cond delay="20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9" dur="50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" fill="hold">
                        <p:stCondLst>
                          <p:cond delay="100"/>
                        </p:stCondLst>
                        <p:childTnLst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" dur="50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" fill="hold">
                        <p:stCondLst>
                          <p:cond delay="200"/>
                        </p:stCondLst>
                        <p:childTnLst>
                          <p:par>
                            <p:cTn id="2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7" presetID="2" presetClass="entr" presetSubtype="8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29" dur="500" fill="hold"/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ppt_y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1+#ppt_h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y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82296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86DE"/>
                </a:solidFill>
                <a:latin typeface="Calibri"/>
              </a:rPr>
              <a:t>THE NEED FOR 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Why is SMS Required in Aviation?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469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792224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Segoe UI Emoji"/>
              </a:rPr>
              <a:t>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91640"/>
            <a:ext cx="9509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Aviation is a High-Risk + High-Consequence industry.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41448"/>
            <a:ext cx="10469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" y="2542032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Segoe UI Emoji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441448"/>
            <a:ext cx="9509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A single mistake can lead to a huge number of fatalities.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91256"/>
            <a:ext cx="10469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" y="3291840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Segoe UI Emoji"/>
              </a:rPr>
              <a:t>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191256"/>
            <a:ext cx="9509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The old “Find &amp; Fix after accident” model is no longer enough for such a high-risk industry.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941064"/>
            <a:ext cx="10469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4041648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41064"/>
            <a:ext cx="9509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SMS works by: Collect data → Analyze risk → Fix the system before fatal accidents.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90872"/>
            <a:ext cx="10469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4791456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Segoe UI Emoji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690872"/>
            <a:ext cx="9509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SMS forces organizations to find hazards before they become accidents.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440680"/>
            <a:ext cx="10469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" y="5541264"/>
            <a:ext cx="457200" cy="45720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Segoe UI Emoji"/>
              </a:rPr>
              <a:t>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440680"/>
            <a:ext cx="9509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In modern aviation safety can’t be left to chance — it must be managed systematically, just like finance or quality.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729984"/>
            <a:ext cx="2926080" cy="128016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1215" y="6382512"/>
            <a:ext cx="32918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2"/>
                </a:solidFill>
                <a:latin typeface="Calibri"/>
              </a:rPr>
              <a:t>Safety Management System   |   03</a:t>
            </a:r>
          </a:p>
        </p:txBody>
      </p:sp>
    </p:spTree>
    <p:timing>
      <p:tnLst>
        <p:par>
          <p:cTn id="1" dur="indefinite" restart="never" nodeType="tmRoot">
            <p:childTnLst>
              <p:seq concurrent="1" nextAc="seek">
                <p:cTn id="2" dur="indefinite" nodeType="mainSeq">
                  <p:childTnLst>
                    <p:par>
                      <p:cTn id="3" fill="hold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7" dur="500" fill="hold"/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" fill="hold">
                        <p:stCondLst>
                          <p:cond delay="0"/>
                        </p:stCondLst>
                        <p:childTnLst>
                          <p:par>
                            <p:cTn id="9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1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2" dur="50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13" dur="500" fill="hold"/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14" dur="500" fill="hold"/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fill="hold">
                        <p:stCondLst>
                          <p:cond delay="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9" dur="50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" fill="hold">
                        <p:stCondLst>
                          <p:cond delay="120"/>
                        </p:stCondLst>
                        <p:childTnLst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24" dur="500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" fill="hold">
                        <p:stCondLst>
                          <p:cond delay="0"/>
                        </p:stCondLst>
                        <p:childTnLst>
                          <p:par>
                            <p:cTn id="2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7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9" dur="500"/>
                                          <p:tgtEl>
                                            <p:spTgt spid="10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30" dur="500" fill="hold"/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31" dur="500" fill="hold"/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" fill="hold">
                        <p:stCondLst>
                          <p:cond delay="0"/>
                        </p:stCondLst>
                        <p:childTnLst>
                          <p:par>
                            <p:cTn id="3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34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3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36" dur="50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" fill="hold">
                        <p:stCondLst>
                          <p:cond delay="120"/>
                        </p:stCondLst>
                        <p:childTnLst>
                          <p:par>
                            <p:cTn id="3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39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4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41" dur="500" fill="hold"/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2" fill="hold">
                        <p:stCondLst>
                          <p:cond delay="0"/>
                        </p:stCondLst>
                        <p:childTnLst>
                          <p:par>
                            <p:cTn id="4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44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4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46" dur="500"/>
                                          <p:tgtEl>
                                            <p:spTgt spid="13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47" dur="500" fill="hold"/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48" dur="500" fill="hold"/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9" fill="hold">
                        <p:stCondLst>
                          <p:cond delay="0"/>
                        </p:stCondLst>
                        <p:childTnLst>
                          <p:par>
                            <p:cTn id="50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1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52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53" dur="500"/>
                                          <p:tgtEl>
                                            <p:spTgt spid="14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4" fill="hold">
                        <p:stCondLst>
                          <p:cond delay="120"/>
                        </p:stCondLst>
                        <p:childTnLst>
                          <p:par>
                            <p:cTn id="55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6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57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58" dur="500" fill="hold"/>
                                          <p:tgtEl>
                                            <p:spTgt spid="15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9" fill="hold">
                        <p:stCondLst>
                          <p:cond delay="0"/>
                        </p:stCondLst>
                        <p:childTnLst>
                          <p:par>
                            <p:cTn id="60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61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2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63" dur="500"/>
                                          <p:tgtEl>
                                            <p:spTgt spid="16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64" dur="500" fill="hold"/>
                                          <p:tgtEl>
                                            <p:spTgt spid="16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65" dur="500" fill="hold"/>
                                          <p:tgtEl>
                                            <p:spTgt spid="16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6" fill="hold">
                        <p:stCondLst>
                          <p:cond delay="0"/>
                        </p:stCondLst>
                        <p:childTnLst>
                          <p:par>
                            <p:cTn id="67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68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9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70" dur="500"/>
                                          <p:tgtEl>
                                            <p:spTgt spid="1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1" fill="hold">
                        <p:stCondLst>
                          <p:cond delay="120"/>
                        </p:stCondLst>
                        <p:childTnLst>
                          <p:par>
                            <p:cTn id="7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73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74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75" dur="500" fill="hold"/>
                                          <p:tgtEl>
                                            <p:spTgt spid="18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6" fill="hold">
                        <p:stCondLst>
                          <p:cond delay="0"/>
                        </p:stCondLst>
                        <p:childTnLst>
                          <p:par>
                            <p:cTn id="77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78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79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80" dur="500"/>
                                          <p:tgtEl>
                                            <p:spTgt spid="19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81" dur="500" fill="hold"/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82" dur="500" fill="hold"/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3" fill="hold">
                        <p:stCondLst>
                          <p:cond delay="0"/>
                        </p:stCondLst>
                        <p:childTnLst>
                          <p:par>
                            <p:cTn id="8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85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8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87" dur="500"/>
                                          <p:tgtEl>
                                            <p:spTgt spid="2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8" fill="hold">
                        <p:stCondLst>
                          <p:cond delay="120"/>
                        </p:stCondLst>
                        <p:childTnLst>
                          <p:par>
                            <p:cTn id="89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0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91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92" dur="500" fill="hold"/>
                                          <p:tgtEl>
                                            <p:spTgt spid="21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3" fill="hold">
                        <p:stCondLst>
                          <p:cond delay="0"/>
                        </p:stCondLst>
                        <p:childTnLst>
                          <p:par>
                            <p:cTn id="9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5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9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97" dur="500"/>
                                          <p:tgtEl>
                                            <p:spTgt spid="22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98" dur="500" fill="hold"/>
                                          <p:tgtEl>
                                            <p:spTgt spid="22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99" dur="500" fill="hold"/>
                                          <p:tgtEl>
                                            <p:spTgt spid="22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4" dur="500"/>
                                          <p:tgtEl>
                                            <p:spTgt spid="2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82296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86DE"/>
                </a:solidFill>
                <a:latin typeface="Calibr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How Will You Manage SMS Systematically?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1B2638"/>
                </a:solidFill>
                <a:latin typeface="Calibri"/>
              </a:rPr>
              <a:t>A structured, repeatable process to identify risks, manage them and keep improving — instead of just reacting after something goes wrong.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1B2638"/>
                </a:solidFill>
                <a:latin typeface="Calibri"/>
              </a:rPr>
              <a:t>The SMS framework incorporates </a:t>
            </a:r>
            <a:r>
              <a:rPr sz="1700" b="1" i="0">
                <a:solidFill>
                  <a:srgbClr val="2E86DE"/>
                </a:solidFill>
                <a:latin typeface="Calibri"/>
              </a:rPr>
              <a:t>4 Components</a:t>
            </a:r>
            <a:r>
              <a:rPr sz="1700" b="0" i="0">
                <a:solidFill>
                  <a:srgbClr val="1B2638"/>
                </a:solidFill>
                <a:latin typeface="Calibri"/>
              </a:rPr>
              <a:t> and </a:t>
            </a:r>
            <a:r>
              <a:rPr sz="1700" b="1" i="0">
                <a:solidFill>
                  <a:srgbClr val="1ABC9C"/>
                </a:solidFill>
                <a:latin typeface="Calibri"/>
              </a:rPr>
              <a:t>12 Key Elements.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2599" y="3246120"/>
            <a:ext cx="25146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2599" y="3246120"/>
            <a:ext cx="2514600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82699" y="3657600"/>
            <a:ext cx="914400" cy="91440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>
                <a:solidFill>
                  <a:srgbClr val="FFFFFF"/>
                </a:solidFill>
                <a:latin typeface="Segoe UI Emoj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599" y="3392424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86DE"/>
                </a:solidFill>
                <a:latin typeface="Calibri"/>
              </a:rPr>
              <a:t>COMPONENT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759" y="470916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Safety Policy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&amp; 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3231" y="3246120"/>
            <a:ext cx="25146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3231" y="3246120"/>
            <a:ext cx="2514600" cy="146304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53331" y="3657600"/>
            <a:ext cx="914400" cy="914400"/>
          </a:xfrm>
          <a:prstGeom prst="ellipse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>
                <a:solidFill>
                  <a:srgbClr val="FFFFFF"/>
                </a:solidFill>
                <a:latin typeface="Segoe UI Emoji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3231" y="3392424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ABC9C"/>
                </a:solidFill>
                <a:latin typeface="Calibri"/>
              </a:rPr>
              <a:t>COMPONENT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391" y="470916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Safety Risk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3246120"/>
            <a:ext cx="25146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3863" y="3246120"/>
            <a:ext cx="2514600" cy="146304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3963" y="3657600"/>
            <a:ext cx="914400" cy="91440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3392424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B740"/>
                </a:solidFill>
                <a:latin typeface="Calibri"/>
              </a:rPr>
              <a:t>COMPONENT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470916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Safety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Assurance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4495" y="3246120"/>
            <a:ext cx="25146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4495" y="3246120"/>
            <a:ext cx="2514600" cy="146304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94595" y="3657600"/>
            <a:ext cx="914400" cy="914400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>
                <a:solidFill>
                  <a:srgbClr val="FFFFFF"/>
                </a:solidFill>
                <a:latin typeface="Segoe UI Emoji"/>
              </a:rPr>
              <a:t>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4495" y="3392424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B59B6"/>
                </a:solidFill>
                <a:latin typeface="Calibri"/>
              </a:rPr>
              <a:t>COMPONENT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1655" y="470916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Safety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Promotion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729984"/>
            <a:ext cx="2926080" cy="128016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1215" y="6382512"/>
            <a:ext cx="32918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2"/>
                </a:solidFill>
                <a:latin typeface="Calibri"/>
              </a:rPr>
              <a:t>Safety Management System   |   04</a:t>
            </a:r>
          </a:p>
        </p:txBody>
      </p:sp>
    </p:spTree>
    <p:timing>
      <p:tnLst>
        <p:par>
          <p:cTn id="1" dur="indefinite" restart="never" nodeType="tmRoot">
            <p:childTnLst>
              <p:seq concurrent="1" nextAc="seek">
                <p:cTn id="2" dur="indefinite" nodeType="mainSeq">
                  <p:childTnLst>
                    <p:par>
                      <p:cTn id="3" fill="hold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7" dur="50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" fill="hold">
                        <p:stCondLst>
                          <p:cond delay="200"/>
                        </p:stCondLst>
                        <p:childTnLst>
                          <p:par>
                            <p:cTn id="9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" presetID="2" presetClass="entr" presetSubtype="8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1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12" dur="500" fill="hold"/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ppt_y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1+#ppt_h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y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" fill="hold">
                        <p:stCondLst>
                          <p:cond delay="0"/>
                        </p:stCondLst>
                        <p:childTnLst>
                          <p:par>
                            <p:cTn id="1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5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7" dur="50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18" dur="500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19" dur="500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" dur="50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" fill="hold">
                        <p:stCondLst>
                          <p:cond delay="150"/>
                        </p:stCondLst>
                        <p:childTnLst>
                          <p:par>
                            <p:cTn id="2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7" presetID="2" presetClass="entr" presetSubtype="8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29" dur="500" fill="hold"/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ppt_y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1+#ppt_h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y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32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3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34" dur="500"/>
                                          <p:tgtEl>
                                            <p:spTgt spid="14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35" dur="500" fill="hold"/>
                                          <p:tgtEl>
                                            <p:spTgt spid="14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36" dur="500" fill="hold"/>
                                          <p:tgtEl>
                                            <p:spTgt spid="14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" fill="hold">
                        <p:stCondLst>
                          <p:cond delay="0"/>
                        </p:stCondLst>
                        <p:childTnLst>
                          <p:par>
                            <p:cTn id="3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39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4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41" dur="500"/>
                                          <p:tgtEl>
                                            <p:spTgt spid="1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2" fill="hold">
                        <p:stCondLst>
                          <p:cond delay="150"/>
                        </p:stCondLst>
                        <p:childTnLst>
                          <p:par>
                            <p:cTn id="4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44" presetID="2" presetClass="entr" presetSubtype="8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4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46" dur="500" fill="hold"/>
                                          <p:tgtEl>
                                            <p:spTgt spid="17"/>
                                          </p:tgtEl>
                                          <p:attrNameLst>
                                            <p:attrName>ppt_y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1+#ppt_h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y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7" fill="hold">
                        <p:stCondLst>
                          <p:cond delay="0"/>
                        </p:stCondLst>
                        <p:childTnLst>
                          <p:par>
                            <p:cTn id="4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49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5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51" dur="500"/>
                                          <p:tgtEl>
                                            <p:spTgt spid="19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52" dur="500" fill="hold"/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53" dur="500" fill="hold"/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4" fill="hold">
                        <p:stCondLst>
                          <p:cond delay="0"/>
                        </p:stCondLst>
                        <p:childTnLst>
                          <p:par>
                            <p:cTn id="55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6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57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58" dur="500"/>
                                          <p:tgtEl>
                                            <p:spTgt spid="21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9" fill="hold">
                        <p:stCondLst>
                          <p:cond delay="150"/>
                        </p:stCondLst>
                        <p:childTnLst>
                          <p:par>
                            <p:cTn id="60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61" presetID="2" presetClass="entr" presetSubtype="8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2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63" dur="500" fill="hold"/>
                                          <p:tgtEl>
                                            <p:spTgt spid="22"/>
                                          </p:tgtEl>
                                          <p:attrNameLst>
                                            <p:attrName>ppt_y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1+#ppt_h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y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4" fill="hold">
                        <p:stCondLst>
                          <p:cond delay="0"/>
                        </p:stCondLst>
                        <p:childTnLst>
                          <p:par>
                            <p:cTn id="65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66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7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68" dur="500"/>
                                          <p:tgtEl>
                                            <p:spTgt spid="24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69" dur="500" fill="hold"/>
                                          <p:tgtEl>
                                            <p:spTgt spid="24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70" dur="500" fill="hold"/>
                                          <p:tgtEl>
                                            <p:spTgt spid="24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1" fill="hold">
                        <p:stCondLst>
                          <p:cond delay="0"/>
                        </p:stCondLst>
                        <p:childTnLst>
                          <p:par>
                            <p:cTn id="7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73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74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75" dur="500"/>
                                          <p:tgtEl>
                                            <p:spTgt spid="2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82296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86DE"/>
                </a:solidFill>
                <a:latin typeface="Calibri"/>
              </a:rPr>
              <a:t>SMS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The Twelve Key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00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ABC9C"/>
                </a:solidFill>
                <a:latin typeface="Calibri"/>
              </a:rPr>
              <a:t>Elements 1 –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45920"/>
            <a:ext cx="10469880" cy="566928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45920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1.  Safety Policy &amp; 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1234440" y="2386584"/>
            <a:ext cx="365760" cy="36576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Management commitment</a:t>
            </a:r>
          </a:p>
        </p:txBody>
      </p:sp>
      <p:sp>
        <p:nvSpPr>
          <p:cNvPr id="11" name="Oval 10"/>
          <p:cNvSpPr/>
          <p:nvPr/>
        </p:nvSpPr>
        <p:spPr>
          <a:xfrm>
            <a:off x="1234440" y="2843784"/>
            <a:ext cx="365760" cy="36576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16352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Safety accountability and responsibilities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3300984"/>
            <a:ext cx="365760" cy="36576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273552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Appointment of key safety personnel</a:t>
            </a:r>
          </a:p>
        </p:txBody>
      </p:sp>
      <p:sp>
        <p:nvSpPr>
          <p:cNvPr id="15" name="Oval 14"/>
          <p:cNvSpPr/>
          <p:nvPr/>
        </p:nvSpPr>
        <p:spPr>
          <a:xfrm>
            <a:off x="1234440" y="3758184"/>
            <a:ext cx="365760" cy="36576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730752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Coordination of emergency response planning</a:t>
            </a:r>
          </a:p>
        </p:txBody>
      </p:sp>
      <p:sp>
        <p:nvSpPr>
          <p:cNvPr id="17" name="Oval 16"/>
          <p:cNvSpPr/>
          <p:nvPr/>
        </p:nvSpPr>
        <p:spPr>
          <a:xfrm>
            <a:off x="1234440" y="4215384"/>
            <a:ext cx="365760" cy="36576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187952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SMS documentation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773168"/>
            <a:ext cx="10469880" cy="566928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773168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2.  Safety Risk Management</a:t>
            </a:r>
          </a:p>
        </p:txBody>
      </p:sp>
      <p:sp>
        <p:nvSpPr>
          <p:cNvPr id="21" name="Oval 20"/>
          <p:cNvSpPr/>
          <p:nvPr/>
        </p:nvSpPr>
        <p:spPr>
          <a:xfrm>
            <a:off x="1234440" y="5513832"/>
            <a:ext cx="365760" cy="365760"/>
          </a:xfrm>
          <a:prstGeom prst="ellipse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486400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Hazard identification</a:t>
            </a:r>
          </a:p>
        </p:txBody>
      </p:sp>
      <p:sp>
        <p:nvSpPr>
          <p:cNvPr id="23" name="Oval 22"/>
          <p:cNvSpPr/>
          <p:nvPr/>
        </p:nvSpPr>
        <p:spPr>
          <a:xfrm>
            <a:off x="1234440" y="5971032"/>
            <a:ext cx="365760" cy="365760"/>
          </a:xfrm>
          <a:prstGeom prst="ellipse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943600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Safety risk assessment and mitigation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729984"/>
            <a:ext cx="2926080" cy="128016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1215" y="6382512"/>
            <a:ext cx="32918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2"/>
                </a:solidFill>
                <a:latin typeface="Calibri"/>
              </a:rPr>
              <a:t>Safety Management System   |   05</a:t>
            </a:r>
          </a:p>
        </p:txBody>
      </p:sp>
    </p:spTree>
    <p:timing>
      <p:tnLst>
        <p:par>
          <p:cTn id="1" dur="indefinite" restart="never" nodeType="tmRoot">
            <p:childTnLst>
              <p:seq concurrent="1" nextAc="seek">
                <p:cTn id="2" dur="indefinite" nodeType="mainSeq">
                  <p:childTnLst>
                    <p:par>
                      <p:cTn id="3" fill="hold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7" dur="500" fill="hold"/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" fill="hold">
                        <p:stCondLst>
                          <p:cond delay="0"/>
                        </p:stCondLst>
                        <p:childTnLst>
                          <p:par>
                            <p:cTn id="9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1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2" dur="50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" fill="hold">
                        <p:stCondLst>
                          <p:cond delay="0"/>
                        </p:stCondLst>
                        <p:childTnLst>
                          <p:par>
                            <p:cTn id="1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5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7" dur="50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18" dur="500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19" dur="500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" fill="hold">
                        <p:stCondLst>
                          <p:cond delay="60"/>
                        </p:stCondLst>
                        <p:childTnLst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" dur="500"/>
                                          <p:tgtEl>
                                            <p:spTgt spid="1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" fill="hold">
                        <p:stCondLst>
                          <p:cond delay="0"/>
                        </p:stCondLst>
                        <p:childTnLst>
                          <p:par>
                            <p:cTn id="2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7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9" dur="50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30" dur="500" fill="hold"/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31" dur="500" fill="hold"/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" fill="hold">
                        <p:stCondLst>
                          <p:cond delay="60"/>
                        </p:stCondLst>
                        <p:childTnLst>
                          <p:par>
                            <p:cTn id="3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34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3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36" dur="500"/>
                                          <p:tgtEl>
                                            <p:spTgt spid="12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" fill="hold">
                        <p:stCondLst>
                          <p:cond delay="0"/>
                        </p:stCondLst>
                        <p:childTnLst>
                          <p:par>
                            <p:cTn id="3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39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4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41" dur="500"/>
                                          <p:tgtEl>
                                            <p:spTgt spid="13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42" dur="500" fill="hold"/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43" dur="500" fill="hold"/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4" fill="hold">
                        <p:stCondLst>
                          <p:cond delay="60"/>
                        </p:stCondLst>
                        <p:childTnLst>
                          <p:par>
                            <p:cTn id="45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46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47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48" dur="500"/>
                                          <p:tgtEl>
                                            <p:spTgt spid="14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9" fill="hold">
                        <p:stCondLst>
                          <p:cond delay="0"/>
                        </p:stCondLst>
                        <p:childTnLst>
                          <p:par>
                            <p:cTn id="50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1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52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53" dur="500"/>
                                          <p:tgtEl>
                                            <p:spTgt spid="15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54" dur="500" fill="hold"/>
                                          <p:tgtEl>
                                            <p:spTgt spid="15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55" dur="500" fill="hold"/>
                                          <p:tgtEl>
                                            <p:spTgt spid="15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6" fill="hold">
                        <p:stCondLst>
                          <p:cond delay="60"/>
                        </p:stCondLst>
                        <p:childTnLst>
                          <p:par>
                            <p:cTn id="57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8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59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60" dur="500"/>
                                          <p:tgtEl>
                                            <p:spTgt spid="1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1" fill="hold">
                        <p:stCondLst>
                          <p:cond delay="0"/>
                        </p:stCondLst>
                        <p:childTnLst>
                          <p:par>
                            <p:cTn id="6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63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4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65" dur="500"/>
                                          <p:tgtEl>
                                            <p:spTgt spid="17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66" dur="500" fill="hold"/>
                                          <p:tgtEl>
                                            <p:spTgt spid="17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67" dur="500" fill="hold"/>
                                          <p:tgtEl>
                                            <p:spTgt spid="17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8" fill="hold">
                        <p:stCondLst>
                          <p:cond delay="60"/>
                        </p:stCondLst>
                        <p:childTnLst>
                          <p:par>
                            <p:cTn id="69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70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71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72" dur="500"/>
                                          <p:tgtEl>
                                            <p:spTgt spid="1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3" fill="hold">
                        <p:stCondLst>
                          <p:cond delay="0"/>
                        </p:stCondLst>
                        <p:childTnLst>
                          <p:par>
                            <p:cTn id="7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75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7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77" dur="500" fill="hold"/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8" fill="hold">
                        <p:stCondLst>
                          <p:cond delay="0"/>
                        </p:stCondLst>
                        <p:childTnLst>
                          <p:par>
                            <p:cTn id="79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80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81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82" dur="500"/>
                                          <p:tgtEl>
                                            <p:spTgt spid="2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3" fill="hold">
                        <p:stCondLst>
                          <p:cond delay="0"/>
                        </p:stCondLst>
                        <p:childTnLst>
                          <p:par>
                            <p:cTn id="8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85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8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87" dur="500"/>
                                          <p:tgtEl>
                                            <p:spTgt spid="21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88" dur="500" fill="hold"/>
                                          <p:tgtEl>
                                            <p:spTgt spid="21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89" dur="500" fill="hold"/>
                                          <p:tgtEl>
                                            <p:spTgt spid="21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60"/>
                        </p:stCondLst>
                        <p:childTnLst>
                          <p:par>
                            <p:cTn id="9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9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94" dur="500"/>
                                          <p:tgtEl>
                                            <p:spTgt spid="22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5" fill="hold">
                        <p:stCondLst>
                          <p:cond delay="0"/>
                        </p:stCondLst>
                        <p:childTnLst>
                          <p:par>
                            <p:cTn id="9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97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9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99" dur="500"/>
                                          <p:tgtEl>
                                            <p:spTgt spid="23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100" dur="500" fill="hold"/>
                                          <p:tgtEl>
                                            <p:spTgt spid="23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101" dur="500" fill="hold"/>
                                          <p:tgtEl>
                                            <p:spTgt spid="23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" fill="hold">
                        <p:stCondLst>
                          <p:cond delay="60"/>
                        </p:stCondLst>
                        <p:childTnLst>
                          <p:par>
                            <p:cTn id="10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4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0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6" dur="500"/>
                                          <p:tgtEl>
                                            <p:spTgt spid="24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82296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86DE"/>
                </a:solidFill>
                <a:latin typeface="Calibri"/>
              </a:rPr>
              <a:t>SMS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The Twelve Key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00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ABC9C"/>
                </a:solidFill>
                <a:latin typeface="Calibri"/>
              </a:rPr>
              <a:t>Elements 8 –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45920"/>
            <a:ext cx="10469880" cy="566928"/>
          </a:xfrm>
          <a:prstGeom prst="round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45920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3.  Safety Assurance</a:t>
            </a:r>
          </a:p>
        </p:txBody>
      </p:sp>
      <p:sp>
        <p:nvSpPr>
          <p:cNvPr id="9" name="Oval 8"/>
          <p:cNvSpPr/>
          <p:nvPr/>
        </p:nvSpPr>
        <p:spPr>
          <a:xfrm>
            <a:off x="1234440" y="2386584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Safety performance monitoring and measurement</a:t>
            </a:r>
          </a:p>
        </p:txBody>
      </p:sp>
      <p:sp>
        <p:nvSpPr>
          <p:cNvPr id="11" name="Oval 10"/>
          <p:cNvSpPr/>
          <p:nvPr/>
        </p:nvSpPr>
        <p:spPr>
          <a:xfrm>
            <a:off x="1234440" y="2843784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16352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The management of change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3300984"/>
            <a:ext cx="365760" cy="36576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273552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Continuous improvement of the SMS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858768"/>
            <a:ext cx="10469880" cy="566928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858768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4.  Safety Promotion</a:t>
            </a:r>
          </a:p>
        </p:txBody>
      </p:sp>
      <p:sp>
        <p:nvSpPr>
          <p:cNvPr id="17" name="Oval 16"/>
          <p:cNvSpPr/>
          <p:nvPr/>
        </p:nvSpPr>
        <p:spPr>
          <a:xfrm>
            <a:off x="1234440" y="4599432"/>
            <a:ext cx="365760" cy="365760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572000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Training and education</a:t>
            </a:r>
          </a:p>
        </p:txBody>
      </p:sp>
      <p:sp>
        <p:nvSpPr>
          <p:cNvPr id="19" name="Oval 18"/>
          <p:cNvSpPr/>
          <p:nvPr/>
        </p:nvSpPr>
        <p:spPr>
          <a:xfrm>
            <a:off x="1234440" y="5056632"/>
            <a:ext cx="365760" cy="365760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 Emoj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029200"/>
            <a:ext cx="9418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B2638"/>
                </a:solidFill>
                <a:latin typeface="Calibri"/>
              </a:rPr>
              <a:t>Safety communication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729984"/>
            <a:ext cx="2926080" cy="128016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1215" y="6382512"/>
            <a:ext cx="32918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2"/>
                </a:solidFill>
                <a:latin typeface="Calibri"/>
              </a:rPr>
              <a:t>Safety Management System   |   06</a:t>
            </a:r>
          </a:p>
        </p:txBody>
      </p:sp>
    </p:spTree>
    <p:timing>
      <p:tnLst>
        <p:par>
          <p:cTn id="1" dur="indefinite" restart="never" nodeType="tmRoot">
            <p:childTnLst>
              <p:seq concurrent="1" nextAc="seek">
                <p:cTn id="2" dur="indefinite" nodeType="mainSeq">
                  <p:childTnLst>
                    <p:par>
                      <p:cTn id="3" fill="hold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7" dur="500" fill="hold"/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" fill="hold">
                        <p:stCondLst>
                          <p:cond delay="0"/>
                        </p:stCondLst>
                        <p:childTnLst>
                          <p:par>
                            <p:cTn id="9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1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2" dur="50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" fill="hold">
                        <p:stCondLst>
                          <p:cond delay="0"/>
                        </p:stCondLst>
                        <p:childTnLst>
                          <p:par>
                            <p:cTn id="1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5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7" dur="50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18" dur="500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19" dur="500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" fill="hold">
                        <p:stCondLst>
                          <p:cond delay="60"/>
                        </p:stCondLst>
                        <p:childTnLst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" dur="500"/>
                                          <p:tgtEl>
                                            <p:spTgt spid="1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" fill="hold">
                        <p:stCondLst>
                          <p:cond delay="0"/>
                        </p:stCondLst>
                        <p:childTnLst>
                          <p:par>
                            <p:cTn id="2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7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9" dur="500"/>
                                          <p:tgtEl>
                                            <p:spTgt spid="11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30" dur="500" fill="hold"/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31" dur="500" fill="hold"/>
                                          <p:tgtEl>
                                            <p:spTgt spid="11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" fill="hold">
                        <p:stCondLst>
                          <p:cond delay="60"/>
                        </p:stCondLst>
                        <p:childTnLst>
                          <p:par>
                            <p:cTn id="3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34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3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36" dur="500"/>
                                          <p:tgtEl>
                                            <p:spTgt spid="12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" fill="hold">
                        <p:stCondLst>
                          <p:cond delay="0"/>
                        </p:stCondLst>
                        <p:childTnLst>
                          <p:par>
                            <p:cTn id="3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39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4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41" dur="500"/>
                                          <p:tgtEl>
                                            <p:spTgt spid="13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42" dur="500" fill="hold"/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43" dur="500" fill="hold"/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4" fill="hold">
                        <p:stCondLst>
                          <p:cond delay="60"/>
                        </p:stCondLst>
                        <p:childTnLst>
                          <p:par>
                            <p:cTn id="45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46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47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48" dur="500"/>
                                          <p:tgtEl>
                                            <p:spTgt spid="14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9" fill="hold">
                        <p:stCondLst>
                          <p:cond delay="0"/>
                        </p:stCondLst>
                        <p:childTnLst>
                          <p:par>
                            <p:cTn id="50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1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52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53" dur="500" fill="hold"/>
                                          <p:tgtEl>
                                            <p:spTgt spid="15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4" fill="hold">
                        <p:stCondLst>
                          <p:cond delay="0"/>
                        </p:stCondLst>
                        <p:childTnLst>
                          <p:par>
                            <p:cTn id="55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6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57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58" dur="500"/>
                                          <p:tgtEl>
                                            <p:spTgt spid="1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9" fill="hold">
                        <p:stCondLst>
                          <p:cond delay="0"/>
                        </p:stCondLst>
                        <p:childTnLst>
                          <p:par>
                            <p:cTn id="60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61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2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63" dur="500"/>
                                          <p:tgtEl>
                                            <p:spTgt spid="17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64" dur="500" fill="hold"/>
                                          <p:tgtEl>
                                            <p:spTgt spid="17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65" dur="500" fill="hold"/>
                                          <p:tgtEl>
                                            <p:spTgt spid="17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6" fill="hold">
                        <p:stCondLst>
                          <p:cond delay="60"/>
                        </p:stCondLst>
                        <p:childTnLst>
                          <p:par>
                            <p:cTn id="67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68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9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70" dur="500"/>
                                          <p:tgtEl>
                                            <p:spTgt spid="18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1" fill="hold">
                        <p:stCondLst>
                          <p:cond delay="0"/>
                        </p:stCondLst>
                        <p:childTnLst>
                          <p:par>
                            <p:cTn id="72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73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74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75" dur="500"/>
                                          <p:tgtEl>
                                            <p:spTgt spid="19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76" dur="500" fill="hold"/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77" dur="500" fill="hold"/>
                                          <p:tgtEl>
                                            <p:spTgt spid="19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8" fill="hold">
                        <p:stCondLst>
                          <p:cond delay="60"/>
                        </p:stCondLst>
                        <p:childTnLst>
                          <p:par>
                            <p:cTn id="79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80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81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82" dur="500"/>
                                          <p:tgtEl>
                                            <p:spTgt spid="20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545"/>
              </a:gs>
              <a:gs pos="100000">
                <a:srgbClr val="13356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77240"/>
            <a:ext cx="146304" cy="68580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Real Challenge Today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148840"/>
            <a:ext cx="868680" cy="868680"/>
          </a:xfrm>
          <a:prstGeom prst="ellipse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>
                <a:solidFill>
                  <a:srgbClr val="FFFFFF"/>
                </a:solidFill>
                <a:latin typeface="Segoe UI Emoji"/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148840"/>
            <a:ext cx="9052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Aircraft are now extremely reliable. </a:t>
            </a:r>
            <a:r>
              <a:rPr sz="2100" b="0" i="0">
                <a:solidFill>
                  <a:srgbClr val="6FB1F0"/>
                </a:solidFill>
                <a:latin typeface="Calibri"/>
              </a:rPr>
              <a:t>The weakest link is no longer the engine — it’s the system around it: procedures, training, communication, fatigue and pressure.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4434840"/>
            <a:ext cx="868680" cy="868680"/>
          </a:xfrm>
          <a:prstGeom prst="ellipse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0B2545"/>
                </a:solidFill>
                <a:latin typeface="Segoe UI Emoji"/>
              </a:rPr>
              <a:t>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4526280"/>
            <a:ext cx="90525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B740"/>
                </a:solidFill>
                <a:latin typeface="Calibri"/>
              </a:rPr>
              <a:t>SMS is the tool to manage that system.</a:t>
            </a:r>
          </a:p>
        </p:txBody>
      </p:sp>
    </p:spTree>
    <p:timing>
      <p:tnLst>
        <p:par>
          <p:cTn id="1" dur="indefinite" restart="never" nodeType="tmRoot">
            <p:childTnLst>
              <p:seq concurrent="1" nextAc="seek">
                <p:cTn id="2" dur="indefinite" nodeType="mainSeq">
                  <p:childTnLst>
                    <p:par>
                      <p:cTn id="3" fill="hold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7" dur="500" fill="hold"/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" fill="hold">
                        <p:stCondLst>
                          <p:cond delay="200"/>
                        </p:stCondLst>
                        <p:childTnLst>
                          <p:par>
                            <p:cTn id="9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1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2" dur="50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13" dur="500" fill="hold"/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14" dur="500" fill="hold"/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fill="hold">
                        <p:stCondLst>
                          <p:cond delay="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9" dur="50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" fill="hold">
                        <p:stCondLst>
                          <p:cond delay="200"/>
                        </p:stCondLst>
                        <p:childTnLst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4" dur="50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25" dur="500" fill="hold"/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26" dur="500" fill="hold"/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" fill="hold">
                        <p:stCondLst>
                          <p:cond delay="0"/>
                        </p:stCondLst>
                        <p:childTnLst>
                          <p:par>
                            <p:cTn id="28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9" presetID="2" presetClass="entr" presetSubtype="4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30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31" dur="500" fill="hold"/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ppt_x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0-#ppt_w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x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822960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86DE"/>
                </a:solidFill>
                <a:latin typeface="Calibri"/>
              </a:rPr>
              <a:t>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Regulatory Guidance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194560"/>
            <a:ext cx="92354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2194560"/>
            <a:ext cx="146304" cy="14173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2496312"/>
            <a:ext cx="822960" cy="82296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Segoe UI Emoji"/>
              </a:rP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450592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545"/>
                </a:solidFill>
                <a:latin typeface="Calibri"/>
              </a:rPr>
              <a:t>ICAO Annex 19 / Doc 9859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A6472"/>
                </a:solidFill>
                <a:latin typeface="Calibri"/>
              </a:rPr>
              <a:t>Standard Practices — Safety Management Manual (SMM)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3977640"/>
            <a:ext cx="92354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3977640"/>
            <a:ext cx="146304" cy="14173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0" y="4279392"/>
            <a:ext cx="822960" cy="822960"/>
          </a:xfrm>
          <a:prstGeom prst="ellipse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Segoe UI Emoji"/>
              </a:rPr>
              <a:t>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233672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545"/>
                </a:solidFill>
                <a:latin typeface="Calibri"/>
              </a:rPr>
              <a:t>DGCA CAR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A6472"/>
                </a:solidFill>
                <a:latin typeface="Calibri"/>
              </a:rPr>
              <a:t>Section 1, Series C, Part 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729984"/>
            <a:ext cx="2926080" cy="128016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1215" y="6382512"/>
            <a:ext cx="32918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2"/>
                </a:solidFill>
                <a:latin typeface="Calibri"/>
              </a:rPr>
              <a:t>Safety Management System   |   08</a:t>
            </a:r>
          </a:p>
        </p:txBody>
      </p:sp>
    </p:spTree>
    <p:timing>
      <p:tnLst>
        <p:par>
          <p:cTn id="1" dur="indefinite" restart="never" nodeType="tmRoot">
            <p:childTnLst>
              <p:seq concurrent="1" nextAc="seek">
                <p:cTn id="2" dur="indefinite" nodeType="mainSeq">
                  <p:childTnLst>
                    <p:par>
                      <p:cTn id="3" fill="hold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" presetClass="entr" presetSubtype="8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7" dur="500" fill="hold"/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ppt_y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1+#ppt_h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y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" fill="hold">
                        <p:stCondLst>
                          <p:cond delay="0"/>
                        </p:stCondLst>
                        <p:childTnLst>
                          <p:par>
                            <p:cTn id="9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0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1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2" dur="500"/>
                                          <p:tgtEl>
                                            <p:spTgt spid="8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13" dur="500" fill="hold"/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14" dur="500" fill="hold"/>
                                          <p:tgtEl>
                                            <p:spTgt spid="8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fill="hold">
                        <p:stCondLst>
                          <p:cond delay="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9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9" dur="500"/>
                                          <p:tgtEl>
                                            <p:spTgt spid="9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" fill="hold">
                        <p:stCondLst>
                          <p:cond delay="180"/>
                        </p:stCondLst>
                        <p:childTnLst>
                          <p:par>
                            <p:cTn id="2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2" presetID="2" presetClass="entr" presetSubtype="8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24" dur="500" fill="hold"/>
                                          <p:tgtEl>
                                            <p:spTgt spid="10"/>
                                          </p:tgtEl>
                                          <p:attrNameLst>
                                            <p:attrName>ppt_y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1+#ppt_h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y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" fill="hold">
                        <p:stCondLst>
                          <p:cond delay="0"/>
                        </p:stCondLst>
                        <p:childTnLst>
                          <p:par>
                            <p:cTn id="2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27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9" dur="500"/>
                                          <p:tgtEl>
                                            <p:spTgt spid="12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30" dur="500" fill="hold"/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31" dur="500" fill="hold"/>
                                          <p:tgtEl>
                                            <p:spTgt spid="12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" fill="hold">
                        <p:stCondLst>
                          <p:cond delay="0"/>
                        </p:stCondLst>
                        <p:childTnLst>
                          <p:par>
                            <p:cTn id="33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34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35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1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36" dur="500"/>
                                          <p:tgtEl>
                                            <p:spTgt spid="1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33566"/>
              </a:gs>
              <a:gs pos="100000">
                <a:srgbClr val="0B254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3291840"/>
            <a:ext cx="4572000" cy="4572000"/>
          </a:xfrm>
          <a:prstGeom prst="ellipse">
            <a:avLst/>
          </a:prstGeom>
          <a:solidFill>
            <a:srgbClr val="163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47207" y="1737360"/>
            <a:ext cx="1097280" cy="1097280"/>
          </a:xfrm>
          <a:prstGeom prst="ellipse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>
                <a:solidFill>
                  <a:srgbClr val="FFFFFF"/>
                </a:solidFill>
                <a:latin typeface="Segoe UI Emoji"/>
              </a:rPr>
              <a:t>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6324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5196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6FB1F0"/>
                </a:solidFill>
                <a:latin typeface="Calibri"/>
              </a:rPr>
              <a:t>Safety is not an act, it is a habit — managed, measured and improved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64327" y="5029200"/>
            <a:ext cx="1463040" cy="54864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4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timing>
      <p:tnLst>
        <p:par>
          <p:cTn id="1" dur="indefinite" restart="never" nodeType="tmRoot">
            <p:childTnLst>
              <p:seq concurrent="1" nextAc="seek">
                <p:cTn id="2" dur="indefinite" nodeType="mainSeq">
                  <p:childTnLst>
                    <p:par>
                      <p:cTn id="3" fill="hold">
                        <p:stCondLst>
                          <p:cond delay="0"/>
                        </p:stCondLst>
                        <p:childTnLst>
                          <p:par>
                            <p:cTn id="4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5" presetID="23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7" dur="500"/>
                                          <p:tgtEl>
                                            <p:spTgt spid="4"/>
                                          </p:tgtEl>
                                        </p:cBhvr>
                                      </p:animEffect>
                                      <p:anim calcmode="lin" valueType="num">
                                        <p:cBhvr additive="base">
                                          <p:cTn id="8" dur="500" fill="hold"/>
                                          <p:tgtEl>
                                            <p:spTgt spid="4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 additive="base">
                                          <p:cTn id="9" dur="500" fill="hold"/>
                                          <p:tgtEl>
                                            <p:spTgt spid="4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.4"/>
                                            </p:val>
                                          </p:tav>
                                          <p:tav tm="100000">
                                            <p:val>
                                              <p:fltVal val="1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" fill="hold">
                        <p:stCondLst>
                          <p:cond delay="200"/>
                        </p:stCondLst>
                        <p:childTnLst>
                          <p:par>
                            <p:cTn id="11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2" presetID="10" presetClass="entr" presetSubtype="0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3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4" dur="50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" fill="hold">
                        <p:stCondLst>
                          <p:cond delay="200"/>
                        </p:stCondLst>
                        <p:childTnLst>
                          <p:par>
                            <p:cTn id="16" fill="hold">
                              <p:stCondLst>
                                <p:cond delay="0"/>
                              </p:stCondLst>
                              <p:childTnLst>
                                <p:par>
                                  <p:cTn id="17" presetID="2" presetClass="entr" presetSubtype="8" fill="hold" grpId="0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8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 additive="base">
                                          <p:cTn id="19" dur="500" fill="hold"/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ppt_y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strVal val="1+#ppt_h/2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y"/>
                                            </p:val>
                                          </p:tav>
                                        </p:tavLst>
                                      </p:anim>
                                    </p:childTnLst>
                                  </p:cTn>
                                </p:par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" delay="0">
                    <p:tgtEl>
                      <p:sldTgt/>
                    </p:tgtEl>
                  </p:cond>
                </p:prevCondLst>
                <p:nextCondLst>
                  <p:cond evt="onNext" delay="0">
                    <p:tgtEl>
                      <p:sldTgt/>
                    </p:tgtEl>
                  </p:cond>
                </p:nextCondLst>
              </p:seq>
            </p:childTnLst>
          </p:cTn>
        </p:par>
      </p:tn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